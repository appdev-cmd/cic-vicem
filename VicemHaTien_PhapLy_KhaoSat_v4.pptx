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9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Offset</c:v>
                </c:pt>
              </c:strCache>
            </c:strRef>
          </c:tx>
          <c:spPr>
            <a:solidFill>
              <a:srgbClr val="F4F7FB"/>
            </a:solidFill>
            <a:effectLst/>
          </c:spPr>
          <c:invertIfNegative val="0"/>
          <c:cat>
            <c:strRef>
              <c:f>Sheet1!$A$2:$A$9</c:f>
              <c:strCache>
                <c:ptCount val="8"/>
                <c:pt idx="0">
                  <c:v>2.5 Tập huấn (2 buổi)</c:v>
                </c:pt>
                <c:pt idx="1">
                  <c:v>2.4 Lấy ý kiến &amp; hoàn thiện</c:v>
                </c:pt>
                <c:pt idx="2">
                  <c:v>2.3 Biểu mẫu điện tử</c:v>
                </c:pt>
                <c:pt idx="3">
                  <c:v>2.2 Soạn QT mới (BIM/CDE...)</c:v>
                </c:pt>
                <c:pt idx="4">
                  <c:v>2.1 Soạn QT cập nhật</c:v>
                </c:pt>
                <c:pt idx="5">
                  <c:v>1.3 Tổng hợp Báo cáo D1</c:v>
                </c:pt>
                <c:pt idx="6">
                  <c:v>1.2 Khảo sát thực địa (2 ngày)</c:v>
                </c:pt>
                <c:pt idx="7">
                  <c:v>1.1 Legal Gap Matrix sơ bộ</c:v>
                </c:pt>
              </c:strCache>
            </c:strRef>
          </c:cat>
          <c:val>
            <c:numRef>
              <c:f>Sheet1!$B$2:$B$9</c:f>
              <c:numCache>
                <c:formatCode>General</c:formatCode>
                <c:ptCount val="8"/>
                <c:pt idx="0">
                  <c:v>42</c:v>
                </c:pt>
                <c:pt idx="1">
                  <c:v>33</c:v>
                </c:pt>
                <c:pt idx="2">
                  <c:v>27</c:v>
                </c:pt>
                <c:pt idx="3">
                  <c:v>23</c:v>
                </c:pt>
                <c:pt idx="4">
                  <c:v>20</c:v>
                </c:pt>
                <c:pt idx="5">
                  <c:v>14</c:v>
                </c:pt>
                <c:pt idx="6">
                  <c:v>7</c:v>
                </c:pt>
                <c:pt idx="7">
                  <c:v>1</c:v>
                </c:pt>
              </c:numCache>
            </c:numRef>
          </c:val>
          <c:extLst>
            <c:ext xmlns:c16="http://schemas.microsoft.com/office/drawing/2014/chart" uri="{C3380CC4-5D6E-409C-BE32-E72D297353CC}">
              <c16:uniqueId val="{00000000-E40F-4C8C-8ED4-662702852332}"/>
            </c:ext>
          </c:extLst>
        </c:ser>
        <c:ser>
          <c:idx val="1"/>
          <c:order val="1"/>
          <c:tx>
            <c:strRef>
              <c:f>Sheet1!$C$1</c:f>
              <c:strCache>
                <c:ptCount val="1"/>
                <c:pt idx="0">
                  <c:v>HM1</c:v>
                </c:pt>
              </c:strCache>
            </c:strRef>
          </c:tx>
          <c:spPr>
            <a:solidFill>
              <a:srgbClr val="1A6B3C"/>
            </a:solidFill>
            <a:effectLst/>
          </c:spPr>
          <c:invertIfNegative val="0"/>
          <c:cat>
            <c:strRef>
              <c:f>Sheet1!$A$2:$A$9</c:f>
              <c:strCache>
                <c:ptCount val="8"/>
                <c:pt idx="0">
                  <c:v>2.5 Tập huấn (2 buổi)</c:v>
                </c:pt>
                <c:pt idx="1">
                  <c:v>2.4 Lấy ý kiến &amp; hoàn thiện</c:v>
                </c:pt>
                <c:pt idx="2">
                  <c:v>2.3 Biểu mẫu điện tử</c:v>
                </c:pt>
                <c:pt idx="3">
                  <c:v>2.2 Soạn QT mới (BIM/CDE...)</c:v>
                </c:pt>
                <c:pt idx="4">
                  <c:v>2.1 Soạn QT cập nhật</c:v>
                </c:pt>
                <c:pt idx="5">
                  <c:v>1.3 Tổng hợp Báo cáo D1</c:v>
                </c:pt>
                <c:pt idx="6">
                  <c:v>1.2 Khảo sát thực địa (2 ngày)</c:v>
                </c:pt>
                <c:pt idx="7">
                  <c:v>1.1 Legal Gap Matrix sơ bộ</c:v>
                </c:pt>
              </c:strCache>
            </c:strRef>
          </c:cat>
          <c:val>
            <c:numRef>
              <c:f>Sheet1!$C$2:$C$9</c:f>
              <c:numCache>
                <c:formatCode>General</c:formatCode>
                <c:ptCount val="8"/>
                <c:pt idx="0">
                  <c:v>0</c:v>
                </c:pt>
                <c:pt idx="1">
                  <c:v>0</c:v>
                </c:pt>
                <c:pt idx="2">
                  <c:v>0</c:v>
                </c:pt>
                <c:pt idx="3">
                  <c:v>0</c:v>
                </c:pt>
                <c:pt idx="4">
                  <c:v>0</c:v>
                </c:pt>
                <c:pt idx="5">
                  <c:v>6</c:v>
                </c:pt>
                <c:pt idx="6">
                  <c:v>9</c:v>
                </c:pt>
                <c:pt idx="7">
                  <c:v>9</c:v>
                </c:pt>
              </c:numCache>
            </c:numRef>
          </c:val>
          <c:extLst>
            <c:ext xmlns:c16="http://schemas.microsoft.com/office/drawing/2014/chart" uri="{C3380CC4-5D6E-409C-BE32-E72D297353CC}">
              <c16:uniqueId val="{00000001-E40F-4C8C-8ED4-662702852332}"/>
            </c:ext>
          </c:extLst>
        </c:ser>
        <c:ser>
          <c:idx val="2"/>
          <c:order val="2"/>
          <c:tx>
            <c:strRef>
              <c:f>Sheet1!$D$1</c:f>
              <c:strCache>
                <c:ptCount val="1"/>
                <c:pt idx="0">
                  <c:v>HM2</c:v>
                </c:pt>
              </c:strCache>
            </c:strRef>
          </c:tx>
          <c:spPr>
            <a:solidFill>
              <a:srgbClr val="1E3A5F"/>
            </a:solidFill>
            <a:effectLst/>
          </c:spPr>
          <c:invertIfNegative val="0"/>
          <c:cat>
            <c:strRef>
              <c:f>Sheet1!$A$2:$A$9</c:f>
              <c:strCache>
                <c:ptCount val="8"/>
                <c:pt idx="0">
                  <c:v>2.5 Tập huấn (2 buổi)</c:v>
                </c:pt>
                <c:pt idx="1">
                  <c:v>2.4 Lấy ý kiến &amp; hoàn thiện</c:v>
                </c:pt>
                <c:pt idx="2">
                  <c:v>2.3 Biểu mẫu điện tử</c:v>
                </c:pt>
                <c:pt idx="3">
                  <c:v>2.2 Soạn QT mới (BIM/CDE...)</c:v>
                </c:pt>
                <c:pt idx="4">
                  <c:v>2.1 Soạn QT cập nhật</c:v>
                </c:pt>
                <c:pt idx="5">
                  <c:v>1.3 Tổng hợp Báo cáo D1</c:v>
                </c:pt>
                <c:pt idx="6">
                  <c:v>1.2 Khảo sát thực địa (2 ngày)</c:v>
                </c:pt>
                <c:pt idx="7">
                  <c:v>1.1 Legal Gap Matrix sơ bộ</c:v>
                </c:pt>
              </c:strCache>
            </c:strRef>
          </c:cat>
          <c:val>
            <c:numRef>
              <c:f>Sheet1!$D$2:$D$9</c:f>
              <c:numCache>
                <c:formatCode>General</c:formatCode>
                <c:ptCount val="8"/>
                <c:pt idx="0">
                  <c:v>3</c:v>
                </c:pt>
                <c:pt idx="1">
                  <c:v>9</c:v>
                </c:pt>
                <c:pt idx="2">
                  <c:v>11</c:v>
                </c:pt>
                <c:pt idx="3">
                  <c:v>12</c:v>
                </c:pt>
                <c:pt idx="4">
                  <c:v>13</c:v>
                </c:pt>
                <c:pt idx="5">
                  <c:v>0</c:v>
                </c:pt>
                <c:pt idx="6">
                  <c:v>0</c:v>
                </c:pt>
                <c:pt idx="7">
                  <c:v>0</c:v>
                </c:pt>
              </c:numCache>
            </c:numRef>
          </c:val>
          <c:extLst>
            <c:ext xmlns:c16="http://schemas.microsoft.com/office/drawing/2014/chart" uri="{C3380CC4-5D6E-409C-BE32-E72D297353CC}">
              <c16:uniqueId val="{00000002-E40F-4C8C-8ED4-662702852332}"/>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B3C"/>
                </a:solidFill>
                <a:latin typeface="Arial"/>
              </a:defRPr>
            </a:pPr>
            <a:endParaRPr lang="en-US"/>
          </a:p>
        </c:txPr>
        <c:crossAx val="2094734552"/>
        <c:crosses val="autoZero"/>
        <c:auto val="1"/>
        <c:lblAlgn val="ctr"/>
        <c:lblOffset val="100"/>
        <c:noMultiLvlLbl val="1"/>
      </c:catAx>
      <c:valAx>
        <c:axId val="2094734552"/>
        <c:scaling>
          <c:orientation val="minMax"/>
          <c:max val="45"/>
          <c:min val="0"/>
        </c:scaling>
        <c:delete val="0"/>
        <c:axPos val="b"/>
        <c:majorGridlines>
          <c:spPr>
            <a:ln w="6350" cap="flat">
              <a:solidFill>
                <a:srgbClr val="D0DC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6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429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137"/>
        </a:solidFill>
        <a:effectLst/>
      </p:bgPr>
    </p:bg>
    <p:spTree>
      <p:nvGrpSpPr>
        <p:cNvPr id="1" name=""/>
        <p:cNvGrpSpPr/>
        <p:nvPr/>
      </p:nvGrpSpPr>
      <p:grpSpPr>
        <a:xfrm>
          <a:off x="0" y="0"/>
          <a:ext cx="0" cy="0"/>
          <a:chOff x="0" y="0"/>
          <a:chExt cx="0" cy="0"/>
        </a:xfrm>
      </p:grpSpPr>
      <p:sp>
        <p:nvSpPr>
          <p:cNvPr id="2" name="Shape 0"/>
          <p:cNvSpPr/>
          <p:nvPr/>
        </p:nvSpPr>
        <p:spPr>
          <a:xfrm>
            <a:off x="6949440" y="-1645920"/>
            <a:ext cx="4572000" cy="4572000"/>
          </a:xfrm>
          <a:prstGeom prst="ellipse">
            <a:avLst/>
          </a:prstGeom>
          <a:solidFill>
            <a:srgbClr val="2C4F72">
              <a:alpha val="35000"/>
            </a:srgbClr>
          </a:solidFill>
          <a:ln w="12700">
            <a:solidFill>
              <a:srgbClr val="2C4F72">
                <a:alpha val="35000"/>
              </a:srgbClr>
            </a:solidFill>
            <a:prstDash val="solid"/>
          </a:ln>
        </p:spPr>
        <p:txBody>
          <a:bodyPr/>
          <a:lstStyle/>
          <a:p>
            <a:endParaRPr lang="en-US"/>
          </a:p>
        </p:txBody>
      </p:sp>
      <p:sp>
        <p:nvSpPr>
          <p:cNvPr id="3" name="Shape 1"/>
          <p:cNvSpPr/>
          <p:nvPr/>
        </p:nvSpPr>
        <p:spPr>
          <a:xfrm>
            <a:off x="7772400" y="-548640"/>
            <a:ext cx="2743200" cy="2743200"/>
          </a:xfrm>
          <a:prstGeom prst="ellipse">
            <a:avLst/>
          </a:prstGeom>
          <a:solidFill>
            <a:srgbClr val="E67E22">
              <a:alpha val="18000"/>
            </a:srgbClr>
          </a:solidFill>
          <a:ln w="12700">
            <a:solidFill>
              <a:srgbClr val="E67E22">
                <a:alpha val="18000"/>
              </a:srgbClr>
            </a:solidFill>
            <a:prstDash val="solid"/>
          </a:ln>
        </p:spPr>
        <p:txBody>
          <a:bodyPr/>
          <a:lstStyle/>
          <a:p>
            <a:endParaRPr lang="en-US"/>
          </a:p>
        </p:txBody>
      </p:sp>
      <p:sp>
        <p:nvSpPr>
          <p:cNvPr id="4" name="Shape 2"/>
          <p:cNvSpPr/>
          <p:nvPr/>
        </p:nvSpPr>
        <p:spPr>
          <a:xfrm>
            <a:off x="457200" y="868680"/>
            <a:ext cx="91440" cy="3108960"/>
          </a:xfrm>
          <a:prstGeom prst="rect">
            <a:avLst/>
          </a:prstGeom>
          <a:solidFill>
            <a:srgbClr val="E67E22"/>
          </a:solidFill>
          <a:ln w="12700">
            <a:solidFill>
              <a:srgbClr val="E67E22"/>
            </a:solidFill>
            <a:prstDash val="solid"/>
          </a:ln>
        </p:spPr>
        <p:txBody>
          <a:bodyPr/>
          <a:lstStyle/>
          <a:p>
            <a:endParaRPr lang="en-US"/>
          </a:p>
        </p:txBody>
      </p:sp>
      <p:sp>
        <p:nvSpPr>
          <p:cNvPr id="5" name="Shape 3"/>
          <p:cNvSpPr/>
          <p:nvPr/>
        </p:nvSpPr>
        <p:spPr>
          <a:xfrm>
            <a:off x="658368" y="804672"/>
            <a:ext cx="3840480" cy="402336"/>
          </a:xfrm>
          <a:prstGeom prst="rect">
            <a:avLst/>
          </a:prstGeom>
          <a:solidFill>
            <a:srgbClr val="E67E22"/>
          </a:solidFill>
          <a:ln w="12700">
            <a:solidFill>
              <a:srgbClr val="E67E22"/>
            </a:solidFill>
            <a:prstDash val="solid"/>
          </a:ln>
        </p:spPr>
        <p:txBody>
          <a:bodyPr/>
          <a:lstStyle/>
          <a:p>
            <a:endParaRPr lang="en-US"/>
          </a:p>
        </p:txBody>
      </p:sp>
      <p:sp>
        <p:nvSpPr>
          <p:cNvPr id="6" name="Text 4"/>
          <p:cNvSpPr/>
          <p:nvPr/>
        </p:nvSpPr>
        <p:spPr>
          <a:xfrm>
            <a:off x="658368" y="804672"/>
            <a:ext cx="3840480" cy="402336"/>
          </a:xfrm>
          <a:prstGeom prst="rect">
            <a:avLst/>
          </a:prstGeom>
          <a:noFill/>
          <a:ln/>
        </p:spPr>
        <p:txBody>
          <a:bodyPr wrap="square" lIns="0" tIns="0" rIns="0" bIns="0" rtlCol="0" anchor="ctr"/>
          <a:lstStyle/>
          <a:p>
            <a:pPr marL="0" indent="0" algn="ctr">
              <a:buNone/>
            </a:pPr>
            <a:r>
              <a:rPr lang="en-US" sz="1200" b="1" dirty="0">
                <a:solidFill>
                  <a:srgbClr val="FFFFFF"/>
                </a:solidFill>
              </a:rPr>
              <a:t>Công ty CP Công nghệ và Tư vấn CIC</a:t>
            </a:r>
            <a:endParaRPr lang="en-US" sz="1200" dirty="0"/>
          </a:p>
        </p:txBody>
      </p:sp>
      <p:sp>
        <p:nvSpPr>
          <p:cNvPr id="7" name="Text 5"/>
          <p:cNvSpPr/>
          <p:nvPr/>
        </p:nvSpPr>
        <p:spPr>
          <a:xfrm>
            <a:off x="658368" y="1325880"/>
            <a:ext cx="8229600" cy="777240"/>
          </a:xfrm>
          <a:prstGeom prst="rect">
            <a:avLst/>
          </a:prstGeom>
          <a:noFill/>
          <a:ln/>
        </p:spPr>
        <p:txBody>
          <a:bodyPr wrap="square" lIns="0" tIns="0" rIns="0" bIns="0" rtlCol="0" anchor="ctr"/>
          <a:lstStyle/>
          <a:p>
            <a:pPr marL="0" indent="0" algn="l">
              <a:buNone/>
            </a:pPr>
            <a:r>
              <a:rPr lang="en-US" sz="4000" b="1" dirty="0">
                <a:solidFill>
                  <a:srgbClr val="FFFFFF"/>
                </a:solidFill>
              </a:rPr>
              <a:t>Văn bản pháp luật mới</a:t>
            </a:r>
            <a:endParaRPr lang="en-US" sz="4000" dirty="0"/>
          </a:p>
        </p:txBody>
      </p:sp>
      <p:sp>
        <p:nvSpPr>
          <p:cNvPr id="8" name="Text 6"/>
          <p:cNvSpPr/>
          <p:nvPr/>
        </p:nvSpPr>
        <p:spPr>
          <a:xfrm>
            <a:off x="658368" y="2066544"/>
            <a:ext cx="8412480" cy="777240"/>
          </a:xfrm>
          <a:prstGeom prst="rect">
            <a:avLst/>
          </a:prstGeom>
          <a:noFill/>
          <a:ln/>
        </p:spPr>
        <p:txBody>
          <a:bodyPr wrap="square" lIns="0" tIns="0" rIns="0" bIns="0" rtlCol="0" anchor="ctr"/>
          <a:lstStyle/>
          <a:p>
            <a:pPr marL="0" indent="0" algn="l">
              <a:buNone/>
            </a:pPr>
            <a:r>
              <a:rPr lang="en-US" sz="4000" b="1" dirty="0">
                <a:solidFill>
                  <a:srgbClr val="D6E4F0"/>
                </a:solidFill>
              </a:rPr>
              <a:t>&amp; Kế hoạch triển khai gói thầu</a:t>
            </a:r>
            <a:endParaRPr lang="en-US" sz="4000" dirty="0"/>
          </a:p>
        </p:txBody>
      </p:sp>
      <p:sp>
        <p:nvSpPr>
          <p:cNvPr id="9" name="Text 7"/>
          <p:cNvSpPr/>
          <p:nvPr/>
        </p:nvSpPr>
        <p:spPr>
          <a:xfrm>
            <a:off x="658368" y="2944368"/>
            <a:ext cx="8046720" cy="365760"/>
          </a:xfrm>
          <a:prstGeom prst="rect">
            <a:avLst/>
          </a:prstGeom>
          <a:noFill/>
          <a:ln/>
        </p:spPr>
        <p:txBody>
          <a:bodyPr wrap="square" lIns="0" tIns="0" rIns="0" bIns="0" rtlCol="0" anchor="ctr"/>
          <a:lstStyle/>
          <a:p>
            <a:pPr marL="0" indent="0" algn="l">
              <a:buNone/>
            </a:pPr>
            <a:r>
              <a:rPr lang="en-US" sz="1350" dirty="0">
                <a:solidFill>
                  <a:srgbClr val="8FA8BF"/>
                </a:solidFill>
              </a:rPr>
              <a:t>Tư vấn rà soát, điều chỉnh quy chế đầu tư xây dựng — VICEM Hà Tiên</a:t>
            </a:r>
            <a:endParaRPr lang="en-US" sz="1350" dirty="0"/>
          </a:p>
        </p:txBody>
      </p:sp>
      <p:sp>
        <p:nvSpPr>
          <p:cNvPr id="10" name="Text 8"/>
          <p:cNvSpPr/>
          <p:nvPr/>
        </p:nvSpPr>
        <p:spPr>
          <a:xfrm>
            <a:off x="658368" y="3291840"/>
            <a:ext cx="8046720" cy="320040"/>
          </a:xfrm>
          <a:prstGeom prst="rect">
            <a:avLst/>
          </a:prstGeom>
          <a:noFill/>
          <a:ln/>
        </p:spPr>
        <p:txBody>
          <a:bodyPr wrap="square" lIns="0" tIns="0" rIns="0" bIns="0" rtlCol="0" anchor="ctr"/>
          <a:lstStyle/>
          <a:p>
            <a:pPr marL="0" indent="0" algn="l">
              <a:buNone/>
            </a:pPr>
            <a:r>
              <a:rPr lang="en-US" sz="1200" dirty="0">
                <a:solidFill>
                  <a:srgbClr val="8FA8BF"/>
                </a:solidFill>
              </a:rPr>
              <a:t>HĐ 013/CSS_CIC_2026   |   Tháng 06 năm 2026</a:t>
            </a:r>
            <a:endParaRPr lang="en-US" sz="1200" dirty="0"/>
          </a:p>
        </p:txBody>
      </p:sp>
      <p:sp>
        <p:nvSpPr>
          <p:cNvPr id="11" name="Shape 9"/>
          <p:cNvSpPr/>
          <p:nvPr/>
        </p:nvSpPr>
        <p:spPr>
          <a:xfrm>
            <a:off x="0" y="4663440"/>
            <a:ext cx="9144000" cy="480060"/>
          </a:xfrm>
          <a:prstGeom prst="rect">
            <a:avLst/>
          </a:prstGeom>
          <a:solidFill>
            <a:srgbClr val="2C4F72">
              <a:alpha val="55000"/>
            </a:srgbClr>
          </a:solidFill>
          <a:ln w="12700">
            <a:solidFill>
              <a:srgbClr val="2C4F72">
                <a:alpha val="55000"/>
              </a:srgbClr>
            </a:solidFill>
            <a:prstDash val="solid"/>
          </a:ln>
        </p:spPr>
        <p:txBody>
          <a:bodyPr/>
          <a:lstStyle/>
          <a:p>
            <a:endParaRPr lang="en-US"/>
          </a:p>
        </p:txBody>
      </p:sp>
      <p:sp>
        <p:nvSpPr>
          <p:cNvPr id="12" name="Text 10"/>
          <p:cNvSpPr/>
          <p:nvPr/>
        </p:nvSpPr>
        <p:spPr>
          <a:xfrm>
            <a:off x="365760" y="4663440"/>
            <a:ext cx="8412480" cy="480060"/>
          </a:xfrm>
          <a:prstGeom prst="rect">
            <a:avLst/>
          </a:prstGeom>
          <a:noFill/>
          <a:ln/>
        </p:spPr>
        <p:txBody>
          <a:bodyPr wrap="square" lIns="0" tIns="0" rIns="0" bIns="0" rtlCol="0" anchor="ctr"/>
          <a:lstStyle/>
          <a:p>
            <a:pPr marL="0" indent="0" algn="r">
              <a:buNone/>
            </a:pPr>
            <a:r>
              <a:rPr lang="en-US" sz="1100" dirty="0">
                <a:solidFill>
                  <a:srgbClr val="8FA8BF"/>
                </a:solidFill>
              </a:rPr>
              <a:t>Công ty Cổ phần Công nghệ và Tư vấn CIC — Trước khảo sát thực địa VICEM Hà Tiên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30352"/>
          </a:xfrm>
          <a:prstGeom prst="rect">
            <a:avLst/>
          </a:prstGeom>
          <a:noFill/>
          <a:ln/>
        </p:spPr>
        <p:txBody>
          <a:bodyPr wrap="square" lIns="0" tIns="0" rIns="0" bIns="0" rtlCol="0" anchor="ctr"/>
          <a:lstStyle/>
          <a:p>
            <a:pPr marL="0" indent="0" algn="l">
              <a:buNone/>
            </a:pPr>
            <a:r>
              <a:rPr lang="en-US" sz="2600" b="1" dirty="0">
                <a:solidFill>
                  <a:srgbClr val="1E3A5F"/>
                </a:solidFill>
              </a:rPr>
              <a:t>Nội dung trình bày</a:t>
            </a:r>
            <a:endParaRPr lang="en-US" sz="2600" dirty="0"/>
          </a:p>
        </p:txBody>
      </p:sp>
      <p:sp>
        <p:nvSpPr>
          <p:cNvPr id="3" name="Shape 1"/>
          <p:cNvSpPr/>
          <p:nvPr/>
        </p:nvSpPr>
        <p:spPr>
          <a:xfrm>
            <a:off x="411480" y="932688"/>
            <a:ext cx="621792" cy="603504"/>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411480" y="932688"/>
            <a:ext cx="621792" cy="603504"/>
          </a:xfrm>
          <a:prstGeom prst="rect">
            <a:avLst/>
          </a:prstGeom>
          <a:noFill/>
          <a:ln/>
        </p:spPr>
        <p:txBody>
          <a:bodyPr wrap="square" lIns="0" tIns="0" rIns="0" bIns="0" rtlCol="0" anchor="ctr"/>
          <a:lstStyle/>
          <a:p>
            <a:pPr marL="0" indent="0" algn="ctr">
              <a:buNone/>
            </a:pPr>
            <a:r>
              <a:rPr lang="en-US" sz="1700" b="1" dirty="0">
                <a:solidFill>
                  <a:srgbClr val="E67E22"/>
                </a:solidFill>
              </a:rPr>
              <a:t>01</a:t>
            </a:r>
            <a:endParaRPr lang="en-US" sz="1700" dirty="0"/>
          </a:p>
        </p:txBody>
      </p:sp>
      <p:sp>
        <p:nvSpPr>
          <p:cNvPr id="5" name="Text 3"/>
          <p:cNvSpPr/>
          <p:nvPr/>
        </p:nvSpPr>
        <p:spPr>
          <a:xfrm>
            <a:off x="1170432" y="950976"/>
            <a:ext cx="7589520" cy="274320"/>
          </a:xfrm>
          <a:prstGeom prst="rect">
            <a:avLst/>
          </a:prstGeom>
          <a:noFill/>
          <a:ln/>
        </p:spPr>
        <p:txBody>
          <a:bodyPr wrap="square" lIns="0" tIns="0" rIns="0" bIns="0" rtlCol="0" anchor="ctr"/>
          <a:lstStyle/>
          <a:p>
            <a:pPr marL="0" indent="0" algn="l">
              <a:buNone/>
            </a:pPr>
            <a:r>
              <a:rPr lang="en-US" sz="1300" b="1" dirty="0">
                <a:solidFill>
                  <a:srgbClr val="1E3A5F"/>
                </a:solidFill>
              </a:rPr>
              <a:t>Bối cảnh pháp lý</a:t>
            </a:r>
            <a:endParaRPr lang="en-US" sz="1300" dirty="0"/>
          </a:p>
        </p:txBody>
      </p:sp>
      <p:sp>
        <p:nvSpPr>
          <p:cNvPr id="6" name="Text 4"/>
          <p:cNvSpPr/>
          <p:nvPr/>
        </p:nvSpPr>
        <p:spPr>
          <a:xfrm>
            <a:off x="1170432" y="1216152"/>
            <a:ext cx="7589520" cy="301752"/>
          </a:xfrm>
          <a:prstGeom prst="rect">
            <a:avLst/>
          </a:prstGeom>
          <a:noFill/>
          <a:ln/>
        </p:spPr>
        <p:txBody>
          <a:bodyPr wrap="square" lIns="0" tIns="0" rIns="0" bIns="0" rtlCol="0" anchor="ctr"/>
          <a:lstStyle/>
          <a:p>
            <a:pPr marL="0" indent="0" algn="l">
              <a:buNone/>
            </a:pPr>
            <a:r>
              <a:rPr lang="en-US" sz="1050" dirty="0">
                <a:solidFill>
                  <a:srgbClr val="4A6280"/>
                </a:solidFill>
              </a:rPr>
              <a:t>Luật Xây dựng 135/2025/QH15 — Áp lực thay đổi toàn diện từ 01/07/2026</a:t>
            </a:r>
            <a:endParaRPr lang="en-US" sz="1050" dirty="0"/>
          </a:p>
        </p:txBody>
      </p:sp>
      <p:sp>
        <p:nvSpPr>
          <p:cNvPr id="7" name="Shape 5"/>
          <p:cNvSpPr/>
          <p:nvPr/>
        </p:nvSpPr>
        <p:spPr>
          <a:xfrm>
            <a:off x="411480" y="1609344"/>
            <a:ext cx="8412480" cy="0"/>
          </a:xfrm>
          <a:prstGeom prst="line">
            <a:avLst/>
          </a:prstGeom>
          <a:noFill/>
          <a:ln w="6350">
            <a:solidFill>
              <a:srgbClr val="D0DCE8"/>
            </a:solidFill>
            <a:prstDash val="solid"/>
          </a:ln>
        </p:spPr>
        <p:txBody>
          <a:bodyPr/>
          <a:lstStyle/>
          <a:p>
            <a:endParaRPr lang="en-US"/>
          </a:p>
        </p:txBody>
      </p:sp>
      <p:sp>
        <p:nvSpPr>
          <p:cNvPr id="8" name="Shape 6"/>
          <p:cNvSpPr/>
          <p:nvPr/>
        </p:nvSpPr>
        <p:spPr>
          <a:xfrm>
            <a:off x="411480" y="1737360"/>
            <a:ext cx="621792" cy="603504"/>
          </a:xfrm>
          <a:prstGeom prst="rect">
            <a:avLst/>
          </a:prstGeom>
          <a:solidFill>
            <a:srgbClr val="1E3A5F"/>
          </a:solidFill>
          <a:ln w="12700">
            <a:solidFill>
              <a:srgbClr val="1E3A5F"/>
            </a:solidFill>
            <a:prstDash val="solid"/>
          </a:ln>
        </p:spPr>
        <p:txBody>
          <a:bodyPr/>
          <a:lstStyle/>
          <a:p>
            <a:endParaRPr lang="en-US"/>
          </a:p>
        </p:txBody>
      </p:sp>
      <p:sp>
        <p:nvSpPr>
          <p:cNvPr id="9" name="Text 7"/>
          <p:cNvSpPr/>
          <p:nvPr/>
        </p:nvSpPr>
        <p:spPr>
          <a:xfrm>
            <a:off x="411480" y="1737360"/>
            <a:ext cx="621792" cy="603504"/>
          </a:xfrm>
          <a:prstGeom prst="rect">
            <a:avLst/>
          </a:prstGeom>
          <a:noFill/>
          <a:ln/>
        </p:spPr>
        <p:txBody>
          <a:bodyPr wrap="square" lIns="0" tIns="0" rIns="0" bIns="0" rtlCol="0" anchor="ctr"/>
          <a:lstStyle/>
          <a:p>
            <a:pPr marL="0" indent="0" algn="ctr">
              <a:buNone/>
            </a:pPr>
            <a:r>
              <a:rPr lang="en-US" sz="1700" b="1" dirty="0">
                <a:solidFill>
                  <a:srgbClr val="E67E22"/>
                </a:solidFill>
              </a:rPr>
              <a:t>02</a:t>
            </a:r>
            <a:endParaRPr lang="en-US" sz="1700" dirty="0"/>
          </a:p>
        </p:txBody>
      </p:sp>
      <p:sp>
        <p:nvSpPr>
          <p:cNvPr id="10" name="Text 8"/>
          <p:cNvSpPr/>
          <p:nvPr/>
        </p:nvSpPr>
        <p:spPr>
          <a:xfrm>
            <a:off x="1170432" y="1755648"/>
            <a:ext cx="7589520" cy="274320"/>
          </a:xfrm>
          <a:prstGeom prst="rect">
            <a:avLst/>
          </a:prstGeom>
          <a:noFill/>
          <a:ln/>
        </p:spPr>
        <p:txBody>
          <a:bodyPr wrap="square" lIns="0" tIns="0" rIns="0" bIns="0" rtlCol="0" anchor="ctr"/>
          <a:lstStyle/>
          <a:p>
            <a:pPr marL="0" indent="0" algn="l">
              <a:buNone/>
            </a:pPr>
            <a:r>
              <a:rPr lang="en-US" sz="1300" b="1" dirty="0">
                <a:solidFill>
                  <a:srgbClr val="1E3A5F"/>
                </a:solidFill>
              </a:rPr>
              <a:t>Hệ sinh thái văn bản mới &amp; Hiện trạng rủi ro</a:t>
            </a:r>
            <a:endParaRPr lang="en-US" sz="1300" dirty="0"/>
          </a:p>
        </p:txBody>
      </p:sp>
      <p:sp>
        <p:nvSpPr>
          <p:cNvPr id="11" name="Text 9"/>
          <p:cNvSpPr/>
          <p:nvPr/>
        </p:nvSpPr>
        <p:spPr>
          <a:xfrm>
            <a:off x="1170432" y="2020824"/>
            <a:ext cx="7589520" cy="301752"/>
          </a:xfrm>
          <a:prstGeom prst="rect">
            <a:avLst/>
          </a:prstGeom>
          <a:noFill/>
          <a:ln/>
        </p:spPr>
        <p:txBody>
          <a:bodyPr wrap="square" lIns="0" tIns="0" rIns="0" bIns="0" rtlCol="0" anchor="ctr"/>
          <a:lstStyle/>
          <a:p>
            <a:pPr marL="0" indent="0" algn="l">
              <a:buNone/>
            </a:pPr>
            <a:r>
              <a:rPr lang="en-US" sz="1050" dirty="0">
                <a:solidFill>
                  <a:srgbClr val="4A6280"/>
                </a:solidFill>
              </a:rPr>
              <a:t>05 Nghị định hướng dẫn mới — 8/8 quy trình QLDA hiện hành đang dẫn chiếu văn bản lỗi thời</a:t>
            </a:r>
            <a:endParaRPr lang="en-US" sz="1050" dirty="0"/>
          </a:p>
        </p:txBody>
      </p:sp>
      <p:sp>
        <p:nvSpPr>
          <p:cNvPr id="12" name="Shape 10"/>
          <p:cNvSpPr/>
          <p:nvPr/>
        </p:nvSpPr>
        <p:spPr>
          <a:xfrm>
            <a:off x="411480" y="2414016"/>
            <a:ext cx="8412480" cy="0"/>
          </a:xfrm>
          <a:prstGeom prst="line">
            <a:avLst/>
          </a:prstGeom>
          <a:noFill/>
          <a:ln w="6350">
            <a:solidFill>
              <a:srgbClr val="D0DCE8"/>
            </a:solidFill>
            <a:prstDash val="solid"/>
          </a:ln>
        </p:spPr>
        <p:txBody>
          <a:bodyPr/>
          <a:lstStyle/>
          <a:p>
            <a:endParaRPr lang="en-US"/>
          </a:p>
        </p:txBody>
      </p:sp>
      <p:sp>
        <p:nvSpPr>
          <p:cNvPr id="13" name="Shape 11"/>
          <p:cNvSpPr/>
          <p:nvPr/>
        </p:nvSpPr>
        <p:spPr>
          <a:xfrm>
            <a:off x="411480" y="2542032"/>
            <a:ext cx="621792" cy="603504"/>
          </a:xfrm>
          <a:prstGeom prst="rect">
            <a:avLst/>
          </a:prstGeom>
          <a:solidFill>
            <a:srgbClr val="1E3A5F"/>
          </a:solidFill>
          <a:ln w="12700">
            <a:solidFill>
              <a:srgbClr val="1E3A5F"/>
            </a:solidFill>
            <a:prstDash val="solid"/>
          </a:ln>
        </p:spPr>
        <p:txBody>
          <a:bodyPr/>
          <a:lstStyle/>
          <a:p>
            <a:endParaRPr lang="en-US"/>
          </a:p>
        </p:txBody>
      </p:sp>
      <p:sp>
        <p:nvSpPr>
          <p:cNvPr id="14" name="Text 12"/>
          <p:cNvSpPr/>
          <p:nvPr/>
        </p:nvSpPr>
        <p:spPr>
          <a:xfrm>
            <a:off x="411480" y="2542032"/>
            <a:ext cx="621792" cy="603504"/>
          </a:xfrm>
          <a:prstGeom prst="rect">
            <a:avLst/>
          </a:prstGeom>
          <a:noFill/>
          <a:ln/>
        </p:spPr>
        <p:txBody>
          <a:bodyPr wrap="square" lIns="0" tIns="0" rIns="0" bIns="0" rtlCol="0" anchor="ctr"/>
          <a:lstStyle/>
          <a:p>
            <a:pPr marL="0" indent="0" algn="ctr">
              <a:buNone/>
            </a:pPr>
            <a:r>
              <a:rPr lang="en-US" sz="1700" b="1" dirty="0">
                <a:solidFill>
                  <a:srgbClr val="E67E22"/>
                </a:solidFill>
              </a:rPr>
              <a:t>03</a:t>
            </a:r>
            <a:endParaRPr lang="en-US" sz="1700" dirty="0"/>
          </a:p>
        </p:txBody>
      </p:sp>
      <p:sp>
        <p:nvSpPr>
          <p:cNvPr id="15" name="Text 13"/>
          <p:cNvSpPr/>
          <p:nvPr/>
        </p:nvSpPr>
        <p:spPr>
          <a:xfrm>
            <a:off x="1170432" y="2560320"/>
            <a:ext cx="7589520" cy="274320"/>
          </a:xfrm>
          <a:prstGeom prst="rect">
            <a:avLst/>
          </a:prstGeom>
          <a:noFill/>
          <a:ln/>
        </p:spPr>
        <p:txBody>
          <a:bodyPr wrap="square" lIns="0" tIns="0" rIns="0" bIns="0" rtlCol="0" anchor="ctr"/>
          <a:lstStyle/>
          <a:p>
            <a:pPr marL="0" indent="0" algn="l">
              <a:buNone/>
            </a:pPr>
            <a:r>
              <a:rPr lang="en-US" sz="1300" b="1" dirty="0">
                <a:solidFill>
                  <a:srgbClr val="1E3A5F"/>
                </a:solidFill>
              </a:rPr>
              <a:t>Phạm vi gói thầu &amp; Phương pháp luận</a:t>
            </a:r>
            <a:endParaRPr lang="en-US" sz="1300" dirty="0"/>
          </a:p>
        </p:txBody>
      </p:sp>
      <p:sp>
        <p:nvSpPr>
          <p:cNvPr id="16" name="Text 14"/>
          <p:cNvSpPr/>
          <p:nvPr/>
        </p:nvSpPr>
        <p:spPr>
          <a:xfrm>
            <a:off x="1170432" y="2825496"/>
            <a:ext cx="7589520" cy="301752"/>
          </a:xfrm>
          <a:prstGeom prst="rect">
            <a:avLst/>
          </a:prstGeom>
          <a:noFill/>
          <a:ln/>
        </p:spPr>
        <p:txBody>
          <a:bodyPr wrap="square" lIns="0" tIns="0" rIns="0" bIns="0" rtlCol="0" anchor="ctr"/>
          <a:lstStyle/>
          <a:p>
            <a:pPr marL="0" indent="0" algn="l">
              <a:buNone/>
            </a:pPr>
            <a:r>
              <a:rPr lang="en-US" sz="1050" dirty="0">
                <a:solidFill>
                  <a:srgbClr val="4A6280"/>
                </a:solidFill>
              </a:rPr>
              <a:t>12 quy trình (8 cập nhật + 4 mới) — "Từ pháp lý đến thực tiễn — Từ thực tiễn đến quy trình"</a:t>
            </a:r>
            <a:endParaRPr lang="en-US" sz="1050" dirty="0"/>
          </a:p>
        </p:txBody>
      </p:sp>
      <p:sp>
        <p:nvSpPr>
          <p:cNvPr id="17" name="Shape 15"/>
          <p:cNvSpPr/>
          <p:nvPr/>
        </p:nvSpPr>
        <p:spPr>
          <a:xfrm>
            <a:off x="411480" y="3218688"/>
            <a:ext cx="8412480" cy="0"/>
          </a:xfrm>
          <a:prstGeom prst="line">
            <a:avLst/>
          </a:prstGeom>
          <a:noFill/>
          <a:ln w="6350">
            <a:solidFill>
              <a:srgbClr val="D0DCE8"/>
            </a:solidFill>
            <a:prstDash val="solid"/>
          </a:ln>
        </p:spPr>
        <p:txBody>
          <a:bodyPr/>
          <a:lstStyle/>
          <a:p>
            <a:endParaRPr lang="en-US"/>
          </a:p>
        </p:txBody>
      </p:sp>
      <p:sp>
        <p:nvSpPr>
          <p:cNvPr id="18" name="Shape 16"/>
          <p:cNvSpPr/>
          <p:nvPr/>
        </p:nvSpPr>
        <p:spPr>
          <a:xfrm>
            <a:off x="411480" y="3346704"/>
            <a:ext cx="621792" cy="603504"/>
          </a:xfrm>
          <a:prstGeom prst="rect">
            <a:avLst/>
          </a:prstGeom>
          <a:solidFill>
            <a:srgbClr val="1E3A5F"/>
          </a:solidFill>
          <a:ln w="12700">
            <a:solidFill>
              <a:srgbClr val="1E3A5F"/>
            </a:solidFill>
            <a:prstDash val="solid"/>
          </a:ln>
        </p:spPr>
        <p:txBody>
          <a:bodyPr/>
          <a:lstStyle/>
          <a:p>
            <a:endParaRPr lang="en-US"/>
          </a:p>
        </p:txBody>
      </p:sp>
      <p:sp>
        <p:nvSpPr>
          <p:cNvPr id="19" name="Text 17"/>
          <p:cNvSpPr/>
          <p:nvPr/>
        </p:nvSpPr>
        <p:spPr>
          <a:xfrm>
            <a:off x="411480" y="3346704"/>
            <a:ext cx="621792" cy="603504"/>
          </a:xfrm>
          <a:prstGeom prst="rect">
            <a:avLst/>
          </a:prstGeom>
          <a:noFill/>
          <a:ln/>
        </p:spPr>
        <p:txBody>
          <a:bodyPr wrap="square" lIns="0" tIns="0" rIns="0" bIns="0" rtlCol="0" anchor="ctr"/>
          <a:lstStyle/>
          <a:p>
            <a:pPr marL="0" indent="0" algn="ctr">
              <a:buNone/>
            </a:pPr>
            <a:r>
              <a:rPr lang="en-US" sz="1700" b="1" dirty="0">
                <a:solidFill>
                  <a:srgbClr val="E67E22"/>
                </a:solidFill>
              </a:rPr>
              <a:t>04</a:t>
            </a:r>
            <a:endParaRPr lang="en-US" sz="1700" dirty="0"/>
          </a:p>
        </p:txBody>
      </p:sp>
      <p:sp>
        <p:nvSpPr>
          <p:cNvPr id="20" name="Text 18"/>
          <p:cNvSpPr/>
          <p:nvPr/>
        </p:nvSpPr>
        <p:spPr>
          <a:xfrm>
            <a:off x="1170432" y="3364992"/>
            <a:ext cx="7589520" cy="274320"/>
          </a:xfrm>
          <a:prstGeom prst="rect">
            <a:avLst/>
          </a:prstGeom>
          <a:noFill/>
          <a:ln/>
        </p:spPr>
        <p:txBody>
          <a:bodyPr wrap="square" lIns="0" tIns="0" rIns="0" bIns="0" rtlCol="0" anchor="ctr"/>
          <a:lstStyle/>
          <a:p>
            <a:pPr marL="0" indent="0" algn="l">
              <a:buNone/>
            </a:pPr>
            <a:r>
              <a:rPr lang="en-US" sz="1300" b="1" dirty="0">
                <a:solidFill>
                  <a:srgbClr val="1E3A5F"/>
                </a:solidFill>
              </a:rPr>
              <a:t>Kế hoạch khảo sát 2 giai đoạn</a:t>
            </a:r>
            <a:endParaRPr lang="en-US" sz="1300" dirty="0"/>
          </a:p>
        </p:txBody>
      </p:sp>
      <p:sp>
        <p:nvSpPr>
          <p:cNvPr id="21" name="Text 19"/>
          <p:cNvSpPr/>
          <p:nvPr/>
        </p:nvSpPr>
        <p:spPr>
          <a:xfrm>
            <a:off x="1170432" y="3630168"/>
            <a:ext cx="7589520" cy="301752"/>
          </a:xfrm>
          <a:prstGeom prst="rect">
            <a:avLst/>
          </a:prstGeom>
          <a:noFill/>
          <a:ln/>
        </p:spPr>
        <p:txBody>
          <a:bodyPr wrap="square" lIns="0" tIns="0" rIns="0" bIns="0" rtlCol="0" anchor="ctr"/>
          <a:lstStyle/>
          <a:p>
            <a:pPr marL="0" indent="0" algn="l">
              <a:buNone/>
            </a:pPr>
            <a:r>
              <a:rPr lang="en-US" sz="1050" dirty="0">
                <a:solidFill>
                  <a:srgbClr val="4A6280"/>
                </a:solidFill>
              </a:rPr>
              <a:t>Giai đoạn 1: Khảo sát trực tuyến (T+1–T+7)   |   Giai đoạn 2: Thực địa 2 ngày tại VICEM Hà Tiên (T+10–T+11)</a:t>
            </a:r>
            <a:endParaRPr lang="en-US" sz="1050" dirty="0"/>
          </a:p>
        </p:txBody>
      </p:sp>
      <p:sp>
        <p:nvSpPr>
          <p:cNvPr id="22" name="Shape 20"/>
          <p:cNvSpPr/>
          <p:nvPr/>
        </p:nvSpPr>
        <p:spPr>
          <a:xfrm>
            <a:off x="411480" y="4023360"/>
            <a:ext cx="8412480" cy="0"/>
          </a:xfrm>
          <a:prstGeom prst="line">
            <a:avLst/>
          </a:prstGeom>
          <a:noFill/>
          <a:ln w="6350">
            <a:solidFill>
              <a:srgbClr val="D0DCE8"/>
            </a:solidFill>
            <a:prstDash val="solid"/>
          </a:ln>
        </p:spPr>
        <p:txBody>
          <a:bodyPr/>
          <a:lstStyle/>
          <a:p>
            <a:endParaRPr lang="en-US"/>
          </a:p>
        </p:txBody>
      </p:sp>
      <p:sp>
        <p:nvSpPr>
          <p:cNvPr id="23" name="Shape 21"/>
          <p:cNvSpPr/>
          <p:nvPr/>
        </p:nvSpPr>
        <p:spPr>
          <a:xfrm>
            <a:off x="411480" y="4151376"/>
            <a:ext cx="621792" cy="603504"/>
          </a:xfrm>
          <a:prstGeom prst="rect">
            <a:avLst/>
          </a:prstGeom>
          <a:solidFill>
            <a:srgbClr val="1E3A5F"/>
          </a:solidFill>
          <a:ln w="12700">
            <a:solidFill>
              <a:srgbClr val="1E3A5F"/>
            </a:solidFill>
            <a:prstDash val="solid"/>
          </a:ln>
        </p:spPr>
        <p:txBody>
          <a:bodyPr/>
          <a:lstStyle/>
          <a:p>
            <a:endParaRPr lang="en-US"/>
          </a:p>
        </p:txBody>
      </p:sp>
      <p:sp>
        <p:nvSpPr>
          <p:cNvPr id="24" name="Text 22"/>
          <p:cNvSpPr/>
          <p:nvPr/>
        </p:nvSpPr>
        <p:spPr>
          <a:xfrm>
            <a:off x="411480" y="4151376"/>
            <a:ext cx="621792" cy="603504"/>
          </a:xfrm>
          <a:prstGeom prst="rect">
            <a:avLst/>
          </a:prstGeom>
          <a:noFill/>
          <a:ln/>
        </p:spPr>
        <p:txBody>
          <a:bodyPr wrap="square" lIns="0" tIns="0" rIns="0" bIns="0" rtlCol="0" anchor="ctr"/>
          <a:lstStyle/>
          <a:p>
            <a:pPr marL="0" indent="0" algn="ctr">
              <a:buNone/>
            </a:pPr>
            <a:r>
              <a:rPr lang="en-US" sz="1700" b="1" dirty="0">
                <a:solidFill>
                  <a:srgbClr val="E67E22"/>
                </a:solidFill>
              </a:rPr>
              <a:t>05</a:t>
            </a:r>
            <a:endParaRPr lang="en-US" sz="1700" dirty="0"/>
          </a:p>
        </p:txBody>
      </p:sp>
      <p:sp>
        <p:nvSpPr>
          <p:cNvPr id="25" name="Text 23"/>
          <p:cNvSpPr/>
          <p:nvPr/>
        </p:nvSpPr>
        <p:spPr>
          <a:xfrm>
            <a:off x="1170432" y="4169664"/>
            <a:ext cx="7589520" cy="274320"/>
          </a:xfrm>
          <a:prstGeom prst="rect">
            <a:avLst/>
          </a:prstGeom>
          <a:noFill/>
          <a:ln/>
        </p:spPr>
        <p:txBody>
          <a:bodyPr wrap="square" lIns="0" tIns="0" rIns="0" bIns="0" rtlCol="0" anchor="ctr"/>
          <a:lstStyle/>
          <a:p>
            <a:pPr marL="0" indent="0" algn="l">
              <a:buNone/>
            </a:pPr>
            <a:r>
              <a:rPr lang="en-US" sz="1300" b="1" dirty="0">
                <a:solidFill>
                  <a:srgbClr val="1E3A5F"/>
                </a:solidFill>
              </a:rPr>
              <a:t>Tiến độ tổng thể 45 ngày &amp; Sản phẩm bàn giao</a:t>
            </a:r>
            <a:endParaRPr lang="en-US" sz="1300" dirty="0"/>
          </a:p>
        </p:txBody>
      </p:sp>
      <p:sp>
        <p:nvSpPr>
          <p:cNvPr id="26" name="Text 24"/>
          <p:cNvSpPr/>
          <p:nvPr/>
        </p:nvSpPr>
        <p:spPr>
          <a:xfrm>
            <a:off x="1170432" y="4434840"/>
            <a:ext cx="7589520" cy="301752"/>
          </a:xfrm>
          <a:prstGeom prst="rect">
            <a:avLst/>
          </a:prstGeom>
          <a:noFill/>
          <a:ln/>
        </p:spPr>
        <p:txBody>
          <a:bodyPr wrap="square" lIns="0" tIns="0" rIns="0" bIns="0" rtlCol="0" anchor="ctr"/>
          <a:lstStyle/>
          <a:p>
            <a:pPr marL="0" indent="0" algn="l">
              <a:buNone/>
            </a:pPr>
            <a:r>
              <a:rPr lang="en-US" sz="1050" dirty="0">
                <a:solidFill>
                  <a:srgbClr val="4A6280"/>
                </a:solidFill>
              </a:rPr>
              <a:t>Mốc D1: Ngày 20 (30%)   |   Mốc D2: Ngày 45 (70%)   |   06 sản phẩm bàn giao chính thức</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Bối cảnh pháp lý — Áp lực thay đổi từ 01/07/2026</a:t>
            </a:r>
            <a:endParaRPr lang="en-US" sz="2200" dirty="0"/>
          </a:p>
        </p:txBody>
      </p:sp>
      <p:sp>
        <p:nvSpPr>
          <p:cNvPr id="3" name="Shape 1"/>
          <p:cNvSpPr/>
          <p:nvPr/>
        </p:nvSpPr>
        <p:spPr>
          <a:xfrm>
            <a:off x="411480" y="822960"/>
            <a:ext cx="3200400" cy="219456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411480" y="914400"/>
            <a:ext cx="3200400" cy="868680"/>
          </a:xfrm>
          <a:prstGeom prst="rect">
            <a:avLst/>
          </a:prstGeom>
          <a:noFill/>
          <a:ln/>
        </p:spPr>
        <p:txBody>
          <a:bodyPr wrap="square" lIns="0" tIns="0" rIns="0" bIns="0" rtlCol="0" anchor="ctr"/>
          <a:lstStyle/>
          <a:p>
            <a:pPr marL="0" indent="0" algn="ctr">
              <a:buNone/>
            </a:pPr>
            <a:r>
              <a:rPr lang="en-US" sz="3600" b="1" dirty="0">
                <a:solidFill>
                  <a:srgbClr val="E67E22"/>
                </a:solidFill>
              </a:rPr>
              <a:t>01/07/2026</a:t>
            </a:r>
            <a:endParaRPr lang="en-US" sz="3600" dirty="0"/>
          </a:p>
        </p:txBody>
      </p:sp>
      <p:sp>
        <p:nvSpPr>
          <p:cNvPr id="5" name="Text 3"/>
          <p:cNvSpPr/>
          <p:nvPr/>
        </p:nvSpPr>
        <p:spPr>
          <a:xfrm>
            <a:off x="411480" y="1755648"/>
            <a:ext cx="3200400" cy="1005840"/>
          </a:xfrm>
          <a:prstGeom prst="rect">
            <a:avLst/>
          </a:prstGeom>
          <a:noFill/>
          <a:ln/>
        </p:spPr>
        <p:txBody>
          <a:bodyPr wrap="square" lIns="0" tIns="0" rIns="0" bIns="0" rtlCol="0" anchor="t"/>
          <a:lstStyle/>
          <a:p>
            <a:pPr marL="0" indent="0" algn="ctr">
              <a:buNone/>
            </a:pPr>
            <a:r>
              <a:rPr lang="en-US" sz="1300" dirty="0">
                <a:solidFill>
                  <a:srgbClr val="D6E4F0"/>
                </a:solidFill>
              </a:rPr>
              <a:t>Luật Xây dựng</a:t>
            </a:r>
            <a:endParaRPr lang="en-US" sz="1300" dirty="0"/>
          </a:p>
          <a:p>
            <a:pPr marL="0" indent="0" algn="ctr">
              <a:buNone/>
            </a:pPr>
            <a:r>
              <a:rPr lang="en-US" sz="1300" dirty="0">
                <a:solidFill>
                  <a:srgbClr val="D6E4F0"/>
                </a:solidFill>
              </a:rPr>
              <a:t>135/2025/QH15</a:t>
            </a:r>
            <a:endParaRPr lang="en-US" sz="1300" dirty="0"/>
          </a:p>
          <a:p>
            <a:pPr marL="0" indent="0" algn="ctr">
              <a:buNone/>
            </a:pPr>
            <a:r>
              <a:rPr lang="en-US" sz="1300" dirty="0">
                <a:solidFill>
                  <a:srgbClr val="D6E4F0"/>
                </a:solidFill>
              </a:rPr>
              <a:t>có hiệu lực</a:t>
            </a:r>
            <a:endParaRPr lang="en-US" sz="1300" dirty="0"/>
          </a:p>
        </p:txBody>
      </p:sp>
      <p:sp>
        <p:nvSpPr>
          <p:cNvPr id="6" name="Shape 4"/>
          <p:cNvSpPr/>
          <p:nvPr/>
        </p:nvSpPr>
        <p:spPr>
          <a:xfrm>
            <a:off x="3794760" y="822960"/>
            <a:ext cx="4937760" cy="457200"/>
          </a:xfrm>
          <a:prstGeom prst="rect">
            <a:avLst/>
          </a:prstGeom>
          <a:solidFill>
            <a:srgbClr val="F4F7FB"/>
          </a:solidFill>
          <a:ln w="9525">
            <a:solidFill>
              <a:srgbClr val="D0DCE8"/>
            </a:solidFill>
            <a:prstDash val="solid"/>
          </a:ln>
        </p:spPr>
        <p:txBody>
          <a:bodyPr/>
          <a:lstStyle/>
          <a:p>
            <a:endParaRPr lang="en-US"/>
          </a:p>
        </p:txBody>
      </p:sp>
      <p:sp>
        <p:nvSpPr>
          <p:cNvPr id="7" name="Shape 5"/>
          <p:cNvSpPr/>
          <p:nvPr/>
        </p:nvSpPr>
        <p:spPr>
          <a:xfrm>
            <a:off x="3794760" y="822960"/>
            <a:ext cx="201168" cy="457200"/>
          </a:xfrm>
          <a:prstGeom prst="rect">
            <a:avLst/>
          </a:prstGeom>
          <a:solidFill>
            <a:srgbClr val="1E3A5F"/>
          </a:solidFill>
          <a:ln w="12700">
            <a:solidFill>
              <a:srgbClr val="1E3A5F"/>
            </a:solidFill>
            <a:prstDash val="solid"/>
          </a:ln>
        </p:spPr>
        <p:txBody>
          <a:bodyPr/>
          <a:lstStyle/>
          <a:p>
            <a:endParaRPr lang="en-US"/>
          </a:p>
        </p:txBody>
      </p:sp>
      <p:sp>
        <p:nvSpPr>
          <p:cNvPr id="8" name="Text 6"/>
          <p:cNvSpPr/>
          <p:nvPr/>
        </p:nvSpPr>
        <p:spPr>
          <a:xfrm>
            <a:off x="4087368" y="841248"/>
            <a:ext cx="4572000" cy="420624"/>
          </a:xfrm>
          <a:prstGeom prst="rect">
            <a:avLst/>
          </a:prstGeom>
          <a:noFill/>
          <a:ln/>
        </p:spPr>
        <p:txBody>
          <a:bodyPr wrap="square" lIns="0" tIns="0" rIns="0" bIns="0" rtlCol="0" anchor="ctr"/>
          <a:lstStyle/>
          <a:p>
            <a:pPr marL="0" indent="0" algn="l">
              <a:buNone/>
            </a:pPr>
            <a:r>
              <a:rPr lang="en-US" sz="1150" dirty="0">
                <a:solidFill>
                  <a:srgbClr val="1A2B3C"/>
                </a:solidFill>
              </a:rPr>
              <a:t>Thay thế toàn bộ Luật XD 50/2014 và Luật sửa đổi 62/2020</a:t>
            </a:r>
            <a:endParaRPr lang="en-US" sz="1150" dirty="0"/>
          </a:p>
        </p:txBody>
      </p:sp>
      <p:sp>
        <p:nvSpPr>
          <p:cNvPr id="9" name="Shape 7"/>
          <p:cNvSpPr/>
          <p:nvPr/>
        </p:nvSpPr>
        <p:spPr>
          <a:xfrm>
            <a:off x="3794760" y="1353312"/>
            <a:ext cx="4937760" cy="457200"/>
          </a:xfrm>
          <a:prstGeom prst="rect">
            <a:avLst/>
          </a:prstGeom>
          <a:solidFill>
            <a:srgbClr val="F4F7FB"/>
          </a:solidFill>
          <a:ln w="9525">
            <a:solidFill>
              <a:srgbClr val="D0DCE8"/>
            </a:solidFill>
            <a:prstDash val="solid"/>
          </a:ln>
        </p:spPr>
        <p:txBody>
          <a:bodyPr/>
          <a:lstStyle/>
          <a:p>
            <a:endParaRPr lang="en-US"/>
          </a:p>
        </p:txBody>
      </p:sp>
      <p:sp>
        <p:nvSpPr>
          <p:cNvPr id="10" name="Shape 8"/>
          <p:cNvSpPr/>
          <p:nvPr/>
        </p:nvSpPr>
        <p:spPr>
          <a:xfrm>
            <a:off x="3794760" y="1353312"/>
            <a:ext cx="201168" cy="457200"/>
          </a:xfrm>
          <a:prstGeom prst="rect">
            <a:avLst/>
          </a:prstGeom>
          <a:solidFill>
            <a:srgbClr val="1E3A5F"/>
          </a:solidFill>
          <a:ln w="12700">
            <a:solidFill>
              <a:srgbClr val="1E3A5F"/>
            </a:solidFill>
            <a:prstDash val="solid"/>
          </a:ln>
        </p:spPr>
        <p:txBody>
          <a:bodyPr/>
          <a:lstStyle/>
          <a:p>
            <a:endParaRPr lang="en-US"/>
          </a:p>
        </p:txBody>
      </p:sp>
      <p:sp>
        <p:nvSpPr>
          <p:cNvPr id="11" name="Text 9"/>
          <p:cNvSpPr/>
          <p:nvPr/>
        </p:nvSpPr>
        <p:spPr>
          <a:xfrm>
            <a:off x="4087368" y="1371600"/>
            <a:ext cx="4572000" cy="420624"/>
          </a:xfrm>
          <a:prstGeom prst="rect">
            <a:avLst/>
          </a:prstGeom>
          <a:noFill/>
          <a:ln/>
        </p:spPr>
        <p:txBody>
          <a:bodyPr wrap="square" lIns="0" tIns="0" rIns="0" bIns="0" rtlCol="0" anchor="ctr"/>
          <a:lstStyle/>
          <a:p>
            <a:pPr marL="0" indent="0" algn="l">
              <a:buNone/>
            </a:pPr>
            <a:r>
              <a:rPr lang="en-US" sz="1150" dirty="0">
                <a:solidFill>
                  <a:srgbClr val="1A2B3C"/>
                </a:solidFill>
              </a:rPr>
              <a:t>Tối thiểu 05 Nghị định hướng dẫn ban hành đồng bộ trong 2026</a:t>
            </a:r>
            <a:endParaRPr lang="en-US" sz="1150" dirty="0"/>
          </a:p>
        </p:txBody>
      </p:sp>
      <p:sp>
        <p:nvSpPr>
          <p:cNvPr id="12" name="Shape 10"/>
          <p:cNvSpPr/>
          <p:nvPr/>
        </p:nvSpPr>
        <p:spPr>
          <a:xfrm>
            <a:off x="3794760" y="1883664"/>
            <a:ext cx="4937760" cy="457200"/>
          </a:xfrm>
          <a:prstGeom prst="rect">
            <a:avLst/>
          </a:prstGeom>
          <a:solidFill>
            <a:srgbClr val="F4F7FB"/>
          </a:solidFill>
          <a:ln w="9525">
            <a:solidFill>
              <a:srgbClr val="D0DCE8"/>
            </a:solidFill>
            <a:prstDash val="solid"/>
          </a:ln>
        </p:spPr>
        <p:txBody>
          <a:bodyPr/>
          <a:lstStyle/>
          <a:p>
            <a:endParaRPr lang="en-US"/>
          </a:p>
        </p:txBody>
      </p:sp>
      <p:sp>
        <p:nvSpPr>
          <p:cNvPr id="13" name="Shape 11"/>
          <p:cNvSpPr/>
          <p:nvPr/>
        </p:nvSpPr>
        <p:spPr>
          <a:xfrm>
            <a:off x="3794760" y="1883664"/>
            <a:ext cx="201168" cy="457200"/>
          </a:xfrm>
          <a:prstGeom prst="rect">
            <a:avLst/>
          </a:prstGeom>
          <a:solidFill>
            <a:srgbClr val="1E3A5F"/>
          </a:solidFill>
          <a:ln w="12700">
            <a:solidFill>
              <a:srgbClr val="1E3A5F"/>
            </a:solidFill>
            <a:prstDash val="solid"/>
          </a:ln>
        </p:spPr>
        <p:txBody>
          <a:bodyPr/>
          <a:lstStyle/>
          <a:p>
            <a:endParaRPr lang="en-US"/>
          </a:p>
        </p:txBody>
      </p:sp>
      <p:sp>
        <p:nvSpPr>
          <p:cNvPr id="14" name="Text 12"/>
          <p:cNvSpPr/>
          <p:nvPr/>
        </p:nvSpPr>
        <p:spPr>
          <a:xfrm>
            <a:off x="4087368" y="1901952"/>
            <a:ext cx="4572000" cy="420624"/>
          </a:xfrm>
          <a:prstGeom prst="rect">
            <a:avLst/>
          </a:prstGeom>
          <a:noFill/>
          <a:ln/>
        </p:spPr>
        <p:txBody>
          <a:bodyPr wrap="square" lIns="0" tIns="0" rIns="0" bIns="0" rtlCol="0" anchor="ctr"/>
          <a:lstStyle/>
          <a:p>
            <a:pPr marL="0" indent="0" algn="l">
              <a:buNone/>
            </a:pPr>
            <a:r>
              <a:rPr lang="en-US" sz="1150" dirty="0">
                <a:solidFill>
                  <a:srgbClr val="1A2B3C"/>
                </a:solidFill>
              </a:rPr>
              <a:t>Chuyển từ tiền kiểm sang hậu kiểm — Mở rộng miễn GPXD</a:t>
            </a:r>
            <a:endParaRPr lang="en-US" sz="1150" dirty="0"/>
          </a:p>
        </p:txBody>
      </p:sp>
      <p:sp>
        <p:nvSpPr>
          <p:cNvPr id="15" name="Shape 13"/>
          <p:cNvSpPr/>
          <p:nvPr/>
        </p:nvSpPr>
        <p:spPr>
          <a:xfrm>
            <a:off x="3794760" y="2414016"/>
            <a:ext cx="4937760" cy="457200"/>
          </a:xfrm>
          <a:prstGeom prst="rect">
            <a:avLst/>
          </a:prstGeom>
          <a:solidFill>
            <a:srgbClr val="F4F7FB"/>
          </a:solidFill>
          <a:ln w="9525">
            <a:solidFill>
              <a:srgbClr val="D0DCE8"/>
            </a:solidFill>
            <a:prstDash val="solid"/>
          </a:ln>
        </p:spPr>
        <p:txBody>
          <a:bodyPr/>
          <a:lstStyle/>
          <a:p>
            <a:endParaRPr lang="en-US"/>
          </a:p>
        </p:txBody>
      </p:sp>
      <p:sp>
        <p:nvSpPr>
          <p:cNvPr id="16" name="Shape 14"/>
          <p:cNvSpPr/>
          <p:nvPr/>
        </p:nvSpPr>
        <p:spPr>
          <a:xfrm>
            <a:off x="3794760" y="2414016"/>
            <a:ext cx="201168" cy="457200"/>
          </a:xfrm>
          <a:prstGeom prst="rect">
            <a:avLst/>
          </a:prstGeom>
          <a:solidFill>
            <a:srgbClr val="1E3A5F"/>
          </a:solidFill>
          <a:ln w="12700">
            <a:solidFill>
              <a:srgbClr val="1E3A5F"/>
            </a:solidFill>
            <a:prstDash val="solid"/>
          </a:ln>
        </p:spPr>
        <p:txBody>
          <a:bodyPr/>
          <a:lstStyle/>
          <a:p>
            <a:endParaRPr lang="en-US"/>
          </a:p>
        </p:txBody>
      </p:sp>
      <p:sp>
        <p:nvSpPr>
          <p:cNvPr id="17" name="Text 15"/>
          <p:cNvSpPr/>
          <p:nvPr/>
        </p:nvSpPr>
        <p:spPr>
          <a:xfrm>
            <a:off x="4087368" y="2432304"/>
            <a:ext cx="4572000" cy="420624"/>
          </a:xfrm>
          <a:prstGeom prst="rect">
            <a:avLst/>
          </a:prstGeom>
          <a:noFill/>
          <a:ln/>
        </p:spPr>
        <p:txBody>
          <a:bodyPr wrap="square" lIns="0" tIns="0" rIns="0" bIns="0" rtlCol="0" anchor="ctr"/>
          <a:lstStyle/>
          <a:p>
            <a:pPr marL="0" indent="0" algn="l">
              <a:buNone/>
            </a:pPr>
            <a:r>
              <a:rPr lang="en-US" sz="1150" dirty="0">
                <a:solidFill>
                  <a:srgbClr val="1A2B3C"/>
                </a:solidFill>
              </a:rPr>
              <a:t>Bắt buộc áp dụng BIM và Môi trường Dữ liệu Chung (CDE)</a:t>
            </a:r>
            <a:endParaRPr lang="en-US" sz="1150" dirty="0"/>
          </a:p>
        </p:txBody>
      </p:sp>
      <p:sp>
        <p:nvSpPr>
          <p:cNvPr id="18" name="Shape 16"/>
          <p:cNvSpPr/>
          <p:nvPr/>
        </p:nvSpPr>
        <p:spPr>
          <a:xfrm>
            <a:off x="411480" y="3182112"/>
            <a:ext cx="8321040" cy="1645920"/>
          </a:xfrm>
          <a:prstGeom prst="rect">
            <a:avLst/>
          </a:prstGeom>
          <a:solidFill>
            <a:srgbClr val="FEF3E7"/>
          </a:solidFill>
          <a:ln w="12700">
            <a:solidFill>
              <a:srgbClr val="E67E22"/>
            </a:solidFill>
            <a:prstDash val="solid"/>
          </a:ln>
        </p:spPr>
        <p:txBody>
          <a:bodyPr/>
          <a:lstStyle/>
          <a:p>
            <a:endParaRPr lang="en-US"/>
          </a:p>
        </p:txBody>
      </p:sp>
      <p:sp>
        <p:nvSpPr>
          <p:cNvPr id="19" name="Shape 17"/>
          <p:cNvSpPr/>
          <p:nvPr/>
        </p:nvSpPr>
        <p:spPr>
          <a:xfrm>
            <a:off x="411480" y="3182112"/>
            <a:ext cx="164592" cy="1645920"/>
          </a:xfrm>
          <a:prstGeom prst="rect">
            <a:avLst/>
          </a:prstGeom>
          <a:solidFill>
            <a:srgbClr val="E67E22"/>
          </a:solidFill>
          <a:ln w="12700">
            <a:solidFill>
              <a:srgbClr val="E67E22"/>
            </a:solidFill>
            <a:prstDash val="solid"/>
          </a:ln>
        </p:spPr>
        <p:txBody>
          <a:bodyPr/>
          <a:lstStyle/>
          <a:p>
            <a:endParaRPr lang="en-US"/>
          </a:p>
        </p:txBody>
      </p:sp>
      <p:sp>
        <p:nvSpPr>
          <p:cNvPr id="20" name="Text 18"/>
          <p:cNvSpPr/>
          <p:nvPr/>
        </p:nvSpPr>
        <p:spPr>
          <a:xfrm>
            <a:off x="713232" y="3246120"/>
            <a:ext cx="7909560" cy="1508760"/>
          </a:xfrm>
          <a:prstGeom prst="rect">
            <a:avLst/>
          </a:prstGeom>
          <a:noFill/>
          <a:ln/>
        </p:spPr>
        <p:txBody>
          <a:bodyPr wrap="square" lIns="0" tIns="0" rIns="0" bIns="0" rtlCol="0" anchor="t"/>
          <a:lstStyle/>
          <a:p>
            <a:pPr marL="0" indent="0" algn="l">
              <a:buNone/>
            </a:pPr>
            <a:r>
              <a:rPr lang="en-US" sz="1250" i="1" dirty="0">
                <a:solidFill>
                  <a:srgbClr val="1A2B3C"/>
                </a:solidFill>
              </a:rPr>
              <a:t>Đây là cuộc cải cách pháp lý toàn diện nhất trong lĩnh vực đầu tư xây dựng trong một thập kỷ. Toàn bộ hệ thống quy chế hiện hành của VICEM Hà Tiên — được xây dựng dựa trên khung pháp lý cũ — có nguy cơ không tuân thủ pháp luật từ ngày 01/07/2026 nếu không được cập nhật kịp thời.</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Hệ sinh thái văn bản mới 2026 &amp; Rủi ro hiện trạng</a:t>
            </a:r>
            <a:endParaRPr lang="en-US" sz="2200" dirty="0"/>
          </a:p>
        </p:txBody>
      </p:sp>
      <p:sp>
        <p:nvSpPr>
          <p:cNvPr id="3" name="Text 1"/>
          <p:cNvSpPr/>
          <p:nvPr/>
        </p:nvSpPr>
        <p:spPr>
          <a:xfrm>
            <a:off x="411480" y="804672"/>
            <a:ext cx="4114800" cy="292608"/>
          </a:xfrm>
          <a:prstGeom prst="rect">
            <a:avLst/>
          </a:prstGeom>
          <a:noFill/>
          <a:ln/>
        </p:spPr>
        <p:txBody>
          <a:bodyPr wrap="square" lIns="0" tIns="0" rIns="0" bIns="0" rtlCol="0" anchor="ctr"/>
          <a:lstStyle/>
          <a:p>
            <a:pPr marL="0" indent="0" algn="l">
              <a:buNone/>
            </a:pPr>
            <a:r>
              <a:rPr lang="en-US" sz="1100" b="1" dirty="0">
                <a:solidFill>
                  <a:srgbClr val="1A6B3C"/>
                </a:solidFill>
              </a:rPr>
              <a:t>VĂN BẢN MỚI BAN HÀNH</a:t>
            </a:r>
            <a:endParaRPr lang="en-US" sz="1100" dirty="0"/>
          </a:p>
        </p:txBody>
      </p:sp>
      <p:sp>
        <p:nvSpPr>
          <p:cNvPr id="4" name="Shape 2"/>
          <p:cNvSpPr/>
          <p:nvPr/>
        </p:nvSpPr>
        <p:spPr>
          <a:xfrm>
            <a:off x="411480" y="1170432"/>
            <a:ext cx="4114800" cy="448056"/>
          </a:xfrm>
          <a:prstGeom prst="rect">
            <a:avLst/>
          </a:prstGeom>
          <a:solidFill>
            <a:srgbClr val="D5F5E3"/>
          </a:solidFill>
          <a:ln w="9525">
            <a:solidFill>
              <a:srgbClr val="27AE60"/>
            </a:solidFill>
            <a:prstDash val="solid"/>
          </a:ln>
        </p:spPr>
        <p:txBody>
          <a:bodyPr/>
          <a:lstStyle/>
          <a:p>
            <a:endParaRPr lang="en-US"/>
          </a:p>
        </p:txBody>
      </p:sp>
      <p:sp>
        <p:nvSpPr>
          <p:cNvPr id="5" name="Shape 3"/>
          <p:cNvSpPr/>
          <p:nvPr/>
        </p:nvSpPr>
        <p:spPr>
          <a:xfrm>
            <a:off x="411480" y="1170432"/>
            <a:ext cx="146304" cy="448056"/>
          </a:xfrm>
          <a:prstGeom prst="rect">
            <a:avLst/>
          </a:prstGeom>
          <a:solidFill>
            <a:srgbClr val="1A6B3C"/>
          </a:solidFill>
          <a:ln w="12700">
            <a:solidFill>
              <a:srgbClr val="1A6B3C"/>
            </a:solidFill>
            <a:prstDash val="solid"/>
          </a:ln>
        </p:spPr>
        <p:txBody>
          <a:bodyPr/>
          <a:lstStyle/>
          <a:p>
            <a:endParaRPr lang="en-US"/>
          </a:p>
        </p:txBody>
      </p:sp>
      <p:sp>
        <p:nvSpPr>
          <p:cNvPr id="6" name="Text 4"/>
          <p:cNvSpPr/>
          <p:nvPr/>
        </p:nvSpPr>
        <p:spPr>
          <a:xfrm>
            <a:off x="658368" y="1188720"/>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Luật XD 135/2025/QH15 ✓</a:t>
            </a:r>
            <a:endParaRPr lang="en-US" sz="1050" dirty="0"/>
          </a:p>
        </p:txBody>
      </p:sp>
      <p:sp>
        <p:nvSpPr>
          <p:cNvPr id="7" name="Text 5"/>
          <p:cNvSpPr/>
          <p:nvPr/>
        </p:nvSpPr>
        <p:spPr>
          <a:xfrm>
            <a:off x="658368" y="1417320"/>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Luật 50/2014 + 62/2020   [QT34,35,36,37,16,17,18]</a:t>
            </a:r>
            <a:endParaRPr lang="en-US" sz="900" dirty="0"/>
          </a:p>
        </p:txBody>
      </p:sp>
      <p:sp>
        <p:nvSpPr>
          <p:cNvPr id="8" name="Shape 6"/>
          <p:cNvSpPr/>
          <p:nvPr/>
        </p:nvSpPr>
        <p:spPr>
          <a:xfrm>
            <a:off x="411480" y="1645920"/>
            <a:ext cx="4114800" cy="448056"/>
          </a:xfrm>
          <a:prstGeom prst="rect">
            <a:avLst/>
          </a:prstGeom>
          <a:solidFill>
            <a:srgbClr val="D5F5E3"/>
          </a:solidFill>
          <a:ln w="9525">
            <a:solidFill>
              <a:srgbClr val="27AE60"/>
            </a:solidFill>
            <a:prstDash val="solid"/>
          </a:ln>
        </p:spPr>
        <p:txBody>
          <a:bodyPr/>
          <a:lstStyle/>
          <a:p>
            <a:endParaRPr lang="en-US"/>
          </a:p>
        </p:txBody>
      </p:sp>
      <p:sp>
        <p:nvSpPr>
          <p:cNvPr id="9" name="Shape 7"/>
          <p:cNvSpPr/>
          <p:nvPr/>
        </p:nvSpPr>
        <p:spPr>
          <a:xfrm>
            <a:off x="411480" y="1645920"/>
            <a:ext cx="146304" cy="448056"/>
          </a:xfrm>
          <a:prstGeom prst="rect">
            <a:avLst/>
          </a:prstGeom>
          <a:solidFill>
            <a:srgbClr val="1A6B3C"/>
          </a:solidFill>
          <a:ln w="12700">
            <a:solidFill>
              <a:srgbClr val="1A6B3C"/>
            </a:solidFill>
            <a:prstDash val="solid"/>
          </a:ln>
        </p:spPr>
        <p:txBody>
          <a:bodyPr/>
          <a:lstStyle/>
          <a:p>
            <a:endParaRPr lang="en-US"/>
          </a:p>
        </p:txBody>
      </p:sp>
      <p:sp>
        <p:nvSpPr>
          <p:cNvPr id="10" name="Text 8"/>
          <p:cNvSpPr/>
          <p:nvPr/>
        </p:nvSpPr>
        <p:spPr>
          <a:xfrm>
            <a:off x="658368" y="1664208"/>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QLHĐXD 2026 (dự thảo)</a:t>
            </a:r>
            <a:endParaRPr lang="en-US" sz="1050" dirty="0"/>
          </a:p>
        </p:txBody>
      </p:sp>
      <p:sp>
        <p:nvSpPr>
          <p:cNvPr id="11" name="Text 9"/>
          <p:cNvSpPr/>
          <p:nvPr/>
        </p:nvSpPr>
        <p:spPr>
          <a:xfrm>
            <a:off x="658368" y="1892808"/>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NĐ 15/2021 + NĐ 175/2024 — QLHĐXD   [QT34, 36]</a:t>
            </a:r>
            <a:endParaRPr lang="en-US" sz="900" dirty="0"/>
          </a:p>
        </p:txBody>
      </p:sp>
      <p:sp>
        <p:nvSpPr>
          <p:cNvPr id="12" name="Shape 10"/>
          <p:cNvSpPr/>
          <p:nvPr/>
        </p:nvSpPr>
        <p:spPr>
          <a:xfrm>
            <a:off x="411480" y="2121408"/>
            <a:ext cx="4114800" cy="448056"/>
          </a:xfrm>
          <a:prstGeom prst="rect">
            <a:avLst/>
          </a:prstGeom>
          <a:solidFill>
            <a:srgbClr val="D5F5E3"/>
          </a:solidFill>
          <a:ln w="9525">
            <a:solidFill>
              <a:srgbClr val="27AE60"/>
            </a:solidFill>
            <a:prstDash val="solid"/>
          </a:ln>
        </p:spPr>
        <p:txBody>
          <a:bodyPr/>
          <a:lstStyle/>
          <a:p>
            <a:endParaRPr lang="en-US"/>
          </a:p>
        </p:txBody>
      </p:sp>
      <p:sp>
        <p:nvSpPr>
          <p:cNvPr id="13" name="Shape 11"/>
          <p:cNvSpPr/>
          <p:nvPr/>
        </p:nvSpPr>
        <p:spPr>
          <a:xfrm>
            <a:off x="411480" y="2121408"/>
            <a:ext cx="146304" cy="448056"/>
          </a:xfrm>
          <a:prstGeom prst="rect">
            <a:avLst/>
          </a:prstGeom>
          <a:solidFill>
            <a:srgbClr val="1A6B3C"/>
          </a:solidFill>
          <a:ln w="12700">
            <a:solidFill>
              <a:srgbClr val="1A6B3C"/>
            </a:solidFill>
            <a:prstDash val="solid"/>
          </a:ln>
        </p:spPr>
        <p:txBody>
          <a:bodyPr/>
          <a:lstStyle/>
          <a:p>
            <a:endParaRPr lang="en-US"/>
          </a:p>
        </p:txBody>
      </p:sp>
      <p:sp>
        <p:nvSpPr>
          <p:cNvPr id="14" name="Text 12"/>
          <p:cNvSpPr/>
          <p:nvPr/>
        </p:nvSpPr>
        <p:spPr>
          <a:xfrm>
            <a:off x="658368" y="2139696"/>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207/2026/NĐ-CP ✓</a:t>
            </a:r>
            <a:endParaRPr lang="en-US" sz="1050" dirty="0"/>
          </a:p>
        </p:txBody>
      </p:sp>
      <p:sp>
        <p:nvSpPr>
          <p:cNvPr id="15" name="Text 13"/>
          <p:cNvSpPr/>
          <p:nvPr/>
        </p:nvSpPr>
        <p:spPr>
          <a:xfrm>
            <a:off x="658368" y="2368296"/>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NĐ 06/2021 — Quản lý CL &amp; Bảo trì   [QT36, 16, 37]</a:t>
            </a:r>
            <a:endParaRPr lang="en-US" sz="900" dirty="0"/>
          </a:p>
        </p:txBody>
      </p:sp>
      <p:sp>
        <p:nvSpPr>
          <p:cNvPr id="16" name="Shape 14"/>
          <p:cNvSpPr/>
          <p:nvPr/>
        </p:nvSpPr>
        <p:spPr>
          <a:xfrm>
            <a:off x="411480" y="2596896"/>
            <a:ext cx="4114800" cy="448056"/>
          </a:xfrm>
          <a:prstGeom prst="rect">
            <a:avLst/>
          </a:prstGeom>
          <a:solidFill>
            <a:srgbClr val="D5F5E3"/>
          </a:solidFill>
          <a:ln w="9525">
            <a:solidFill>
              <a:srgbClr val="27AE60"/>
            </a:solidFill>
            <a:prstDash val="solid"/>
          </a:ln>
        </p:spPr>
        <p:txBody>
          <a:bodyPr/>
          <a:lstStyle/>
          <a:p>
            <a:endParaRPr lang="en-US"/>
          </a:p>
        </p:txBody>
      </p:sp>
      <p:sp>
        <p:nvSpPr>
          <p:cNvPr id="17" name="Shape 15"/>
          <p:cNvSpPr/>
          <p:nvPr/>
        </p:nvSpPr>
        <p:spPr>
          <a:xfrm>
            <a:off x="411480" y="2596896"/>
            <a:ext cx="146304" cy="448056"/>
          </a:xfrm>
          <a:prstGeom prst="rect">
            <a:avLst/>
          </a:prstGeom>
          <a:solidFill>
            <a:srgbClr val="1A6B3C"/>
          </a:solidFill>
          <a:ln w="12700">
            <a:solidFill>
              <a:srgbClr val="1A6B3C"/>
            </a:solidFill>
            <a:prstDash val="solid"/>
          </a:ln>
        </p:spPr>
        <p:txBody>
          <a:bodyPr/>
          <a:lstStyle/>
          <a:p>
            <a:endParaRPr lang="en-US"/>
          </a:p>
        </p:txBody>
      </p:sp>
      <p:sp>
        <p:nvSpPr>
          <p:cNvPr id="18" name="Text 16"/>
          <p:cNvSpPr/>
          <p:nvPr/>
        </p:nvSpPr>
        <p:spPr>
          <a:xfrm>
            <a:off x="658368" y="2615184"/>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210/2026/NĐ-CP ✓</a:t>
            </a:r>
            <a:endParaRPr lang="en-US" sz="1050" dirty="0"/>
          </a:p>
        </p:txBody>
      </p:sp>
      <p:sp>
        <p:nvSpPr>
          <p:cNvPr id="19" name="Text 17"/>
          <p:cNvSpPr/>
          <p:nvPr/>
        </p:nvSpPr>
        <p:spPr>
          <a:xfrm>
            <a:off x="658368" y="2843784"/>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NĐ 37/2015, 50/2021 — Hợp đồng XD   [QT35, 17]</a:t>
            </a:r>
            <a:endParaRPr lang="en-US" sz="900" dirty="0"/>
          </a:p>
        </p:txBody>
      </p:sp>
      <p:sp>
        <p:nvSpPr>
          <p:cNvPr id="20" name="Shape 18"/>
          <p:cNvSpPr/>
          <p:nvPr/>
        </p:nvSpPr>
        <p:spPr>
          <a:xfrm>
            <a:off x="411480" y="3072384"/>
            <a:ext cx="4114800" cy="448056"/>
          </a:xfrm>
          <a:prstGeom prst="rect">
            <a:avLst/>
          </a:prstGeom>
          <a:solidFill>
            <a:srgbClr val="D5F5E3"/>
          </a:solidFill>
          <a:ln w="9525">
            <a:solidFill>
              <a:srgbClr val="27AE60"/>
            </a:solidFill>
            <a:prstDash val="solid"/>
          </a:ln>
        </p:spPr>
        <p:txBody>
          <a:bodyPr/>
          <a:lstStyle/>
          <a:p>
            <a:endParaRPr lang="en-US"/>
          </a:p>
        </p:txBody>
      </p:sp>
      <p:sp>
        <p:nvSpPr>
          <p:cNvPr id="21" name="Shape 19"/>
          <p:cNvSpPr/>
          <p:nvPr/>
        </p:nvSpPr>
        <p:spPr>
          <a:xfrm>
            <a:off x="411480" y="3072384"/>
            <a:ext cx="146304" cy="448056"/>
          </a:xfrm>
          <a:prstGeom prst="rect">
            <a:avLst/>
          </a:prstGeom>
          <a:solidFill>
            <a:srgbClr val="1A6B3C"/>
          </a:solidFill>
          <a:ln w="12700">
            <a:solidFill>
              <a:srgbClr val="1A6B3C"/>
            </a:solidFill>
            <a:prstDash val="solid"/>
          </a:ln>
        </p:spPr>
        <p:txBody>
          <a:bodyPr/>
          <a:lstStyle/>
          <a:p>
            <a:endParaRPr lang="en-US"/>
          </a:p>
        </p:txBody>
      </p:sp>
      <p:sp>
        <p:nvSpPr>
          <p:cNvPr id="22" name="Text 20"/>
          <p:cNvSpPr/>
          <p:nvPr/>
        </p:nvSpPr>
        <p:spPr>
          <a:xfrm>
            <a:off x="658368" y="3090672"/>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206/2026/NĐ-CP ✓</a:t>
            </a:r>
            <a:endParaRPr lang="en-US" sz="1050" dirty="0"/>
          </a:p>
        </p:txBody>
      </p:sp>
      <p:sp>
        <p:nvSpPr>
          <p:cNvPr id="23" name="Text 21"/>
          <p:cNvSpPr/>
          <p:nvPr/>
        </p:nvSpPr>
        <p:spPr>
          <a:xfrm>
            <a:off x="658368" y="3319272"/>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NĐ 10/2021 — Quản lý chi phí ĐTXD   [QT34, 36, 37]</a:t>
            </a:r>
            <a:endParaRPr lang="en-US" sz="900" dirty="0"/>
          </a:p>
        </p:txBody>
      </p:sp>
      <p:sp>
        <p:nvSpPr>
          <p:cNvPr id="24" name="Shape 22"/>
          <p:cNvSpPr/>
          <p:nvPr/>
        </p:nvSpPr>
        <p:spPr>
          <a:xfrm>
            <a:off x="411480" y="3547872"/>
            <a:ext cx="4114800" cy="448056"/>
          </a:xfrm>
          <a:prstGeom prst="rect">
            <a:avLst/>
          </a:prstGeom>
          <a:solidFill>
            <a:srgbClr val="D5F5E3"/>
          </a:solidFill>
          <a:ln w="9525">
            <a:solidFill>
              <a:srgbClr val="27AE60"/>
            </a:solidFill>
            <a:prstDash val="solid"/>
          </a:ln>
        </p:spPr>
        <p:txBody>
          <a:bodyPr/>
          <a:lstStyle/>
          <a:p>
            <a:endParaRPr lang="en-US"/>
          </a:p>
        </p:txBody>
      </p:sp>
      <p:sp>
        <p:nvSpPr>
          <p:cNvPr id="25" name="Shape 23"/>
          <p:cNvSpPr/>
          <p:nvPr/>
        </p:nvSpPr>
        <p:spPr>
          <a:xfrm>
            <a:off x="411480" y="3547872"/>
            <a:ext cx="146304" cy="448056"/>
          </a:xfrm>
          <a:prstGeom prst="rect">
            <a:avLst/>
          </a:prstGeom>
          <a:solidFill>
            <a:srgbClr val="1A6B3C"/>
          </a:solidFill>
          <a:ln w="12700">
            <a:solidFill>
              <a:srgbClr val="1A6B3C"/>
            </a:solidFill>
            <a:prstDash val="solid"/>
          </a:ln>
        </p:spPr>
        <p:txBody>
          <a:bodyPr/>
          <a:lstStyle/>
          <a:p>
            <a:endParaRPr lang="en-US"/>
          </a:p>
        </p:txBody>
      </p:sp>
      <p:sp>
        <p:nvSpPr>
          <p:cNvPr id="26" name="Text 24"/>
          <p:cNvSpPr/>
          <p:nvPr/>
        </p:nvSpPr>
        <p:spPr>
          <a:xfrm>
            <a:off x="658368" y="3566160"/>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193/2026/NĐ-CP ✓</a:t>
            </a:r>
            <a:endParaRPr lang="en-US" sz="1050" dirty="0"/>
          </a:p>
        </p:txBody>
      </p:sp>
      <p:sp>
        <p:nvSpPr>
          <p:cNvPr id="27" name="Text 25"/>
          <p:cNvSpPr/>
          <p:nvPr/>
        </p:nvSpPr>
        <p:spPr>
          <a:xfrm>
            <a:off x="658368" y="3794760"/>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Thay NĐ 99/2021 — Quyết toán vốn ĐT   [QT17, 18]</a:t>
            </a:r>
            <a:endParaRPr lang="en-US" sz="900" dirty="0"/>
          </a:p>
        </p:txBody>
      </p:sp>
      <p:sp>
        <p:nvSpPr>
          <p:cNvPr id="28" name="Shape 26"/>
          <p:cNvSpPr/>
          <p:nvPr/>
        </p:nvSpPr>
        <p:spPr>
          <a:xfrm>
            <a:off x="411480" y="4023360"/>
            <a:ext cx="4114800" cy="448056"/>
          </a:xfrm>
          <a:prstGeom prst="rect">
            <a:avLst/>
          </a:prstGeom>
          <a:solidFill>
            <a:srgbClr val="D5F5E3"/>
          </a:solidFill>
          <a:ln w="9525">
            <a:solidFill>
              <a:srgbClr val="27AE60"/>
            </a:solidFill>
            <a:prstDash val="solid"/>
          </a:ln>
        </p:spPr>
        <p:txBody>
          <a:bodyPr/>
          <a:lstStyle/>
          <a:p>
            <a:endParaRPr lang="en-US"/>
          </a:p>
        </p:txBody>
      </p:sp>
      <p:sp>
        <p:nvSpPr>
          <p:cNvPr id="29" name="Shape 27"/>
          <p:cNvSpPr/>
          <p:nvPr/>
        </p:nvSpPr>
        <p:spPr>
          <a:xfrm>
            <a:off x="411480" y="4023360"/>
            <a:ext cx="146304" cy="448056"/>
          </a:xfrm>
          <a:prstGeom prst="rect">
            <a:avLst/>
          </a:prstGeom>
          <a:solidFill>
            <a:srgbClr val="1A6B3C"/>
          </a:solidFill>
          <a:ln w="12700">
            <a:solidFill>
              <a:srgbClr val="1A6B3C"/>
            </a:solidFill>
            <a:prstDash val="solid"/>
          </a:ln>
        </p:spPr>
        <p:txBody>
          <a:bodyPr/>
          <a:lstStyle/>
          <a:p>
            <a:endParaRPr lang="en-US"/>
          </a:p>
        </p:txBody>
      </p:sp>
      <p:sp>
        <p:nvSpPr>
          <p:cNvPr id="30" name="Text 28"/>
          <p:cNvSpPr/>
          <p:nvPr/>
        </p:nvSpPr>
        <p:spPr>
          <a:xfrm>
            <a:off x="658368" y="4041648"/>
            <a:ext cx="3749040" cy="237744"/>
          </a:xfrm>
          <a:prstGeom prst="rect">
            <a:avLst/>
          </a:prstGeom>
          <a:noFill/>
          <a:ln/>
        </p:spPr>
        <p:txBody>
          <a:bodyPr wrap="square" lIns="0" tIns="0" rIns="0" bIns="0" rtlCol="0" anchor="ctr"/>
          <a:lstStyle/>
          <a:p>
            <a:pPr marL="0" indent="0" algn="l">
              <a:buNone/>
            </a:pPr>
            <a:r>
              <a:rPr lang="en-US" sz="1050" b="1" dirty="0">
                <a:solidFill>
                  <a:srgbClr val="1A6B3C"/>
                </a:solidFill>
              </a:rPr>
              <a:t>NĐ 209/2026/NĐ-CP ✓</a:t>
            </a:r>
            <a:endParaRPr lang="en-US" sz="1050" dirty="0"/>
          </a:p>
        </p:txBody>
      </p:sp>
      <p:sp>
        <p:nvSpPr>
          <p:cNvPr id="31" name="Text 29"/>
          <p:cNvSpPr/>
          <p:nvPr/>
        </p:nvSpPr>
        <p:spPr>
          <a:xfrm>
            <a:off x="658368" y="4270248"/>
            <a:ext cx="3749040" cy="182880"/>
          </a:xfrm>
          <a:prstGeom prst="rect">
            <a:avLst/>
          </a:prstGeom>
          <a:noFill/>
          <a:ln/>
        </p:spPr>
        <p:txBody>
          <a:bodyPr wrap="square" lIns="0" tIns="0" rIns="0" bIns="0" rtlCol="0" anchor="ctr"/>
          <a:lstStyle/>
          <a:p>
            <a:pPr marL="0" indent="0" algn="l">
              <a:buNone/>
            </a:pPr>
            <a:r>
              <a:rPr lang="en-US" sz="900" dirty="0">
                <a:solidFill>
                  <a:srgbClr val="4A6280"/>
                </a:solidFill>
              </a:rPr>
              <a:t>Quản lý vật liệu xây dựng   [QT36, 16]</a:t>
            </a:r>
            <a:endParaRPr lang="en-US" sz="900" dirty="0"/>
          </a:p>
        </p:txBody>
      </p:sp>
      <p:sp>
        <p:nvSpPr>
          <p:cNvPr id="32" name="Shape 30"/>
          <p:cNvSpPr/>
          <p:nvPr/>
        </p:nvSpPr>
        <p:spPr>
          <a:xfrm>
            <a:off x="4663440" y="777240"/>
            <a:ext cx="0" cy="4160520"/>
          </a:xfrm>
          <a:prstGeom prst="line">
            <a:avLst/>
          </a:prstGeom>
          <a:noFill/>
          <a:ln w="12700">
            <a:solidFill>
              <a:srgbClr val="D0DCE8"/>
            </a:solidFill>
            <a:prstDash val="solid"/>
          </a:ln>
        </p:spPr>
        <p:txBody>
          <a:bodyPr/>
          <a:lstStyle/>
          <a:p>
            <a:endParaRPr lang="en-US"/>
          </a:p>
        </p:txBody>
      </p:sp>
      <p:sp>
        <p:nvSpPr>
          <p:cNvPr id="33" name="Text 31"/>
          <p:cNvSpPr/>
          <p:nvPr/>
        </p:nvSpPr>
        <p:spPr>
          <a:xfrm>
            <a:off x="4800600" y="804672"/>
            <a:ext cx="3931920" cy="292608"/>
          </a:xfrm>
          <a:prstGeom prst="rect">
            <a:avLst/>
          </a:prstGeom>
          <a:noFill/>
          <a:ln/>
        </p:spPr>
        <p:txBody>
          <a:bodyPr wrap="square" lIns="0" tIns="0" rIns="0" bIns="0" rtlCol="0" anchor="ctr"/>
          <a:lstStyle/>
          <a:p>
            <a:pPr marL="0" indent="0" algn="l">
              <a:buNone/>
            </a:pPr>
            <a:r>
              <a:rPr lang="en-US" sz="1100" b="1" dirty="0">
                <a:solidFill>
                  <a:srgbClr val="C0392B"/>
                </a:solidFill>
              </a:rPr>
              <a:t>VĂN BẢN TRONG QT HIỆN HÀNH ĐÃ LỖI THỜI</a:t>
            </a:r>
            <a:endParaRPr lang="en-US" sz="1100" dirty="0"/>
          </a:p>
        </p:txBody>
      </p:sp>
      <p:sp>
        <p:nvSpPr>
          <p:cNvPr id="34" name="Shape 32"/>
          <p:cNvSpPr/>
          <p:nvPr/>
        </p:nvSpPr>
        <p:spPr>
          <a:xfrm>
            <a:off x="4800600" y="1170432"/>
            <a:ext cx="3931920" cy="429768"/>
          </a:xfrm>
          <a:prstGeom prst="rect">
            <a:avLst/>
          </a:prstGeom>
          <a:solidFill>
            <a:srgbClr val="FDECEA"/>
          </a:solidFill>
          <a:ln w="9525">
            <a:solidFill>
              <a:srgbClr val="C0392B"/>
            </a:solidFill>
            <a:prstDash val="solid"/>
          </a:ln>
        </p:spPr>
        <p:txBody>
          <a:bodyPr/>
          <a:lstStyle/>
          <a:p>
            <a:endParaRPr lang="en-US"/>
          </a:p>
        </p:txBody>
      </p:sp>
      <p:sp>
        <p:nvSpPr>
          <p:cNvPr id="35" name="Shape 33"/>
          <p:cNvSpPr/>
          <p:nvPr/>
        </p:nvSpPr>
        <p:spPr>
          <a:xfrm>
            <a:off x="4800600" y="1170432"/>
            <a:ext cx="146304" cy="429768"/>
          </a:xfrm>
          <a:prstGeom prst="rect">
            <a:avLst/>
          </a:prstGeom>
          <a:solidFill>
            <a:srgbClr val="C0392B"/>
          </a:solidFill>
          <a:ln w="12700">
            <a:solidFill>
              <a:srgbClr val="C0392B"/>
            </a:solidFill>
            <a:prstDash val="solid"/>
          </a:ln>
        </p:spPr>
        <p:txBody>
          <a:bodyPr/>
          <a:lstStyle/>
          <a:p>
            <a:endParaRPr lang="en-US"/>
          </a:p>
        </p:txBody>
      </p:sp>
      <p:sp>
        <p:nvSpPr>
          <p:cNvPr id="36" name="Text 34"/>
          <p:cNvSpPr/>
          <p:nvPr/>
        </p:nvSpPr>
        <p:spPr>
          <a:xfrm>
            <a:off x="5047488" y="117957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Luật XD 50/2014 + 62/2020</a:t>
            </a:r>
            <a:endParaRPr lang="en-US" sz="1050" dirty="0"/>
          </a:p>
        </p:txBody>
      </p:sp>
      <p:sp>
        <p:nvSpPr>
          <p:cNvPr id="37" name="Text 35"/>
          <p:cNvSpPr/>
          <p:nvPr/>
        </p:nvSpPr>
        <p:spPr>
          <a:xfrm>
            <a:off x="5047488" y="138988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01/07/2026   [7 QT]</a:t>
            </a:r>
            <a:endParaRPr lang="en-US" sz="900" dirty="0"/>
          </a:p>
        </p:txBody>
      </p:sp>
      <p:sp>
        <p:nvSpPr>
          <p:cNvPr id="38" name="Shape 36"/>
          <p:cNvSpPr/>
          <p:nvPr/>
        </p:nvSpPr>
        <p:spPr>
          <a:xfrm>
            <a:off x="4800600" y="1673352"/>
            <a:ext cx="3931920" cy="429768"/>
          </a:xfrm>
          <a:prstGeom prst="rect">
            <a:avLst/>
          </a:prstGeom>
          <a:solidFill>
            <a:srgbClr val="FDECEA"/>
          </a:solidFill>
          <a:ln w="9525">
            <a:solidFill>
              <a:srgbClr val="C0392B"/>
            </a:solidFill>
            <a:prstDash val="solid"/>
          </a:ln>
        </p:spPr>
        <p:txBody>
          <a:bodyPr/>
          <a:lstStyle/>
          <a:p>
            <a:endParaRPr lang="en-US"/>
          </a:p>
        </p:txBody>
      </p:sp>
      <p:sp>
        <p:nvSpPr>
          <p:cNvPr id="39" name="Shape 37"/>
          <p:cNvSpPr/>
          <p:nvPr/>
        </p:nvSpPr>
        <p:spPr>
          <a:xfrm>
            <a:off x="4800600" y="1673352"/>
            <a:ext cx="146304" cy="429768"/>
          </a:xfrm>
          <a:prstGeom prst="rect">
            <a:avLst/>
          </a:prstGeom>
          <a:solidFill>
            <a:srgbClr val="C0392B"/>
          </a:solidFill>
          <a:ln w="12700">
            <a:solidFill>
              <a:srgbClr val="C0392B"/>
            </a:solidFill>
            <a:prstDash val="solid"/>
          </a:ln>
        </p:spPr>
        <p:txBody>
          <a:bodyPr/>
          <a:lstStyle/>
          <a:p>
            <a:endParaRPr lang="en-US"/>
          </a:p>
        </p:txBody>
      </p:sp>
      <p:sp>
        <p:nvSpPr>
          <p:cNvPr id="40" name="Text 38"/>
          <p:cNvSpPr/>
          <p:nvPr/>
        </p:nvSpPr>
        <p:spPr>
          <a:xfrm>
            <a:off x="5047488" y="168249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NĐ 15/2021 + NĐ 175/2024 (QLHĐXD)</a:t>
            </a:r>
            <a:endParaRPr lang="en-US" sz="1050" dirty="0"/>
          </a:p>
        </p:txBody>
      </p:sp>
      <p:sp>
        <p:nvSpPr>
          <p:cNvPr id="41" name="Text 39"/>
          <p:cNvSpPr/>
          <p:nvPr/>
        </p:nvSpPr>
        <p:spPr>
          <a:xfrm>
            <a:off x="5047488" y="189280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khi NĐ mới ban hành   [4 QT]</a:t>
            </a:r>
            <a:endParaRPr lang="en-US" sz="900" dirty="0"/>
          </a:p>
        </p:txBody>
      </p:sp>
      <p:sp>
        <p:nvSpPr>
          <p:cNvPr id="42" name="Shape 40"/>
          <p:cNvSpPr/>
          <p:nvPr/>
        </p:nvSpPr>
        <p:spPr>
          <a:xfrm>
            <a:off x="4800600" y="2176272"/>
            <a:ext cx="3931920" cy="429768"/>
          </a:xfrm>
          <a:prstGeom prst="rect">
            <a:avLst/>
          </a:prstGeom>
          <a:solidFill>
            <a:srgbClr val="FDECEA"/>
          </a:solidFill>
          <a:ln w="9525">
            <a:solidFill>
              <a:srgbClr val="C0392B"/>
            </a:solidFill>
            <a:prstDash val="solid"/>
          </a:ln>
        </p:spPr>
        <p:txBody>
          <a:bodyPr/>
          <a:lstStyle/>
          <a:p>
            <a:endParaRPr lang="en-US"/>
          </a:p>
        </p:txBody>
      </p:sp>
      <p:sp>
        <p:nvSpPr>
          <p:cNvPr id="43" name="Shape 41"/>
          <p:cNvSpPr/>
          <p:nvPr/>
        </p:nvSpPr>
        <p:spPr>
          <a:xfrm>
            <a:off x="4800600" y="2176272"/>
            <a:ext cx="146304" cy="429768"/>
          </a:xfrm>
          <a:prstGeom prst="rect">
            <a:avLst/>
          </a:prstGeom>
          <a:solidFill>
            <a:srgbClr val="C0392B"/>
          </a:solidFill>
          <a:ln w="12700">
            <a:solidFill>
              <a:srgbClr val="C0392B"/>
            </a:solidFill>
            <a:prstDash val="solid"/>
          </a:ln>
        </p:spPr>
        <p:txBody>
          <a:bodyPr/>
          <a:lstStyle/>
          <a:p>
            <a:endParaRPr lang="en-US"/>
          </a:p>
        </p:txBody>
      </p:sp>
      <p:sp>
        <p:nvSpPr>
          <p:cNvPr id="44" name="Text 42"/>
          <p:cNvSpPr/>
          <p:nvPr/>
        </p:nvSpPr>
        <p:spPr>
          <a:xfrm>
            <a:off x="5047488" y="218541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NĐ 99/2021 (TQT vốn ĐTC)</a:t>
            </a:r>
            <a:endParaRPr lang="en-US" sz="1050" dirty="0"/>
          </a:p>
        </p:txBody>
      </p:sp>
      <p:sp>
        <p:nvSpPr>
          <p:cNvPr id="45" name="Text 43"/>
          <p:cNvSpPr/>
          <p:nvPr/>
        </p:nvSpPr>
        <p:spPr>
          <a:xfrm>
            <a:off x="5047488" y="239572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từ 26/09/2025   [2 QT]</a:t>
            </a:r>
            <a:endParaRPr lang="en-US" sz="900" dirty="0"/>
          </a:p>
        </p:txBody>
      </p:sp>
      <p:sp>
        <p:nvSpPr>
          <p:cNvPr id="46" name="Shape 44"/>
          <p:cNvSpPr/>
          <p:nvPr/>
        </p:nvSpPr>
        <p:spPr>
          <a:xfrm>
            <a:off x="4800600" y="2679192"/>
            <a:ext cx="3931920" cy="429768"/>
          </a:xfrm>
          <a:prstGeom prst="rect">
            <a:avLst/>
          </a:prstGeom>
          <a:solidFill>
            <a:srgbClr val="FDECEA"/>
          </a:solidFill>
          <a:ln w="9525">
            <a:solidFill>
              <a:srgbClr val="C0392B"/>
            </a:solidFill>
            <a:prstDash val="solid"/>
          </a:ln>
        </p:spPr>
        <p:txBody>
          <a:bodyPr/>
          <a:lstStyle/>
          <a:p>
            <a:endParaRPr lang="en-US"/>
          </a:p>
        </p:txBody>
      </p:sp>
      <p:sp>
        <p:nvSpPr>
          <p:cNvPr id="47" name="Shape 45"/>
          <p:cNvSpPr/>
          <p:nvPr/>
        </p:nvSpPr>
        <p:spPr>
          <a:xfrm>
            <a:off x="4800600" y="2679192"/>
            <a:ext cx="146304" cy="429768"/>
          </a:xfrm>
          <a:prstGeom prst="rect">
            <a:avLst/>
          </a:prstGeom>
          <a:solidFill>
            <a:srgbClr val="C0392B"/>
          </a:solidFill>
          <a:ln w="12700">
            <a:solidFill>
              <a:srgbClr val="C0392B"/>
            </a:solidFill>
            <a:prstDash val="solid"/>
          </a:ln>
        </p:spPr>
        <p:txBody>
          <a:bodyPr/>
          <a:lstStyle/>
          <a:p>
            <a:endParaRPr lang="en-US"/>
          </a:p>
        </p:txBody>
      </p:sp>
      <p:sp>
        <p:nvSpPr>
          <p:cNvPr id="48" name="Text 46"/>
          <p:cNvSpPr/>
          <p:nvPr/>
        </p:nvSpPr>
        <p:spPr>
          <a:xfrm>
            <a:off x="5047488" y="268833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NĐ 59/2015 (QLDA cũ)</a:t>
            </a:r>
            <a:endParaRPr lang="en-US" sz="1050" dirty="0"/>
          </a:p>
        </p:txBody>
      </p:sp>
      <p:sp>
        <p:nvSpPr>
          <p:cNvPr id="49" name="Text 47"/>
          <p:cNvSpPr/>
          <p:nvPr/>
        </p:nvSpPr>
        <p:spPr>
          <a:xfrm>
            <a:off x="5047488" y="289864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từ lâu   [QT18]</a:t>
            </a:r>
            <a:endParaRPr lang="en-US" sz="900" dirty="0"/>
          </a:p>
        </p:txBody>
      </p:sp>
      <p:sp>
        <p:nvSpPr>
          <p:cNvPr id="50" name="Shape 48"/>
          <p:cNvSpPr/>
          <p:nvPr/>
        </p:nvSpPr>
        <p:spPr>
          <a:xfrm>
            <a:off x="4800600" y="3182112"/>
            <a:ext cx="3931920" cy="429768"/>
          </a:xfrm>
          <a:prstGeom prst="rect">
            <a:avLst/>
          </a:prstGeom>
          <a:solidFill>
            <a:srgbClr val="FDECEA"/>
          </a:solidFill>
          <a:ln w="9525">
            <a:solidFill>
              <a:srgbClr val="C0392B"/>
            </a:solidFill>
            <a:prstDash val="solid"/>
          </a:ln>
        </p:spPr>
        <p:txBody>
          <a:bodyPr/>
          <a:lstStyle/>
          <a:p>
            <a:endParaRPr lang="en-US"/>
          </a:p>
        </p:txBody>
      </p:sp>
      <p:sp>
        <p:nvSpPr>
          <p:cNvPr id="51" name="Shape 49"/>
          <p:cNvSpPr/>
          <p:nvPr/>
        </p:nvSpPr>
        <p:spPr>
          <a:xfrm>
            <a:off x="4800600" y="3182112"/>
            <a:ext cx="146304" cy="429768"/>
          </a:xfrm>
          <a:prstGeom prst="rect">
            <a:avLst/>
          </a:prstGeom>
          <a:solidFill>
            <a:srgbClr val="C0392B"/>
          </a:solidFill>
          <a:ln w="12700">
            <a:solidFill>
              <a:srgbClr val="C0392B"/>
            </a:solidFill>
            <a:prstDash val="solid"/>
          </a:ln>
        </p:spPr>
        <p:txBody>
          <a:bodyPr/>
          <a:lstStyle/>
          <a:p>
            <a:endParaRPr lang="en-US"/>
          </a:p>
        </p:txBody>
      </p:sp>
      <p:sp>
        <p:nvSpPr>
          <p:cNvPr id="52" name="Text 50"/>
          <p:cNvSpPr/>
          <p:nvPr/>
        </p:nvSpPr>
        <p:spPr>
          <a:xfrm>
            <a:off x="5047488" y="319125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TT 10/2020/TT-BTC (QT vốn)</a:t>
            </a:r>
            <a:endParaRPr lang="en-US" sz="1050" dirty="0"/>
          </a:p>
        </p:txBody>
      </p:sp>
      <p:sp>
        <p:nvSpPr>
          <p:cNvPr id="53" name="Text 51"/>
          <p:cNvSpPr/>
          <p:nvPr/>
        </p:nvSpPr>
        <p:spPr>
          <a:xfrm>
            <a:off x="5047488" y="340156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từ 01/01/2022   [QT18]</a:t>
            </a:r>
            <a:endParaRPr lang="en-US" sz="900" dirty="0"/>
          </a:p>
        </p:txBody>
      </p:sp>
      <p:sp>
        <p:nvSpPr>
          <p:cNvPr id="54" name="Shape 52"/>
          <p:cNvSpPr/>
          <p:nvPr/>
        </p:nvSpPr>
        <p:spPr>
          <a:xfrm>
            <a:off x="4800600" y="3685032"/>
            <a:ext cx="3931920" cy="429768"/>
          </a:xfrm>
          <a:prstGeom prst="rect">
            <a:avLst/>
          </a:prstGeom>
          <a:solidFill>
            <a:srgbClr val="FDECEA"/>
          </a:solidFill>
          <a:ln w="9525">
            <a:solidFill>
              <a:srgbClr val="C0392B"/>
            </a:solidFill>
            <a:prstDash val="solid"/>
          </a:ln>
        </p:spPr>
        <p:txBody>
          <a:bodyPr/>
          <a:lstStyle/>
          <a:p>
            <a:endParaRPr lang="en-US"/>
          </a:p>
        </p:txBody>
      </p:sp>
      <p:sp>
        <p:nvSpPr>
          <p:cNvPr id="55" name="Shape 53"/>
          <p:cNvSpPr/>
          <p:nvPr/>
        </p:nvSpPr>
        <p:spPr>
          <a:xfrm>
            <a:off x="4800600" y="3685032"/>
            <a:ext cx="146304" cy="429768"/>
          </a:xfrm>
          <a:prstGeom prst="rect">
            <a:avLst/>
          </a:prstGeom>
          <a:solidFill>
            <a:srgbClr val="C0392B"/>
          </a:solidFill>
          <a:ln w="12700">
            <a:solidFill>
              <a:srgbClr val="C0392B"/>
            </a:solidFill>
            <a:prstDash val="solid"/>
          </a:ln>
        </p:spPr>
        <p:txBody>
          <a:bodyPr/>
          <a:lstStyle/>
          <a:p>
            <a:endParaRPr lang="en-US"/>
          </a:p>
        </p:txBody>
      </p:sp>
      <p:sp>
        <p:nvSpPr>
          <p:cNvPr id="56" name="Text 54"/>
          <p:cNvSpPr/>
          <p:nvPr/>
        </p:nvSpPr>
        <p:spPr>
          <a:xfrm>
            <a:off x="5047488" y="369417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TT 96/2021/TT-BTC (mẫu biểu)</a:t>
            </a:r>
            <a:endParaRPr lang="en-US" sz="1050" dirty="0"/>
          </a:p>
        </p:txBody>
      </p:sp>
      <p:sp>
        <p:nvSpPr>
          <p:cNvPr id="57" name="Text 55"/>
          <p:cNvSpPr/>
          <p:nvPr/>
        </p:nvSpPr>
        <p:spPr>
          <a:xfrm>
            <a:off x="5047488" y="390448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từ 26/09/2025   [QT18]</a:t>
            </a:r>
            <a:endParaRPr lang="en-US" sz="900" dirty="0"/>
          </a:p>
        </p:txBody>
      </p:sp>
      <p:sp>
        <p:nvSpPr>
          <p:cNvPr id="58" name="Shape 56"/>
          <p:cNvSpPr/>
          <p:nvPr/>
        </p:nvSpPr>
        <p:spPr>
          <a:xfrm>
            <a:off x="4800600" y="4187952"/>
            <a:ext cx="3931920" cy="429768"/>
          </a:xfrm>
          <a:prstGeom prst="rect">
            <a:avLst/>
          </a:prstGeom>
          <a:solidFill>
            <a:srgbClr val="FDECEA"/>
          </a:solidFill>
          <a:ln w="9525">
            <a:solidFill>
              <a:srgbClr val="C0392B"/>
            </a:solidFill>
            <a:prstDash val="solid"/>
          </a:ln>
        </p:spPr>
        <p:txBody>
          <a:bodyPr/>
          <a:lstStyle/>
          <a:p>
            <a:endParaRPr lang="en-US"/>
          </a:p>
        </p:txBody>
      </p:sp>
      <p:sp>
        <p:nvSpPr>
          <p:cNvPr id="59" name="Shape 57"/>
          <p:cNvSpPr/>
          <p:nvPr/>
        </p:nvSpPr>
        <p:spPr>
          <a:xfrm>
            <a:off x="4800600" y="4187952"/>
            <a:ext cx="146304" cy="429768"/>
          </a:xfrm>
          <a:prstGeom prst="rect">
            <a:avLst/>
          </a:prstGeom>
          <a:solidFill>
            <a:srgbClr val="C0392B"/>
          </a:solidFill>
          <a:ln w="12700">
            <a:solidFill>
              <a:srgbClr val="C0392B"/>
            </a:solidFill>
            <a:prstDash val="solid"/>
          </a:ln>
        </p:spPr>
        <p:txBody>
          <a:bodyPr/>
          <a:lstStyle/>
          <a:p>
            <a:endParaRPr lang="en-US"/>
          </a:p>
        </p:txBody>
      </p:sp>
      <p:sp>
        <p:nvSpPr>
          <p:cNvPr id="60" name="Text 58"/>
          <p:cNvSpPr/>
          <p:nvPr/>
        </p:nvSpPr>
        <p:spPr>
          <a:xfrm>
            <a:off x="5047488" y="4197096"/>
            <a:ext cx="3566160" cy="237744"/>
          </a:xfrm>
          <a:prstGeom prst="rect">
            <a:avLst/>
          </a:prstGeom>
          <a:noFill/>
          <a:ln/>
        </p:spPr>
        <p:txBody>
          <a:bodyPr wrap="square" lIns="0" tIns="0" rIns="0" bIns="0" rtlCol="0" anchor="ctr"/>
          <a:lstStyle/>
          <a:p>
            <a:pPr marL="0" indent="0" algn="l">
              <a:buNone/>
            </a:pPr>
            <a:r>
              <a:rPr lang="en-US" sz="1050" b="1" dirty="0">
                <a:solidFill>
                  <a:srgbClr val="C0392B"/>
                </a:solidFill>
              </a:rPr>
              <a:t>TT 02/2019/TT-BNV (lưu trữ)</a:t>
            </a:r>
            <a:endParaRPr lang="en-US" sz="1050" dirty="0"/>
          </a:p>
        </p:txBody>
      </p:sp>
      <p:sp>
        <p:nvSpPr>
          <p:cNvPr id="61" name="Text 59"/>
          <p:cNvSpPr/>
          <p:nvPr/>
        </p:nvSpPr>
        <p:spPr>
          <a:xfrm>
            <a:off x="5047488" y="4407408"/>
            <a:ext cx="3566160" cy="182880"/>
          </a:xfrm>
          <a:prstGeom prst="rect">
            <a:avLst/>
          </a:prstGeom>
          <a:noFill/>
          <a:ln/>
        </p:spPr>
        <p:txBody>
          <a:bodyPr wrap="square" lIns="0" tIns="0" rIns="0" bIns="0" rtlCol="0" anchor="ctr"/>
          <a:lstStyle/>
          <a:p>
            <a:pPr marL="0" indent="0" algn="l">
              <a:buNone/>
            </a:pPr>
            <a:r>
              <a:rPr lang="en-US" sz="900" dirty="0">
                <a:solidFill>
                  <a:srgbClr val="4A6280"/>
                </a:solidFill>
              </a:rPr>
              <a:t>Hết hiệu lực từ 01/07/2025   [QT161]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Phạm vi gói thầu — 12 quy trình QLDA</a:t>
            </a:r>
            <a:endParaRPr lang="en-US" sz="2200" dirty="0"/>
          </a:p>
        </p:txBody>
      </p:sp>
      <p:sp>
        <p:nvSpPr>
          <p:cNvPr id="3" name="Shape 1"/>
          <p:cNvSpPr/>
          <p:nvPr/>
        </p:nvSpPr>
        <p:spPr>
          <a:xfrm>
            <a:off x="411480" y="777240"/>
            <a:ext cx="4023360" cy="36576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502920" y="777240"/>
            <a:ext cx="3931920" cy="365760"/>
          </a:xfrm>
          <a:prstGeom prst="rect">
            <a:avLst/>
          </a:prstGeom>
          <a:noFill/>
          <a:ln/>
        </p:spPr>
        <p:txBody>
          <a:bodyPr wrap="square" lIns="0" tIns="0" rIns="0" bIns="0" rtlCol="0" anchor="ctr"/>
          <a:lstStyle/>
          <a:p>
            <a:pPr marL="0" indent="0" algn="l">
              <a:buNone/>
            </a:pPr>
            <a:r>
              <a:rPr lang="en-US" sz="1200" b="1" dirty="0">
                <a:solidFill>
                  <a:srgbClr val="FFFFFF"/>
                </a:solidFill>
              </a:rPr>
              <a:t>CẬP NHẬT (8 quy trình hiện có)</a:t>
            </a:r>
            <a:endParaRPr lang="en-US" sz="1200" dirty="0"/>
          </a:p>
        </p:txBody>
      </p:sp>
      <p:sp>
        <p:nvSpPr>
          <p:cNvPr id="5" name="Shape 3"/>
          <p:cNvSpPr/>
          <p:nvPr/>
        </p:nvSpPr>
        <p:spPr>
          <a:xfrm>
            <a:off x="411480" y="1234440"/>
            <a:ext cx="4023360" cy="384048"/>
          </a:xfrm>
          <a:prstGeom prst="rect">
            <a:avLst/>
          </a:prstGeom>
          <a:solidFill>
            <a:srgbClr val="F4F7FB"/>
          </a:solidFill>
          <a:ln w="12700">
            <a:solidFill>
              <a:srgbClr val="D0DCE8"/>
            </a:solidFill>
            <a:prstDash val="solid"/>
          </a:ln>
        </p:spPr>
        <p:txBody>
          <a:bodyPr/>
          <a:lstStyle/>
          <a:p>
            <a:endParaRPr lang="en-US"/>
          </a:p>
        </p:txBody>
      </p:sp>
      <p:sp>
        <p:nvSpPr>
          <p:cNvPr id="6" name="Shape 4"/>
          <p:cNvSpPr/>
          <p:nvPr/>
        </p:nvSpPr>
        <p:spPr>
          <a:xfrm>
            <a:off x="411480" y="1234440"/>
            <a:ext cx="685800" cy="384048"/>
          </a:xfrm>
          <a:prstGeom prst="rect">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411480" y="12344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34</a:t>
            </a:r>
            <a:endParaRPr lang="en-US" sz="900" dirty="0"/>
          </a:p>
        </p:txBody>
      </p:sp>
      <p:sp>
        <p:nvSpPr>
          <p:cNvPr id="8" name="Text 6"/>
          <p:cNvSpPr/>
          <p:nvPr/>
        </p:nvSpPr>
        <p:spPr>
          <a:xfrm>
            <a:off x="1161288" y="12435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Quản lý dự án tổng thể</a:t>
            </a:r>
            <a:endParaRPr lang="en-US" sz="1050" dirty="0"/>
          </a:p>
        </p:txBody>
      </p:sp>
      <p:sp>
        <p:nvSpPr>
          <p:cNvPr id="9" name="Text 7"/>
          <p:cNvSpPr/>
          <p:nvPr/>
        </p:nvSpPr>
        <p:spPr>
          <a:xfrm>
            <a:off x="1161288" y="14356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Phân cấp thẩm quyền, trình tự đầu tư</a:t>
            </a:r>
            <a:endParaRPr lang="en-US" sz="900" dirty="0"/>
          </a:p>
        </p:txBody>
      </p:sp>
      <p:sp>
        <p:nvSpPr>
          <p:cNvPr id="10" name="Shape 8"/>
          <p:cNvSpPr/>
          <p:nvPr/>
        </p:nvSpPr>
        <p:spPr>
          <a:xfrm>
            <a:off x="411480" y="1691640"/>
            <a:ext cx="4023360" cy="384048"/>
          </a:xfrm>
          <a:prstGeom prst="rect">
            <a:avLst/>
          </a:prstGeom>
          <a:solidFill>
            <a:srgbClr val="F4F7FB"/>
          </a:solidFill>
          <a:ln w="12700">
            <a:solidFill>
              <a:srgbClr val="D0DCE8"/>
            </a:solidFill>
            <a:prstDash val="solid"/>
          </a:ln>
        </p:spPr>
        <p:txBody>
          <a:bodyPr/>
          <a:lstStyle/>
          <a:p>
            <a:endParaRPr lang="en-US"/>
          </a:p>
        </p:txBody>
      </p:sp>
      <p:sp>
        <p:nvSpPr>
          <p:cNvPr id="11" name="Shape 9"/>
          <p:cNvSpPr/>
          <p:nvPr/>
        </p:nvSpPr>
        <p:spPr>
          <a:xfrm>
            <a:off x="411480" y="1691640"/>
            <a:ext cx="685800" cy="384048"/>
          </a:xfrm>
          <a:prstGeom prst="rect">
            <a:avLst/>
          </a:prstGeom>
          <a:solidFill>
            <a:srgbClr val="1E3A5F"/>
          </a:solidFill>
          <a:ln w="12700">
            <a:solidFill>
              <a:srgbClr val="1E3A5F"/>
            </a:solidFill>
            <a:prstDash val="solid"/>
          </a:ln>
        </p:spPr>
        <p:txBody>
          <a:bodyPr/>
          <a:lstStyle/>
          <a:p>
            <a:endParaRPr lang="en-US"/>
          </a:p>
        </p:txBody>
      </p:sp>
      <p:sp>
        <p:nvSpPr>
          <p:cNvPr id="12" name="Text 10"/>
          <p:cNvSpPr/>
          <p:nvPr/>
        </p:nvSpPr>
        <p:spPr>
          <a:xfrm>
            <a:off x="411480" y="16916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35</a:t>
            </a:r>
            <a:endParaRPr lang="en-US" sz="900" dirty="0"/>
          </a:p>
        </p:txBody>
      </p:sp>
      <p:sp>
        <p:nvSpPr>
          <p:cNvPr id="13" name="Text 11"/>
          <p:cNvSpPr/>
          <p:nvPr/>
        </p:nvSpPr>
        <p:spPr>
          <a:xfrm>
            <a:off x="1161288" y="17007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Lựa chọn nhà thầu &amp; HĐ</a:t>
            </a:r>
            <a:endParaRPr lang="en-US" sz="1050" dirty="0"/>
          </a:p>
        </p:txBody>
      </p:sp>
      <p:sp>
        <p:nvSpPr>
          <p:cNvPr id="14" name="Text 12"/>
          <p:cNvSpPr/>
          <p:nvPr/>
        </p:nvSpPr>
        <p:spPr>
          <a:xfrm>
            <a:off x="1161288" y="18928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Luật ĐT 22/2023, e-GP, NĐ 24/2024</a:t>
            </a:r>
            <a:endParaRPr lang="en-US" sz="900" dirty="0"/>
          </a:p>
        </p:txBody>
      </p:sp>
      <p:sp>
        <p:nvSpPr>
          <p:cNvPr id="15" name="Shape 13"/>
          <p:cNvSpPr/>
          <p:nvPr/>
        </p:nvSpPr>
        <p:spPr>
          <a:xfrm>
            <a:off x="411480" y="2148840"/>
            <a:ext cx="4023360" cy="384048"/>
          </a:xfrm>
          <a:prstGeom prst="rect">
            <a:avLst/>
          </a:prstGeom>
          <a:solidFill>
            <a:srgbClr val="F4F7FB"/>
          </a:solidFill>
          <a:ln w="12700">
            <a:solidFill>
              <a:srgbClr val="D0DCE8"/>
            </a:solidFill>
            <a:prstDash val="solid"/>
          </a:ln>
        </p:spPr>
        <p:txBody>
          <a:bodyPr/>
          <a:lstStyle/>
          <a:p>
            <a:endParaRPr lang="en-US"/>
          </a:p>
        </p:txBody>
      </p:sp>
      <p:sp>
        <p:nvSpPr>
          <p:cNvPr id="16" name="Shape 14"/>
          <p:cNvSpPr/>
          <p:nvPr/>
        </p:nvSpPr>
        <p:spPr>
          <a:xfrm>
            <a:off x="411480" y="2148840"/>
            <a:ext cx="685800" cy="384048"/>
          </a:xfrm>
          <a:prstGeom prst="rect">
            <a:avLst/>
          </a:prstGeom>
          <a:solidFill>
            <a:srgbClr val="1E3A5F"/>
          </a:solidFill>
          <a:ln w="12700">
            <a:solidFill>
              <a:srgbClr val="1E3A5F"/>
            </a:solidFill>
            <a:prstDash val="solid"/>
          </a:ln>
        </p:spPr>
        <p:txBody>
          <a:bodyPr/>
          <a:lstStyle/>
          <a:p>
            <a:endParaRPr lang="en-US"/>
          </a:p>
        </p:txBody>
      </p:sp>
      <p:sp>
        <p:nvSpPr>
          <p:cNvPr id="17" name="Text 15"/>
          <p:cNvSpPr/>
          <p:nvPr/>
        </p:nvSpPr>
        <p:spPr>
          <a:xfrm>
            <a:off x="411480" y="21488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36</a:t>
            </a:r>
            <a:endParaRPr lang="en-US" sz="900" dirty="0"/>
          </a:p>
        </p:txBody>
      </p:sp>
      <p:sp>
        <p:nvSpPr>
          <p:cNvPr id="18" name="Text 16"/>
          <p:cNvSpPr/>
          <p:nvPr/>
        </p:nvSpPr>
        <p:spPr>
          <a:xfrm>
            <a:off x="1161288" y="21579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Quản lý CL giai đoạn CBĐT</a:t>
            </a:r>
            <a:endParaRPr lang="en-US" sz="1050" dirty="0"/>
          </a:p>
        </p:txBody>
      </p:sp>
      <p:sp>
        <p:nvSpPr>
          <p:cNvPr id="19" name="Text 17"/>
          <p:cNvSpPr/>
          <p:nvPr/>
        </p:nvSpPr>
        <p:spPr>
          <a:xfrm>
            <a:off x="1161288" y="23500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Khảo sát, thiết kế — NĐ 207/2026</a:t>
            </a:r>
            <a:endParaRPr lang="en-US" sz="900" dirty="0"/>
          </a:p>
        </p:txBody>
      </p:sp>
      <p:sp>
        <p:nvSpPr>
          <p:cNvPr id="20" name="Shape 18"/>
          <p:cNvSpPr/>
          <p:nvPr/>
        </p:nvSpPr>
        <p:spPr>
          <a:xfrm>
            <a:off x="411480" y="2606040"/>
            <a:ext cx="4023360" cy="384048"/>
          </a:xfrm>
          <a:prstGeom prst="rect">
            <a:avLst/>
          </a:prstGeom>
          <a:solidFill>
            <a:srgbClr val="F4F7FB"/>
          </a:solidFill>
          <a:ln w="12700">
            <a:solidFill>
              <a:srgbClr val="D0DCE8"/>
            </a:solidFill>
            <a:prstDash val="solid"/>
          </a:ln>
        </p:spPr>
        <p:txBody>
          <a:bodyPr/>
          <a:lstStyle/>
          <a:p>
            <a:endParaRPr lang="en-US"/>
          </a:p>
        </p:txBody>
      </p:sp>
      <p:sp>
        <p:nvSpPr>
          <p:cNvPr id="21" name="Shape 19"/>
          <p:cNvSpPr/>
          <p:nvPr/>
        </p:nvSpPr>
        <p:spPr>
          <a:xfrm>
            <a:off x="411480" y="2606040"/>
            <a:ext cx="685800" cy="384048"/>
          </a:xfrm>
          <a:prstGeom prst="rect">
            <a:avLst/>
          </a:prstGeom>
          <a:solidFill>
            <a:srgbClr val="1E3A5F"/>
          </a:solidFill>
          <a:ln w="12700">
            <a:solidFill>
              <a:srgbClr val="1E3A5F"/>
            </a:solidFill>
            <a:prstDash val="solid"/>
          </a:ln>
        </p:spPr>
        <p:txBody>
          <a:bodyPr/>
          <a:lstStyle/>
          <a:p>
            <a:endParaRPr lang="en-US"/>
          </a:p>
        </p:txBody>
      </p:sp>
      <p:sp>
        <p:nvSpPr>
          <p:cNvPr id="22" name="Text 20"/>
          <p:cNvSpPr/>
          <p:nvPr/>
        </p:nvSpPr>
        <p:spPr>
          <a:xfrm>
            <a:off x="411480" y="26060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37</a:t>
            </a:r>
            <a:endParaRPr lang="en-US" sz="900" dirty="0"/>
          </a:p>
        </p:txBody>
      </p:sp>
      <p:sp>
        <p:nvSpPr>
          <p:cNvPr id="23" name="Text 21"/>
          <p:cNvSpPr/>
          <p:nvPr/>
        </p:nvSpPr>
        <p:spPr>
          <a:xfrm>
            <a:off x="1161288" y="26151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Quản lý thực hiện hợp đồng</a:t>
            </a:r>
            <a:endParaRPr lang="en-US" sz="1050" dirty="0"/>
          </a:p>
        </p:txBody>
      </p:sp>
      <p:sp>
        <p:nvSpPr>
          <p:cNvPr id="24" name="Text 22"/>
          <p:cNvSpPr/>
          <p:nvPr/>
        </p:nvSpPr>
        <p:spPr>
          <a:xfrm>
            <a:off x="1161288" y="28072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HĐ mới, điều chỉnh — NĐ 210/2026</a:t>
            </a:r>
            <a:endParaRPr lang="en-US" sz="900" dirty="0"/>
          </a:p>
        </p:txBody>
      </p:sp>
      <p:sp>
        <p:nvSpPr>
          <p:cNvPr id="25" name="Shape 23"/>
          <p:cNvSpPr/>
          <p:nvPr/>
        </p:nvSpPr>
        <p:spPr>
          <a:xfrm>
            <a:off x="411480" y="3063240"/>
            <a:ext cx="4023360" cy="384048"/>
          </a:xfrm>
          <a:prstGeom prst="rect">
            <a:avLst/>
          </a:prstGeom>
          <a:solidFill>
            <a:srgbClr val="F4F7FB"/>
          </a:solidFill>
          <a:ln w="12700">
            <a:solidFill>
              <a:srgbClr val="D0DCE8"/>
            </a:solidFill>
            <a:prstDash val="solid"/>
          </a:ln>
        </p:spPr>
        <p:txBody>
          <a:bodyPr/>
          <a:lstStyle/>
          <a:p>
            <a:endParaRPr lang="en-US"/>
          </a:p>
        </p:txBody>
      </p:sp>
      <p:sp>
        <p:nvSpPr>
          <p:cNvPr id="26" name="Shape 24"/>
          <p:cNvSpPr/>
          <p:nvPr/>
        </p:nvSpPr>
        <p:spPr>
          <a:xfrm>
            <a:off x="411480" y="3063240"/>
            <a:ext cx="685800" cy="384048"/>
          </a:xfrm>
          <a:prstGeom prst="rect">
            <a:avLst/>
          </a:prstGeom>
          <a:solidFill>
            <a:srgbClr val="1E3A5F"/>
          </a:solidFill>
          <a:ln w="12700">
            <a:solidFill>
              <a:srgbClr val="1E3A5F"/>
            </a:solidFill>
            <a:prstDash val="solid"/>
          </a:ln>
        </p:spPr>
        <p:txBody>
          <a:bodyPr/>
          <a:lstStyle/>
          <a:p>
            <a:endParaRPr lang="en-US"/>
          </a:p>
        </p:txBody>
      </p:sp>
      <p:sp>
        <p:nvSpPr>
          <p:cNvPr id="27" name="Text 25"/>
          <p:cNvSpPr/>
          <p:nvPr/>
        </p:nvSpPr>
        <p:spPr>
          <a:xfrm>
            <a:off x="411480" y="30632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16</a:t>
            </a:r>
            <a:endParaRPr lang="en-US" sz="900" dirty="0"/>
          </a:p>
        </p:txBody>
      </p:sp>
      <p:sp>
        <p:nvSpPr>
          <p:cNvPr id="28" name="Text 26"/>
          <p:cNvSpPr/>
          <p:nvPr/>
        </p:nvSpPr>
        <p:spPr>
          <a:xfrm>
            <a:off x="1161288" y="30723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Quản lý chất lượng trong ĐTXD</a:t>
            </a:r>
            <a:endParaRPr lang="en-US" sz="1050" dirty="0"/>
          </a:p>
        </p:txBody>
      </p:sp>
      <p:sp>
        <p:nvSpPr>
          <p:cNvPr id="29" name="Text 27"/>
          <p:cNvSpPr/>
          <p:nvPr/>
        </p:nvSpPr>
        <p:spPr>
          <a:xfrm>
            <a:off x="1161288" y="32644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Nghiệm thu, giám sát — NĐ 207/2026</a:t>
            </a:r>
            <a:endParaRPr lang="en-US" sz="900" dirty="0"/>
          </a:p>
        </p:txBody>
      </p:sp>
      <p:sp>
        <p:nvSpPr>
          <p:cNvPr id="30" name="Shape 28"/>
          <p:cNvSpPr/>
          <p:nvPr/>
        </p:nvSpPr>
        <p:spPr>
          <a:xfrm>
            <a:off x="411480" y="3520440"/>
            <a:ext cx="4023360" cy="384048"/>
          </a:xfrm>
          <a:prstGeom prst="rect">
            <a:avLst/>
          </a:prstGeom>
          <a:solidFill>
            <a:srgbClr val="F4F7FB"/>
          </a:solidFill>
          <a:ln w="12700">
            <a:solidFill>
              <a:srgbClr val="D0DCE8"/>
            </a:solidFill>
            <a:prstDash val="solid"/>
          </a:ln>
        </p:spPr>
        <p:txBody>
          <a:bodyPr/>
          <a:lstStyle/>
          <a:p>
            <a:endParaRPr lang="en-US"/>
          </a:p>
        </p:txBody>
      </p:sp>
      <p:sp>
        <p:nvSpPr>
          <p:cNvPr id="31" name="Shape 29"/>
          <p:cNvSpPr/>
          <p:nvPr/>
        </p:nvSpPr>
        <p:spPr>
          <a:xfrm>
            <a:off x="411480" y="3520440"/>
            <a:ext cx="685800" cy="384048"/>
          </a:xfrm>
          <a:prstGeom prst="rect">
            <a:avLst/>
          </a:prstGeom>
          <a:solidFill>
            <a:srgbClr val="1E3A5F"/>
          </a:solidFill>
          <a:ln w="12700">
            <a:solidFill>
              <a:srgbClr val="1E3A5F"/>
            </a:solidFill>
            <a:prstDash val="solid"/>
          </a:ln>
        </p:spPr>
        <p:txBody>
          <a:bodyPr/>
          <a:lstStyle/>
          <a:p>
            <a:endParaRPr lang="en-US"/>
          </a:p>
        </p:txBody>
      </p:sp>
      <p:sp>
        <p:nvSpPr>
          <p:cNvPr id="32" name="Text 30"/>
          <p:cNvSpPr/>
          <p:nvPr/>
        </p:nvSpPr>
        <p:spPr>
          <a:xfrm>
            <a:off x="411480" y="35204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17</a:t>
            </a:r>
            <a:endParaRPr lang="en-US" sz="900" dirty="0"/>
          </a:p>
        </p:txBody>
      </p:sp>
      <p:sp>
        <p:nvSpPr>
          <p:cNvPr id="33" name="Text 31"/>
          <p:cNvSpPr/>
          <p:nvPr/>
        </p:nvSpPr>
        <p:spPr>
          <a:xfrm>
            <a:off x="1161288" y="35295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Thanh, quyết toán hợp đồng</a:t>
            </a:r>
            <a:endParaRPr lang="en-US" sz="1050" dirty="0"/>
          </a:p>
        </p:txBody>
      </p:sp>
      <p:sp>
        <p:nvSpPr>
          <p:cNvPr id="34" name="Text 32"/>
          <p:cNvSpPr/>
          <p:nvPr/>
        </p:nvSpPr>
        <p:spPr>
          <a:xfrm>
            <a:off x="1161288" y="37216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NĐ 210/2026, NĐ 206/2026</a:t>
            </a:r>
            <a:endParaRPr lang="en-US" sz="900" dirty="0"/>
          </a:p>
        </p:txBody>
      </p:sp>
      <p:sp>
        <p:nvSpPr>
          <p:cNvPr id="35" name="Shape 33"/>
          <p:cNvSpPr/>
          <p:nvPr/>
        </p:nvSpPr>
        <p:spPr>
          <a:xfrm>
            <a:off x="411480" y="3977640"/>
            <a:ext cx="4023360" cy="384048"/>
          </a:xfrm>
          <a:prstGeom prst="rect">
            <a:avLst/>
          </a:prstGeom>
          <a:solidFill>
            <a:srgbClr val="F4F7FB"/>
          </a:solidFill>
          <a:ln w="12700">
            <a:solidFill>
              <a:srgbClr val="D0DCE8"/>
            </a:solidFill>
            <a:prstDash val="solid"/>
          </a:ln>
        </p:spPr>
        <p:txBody>
          <a:bodyPr/>
          <a:lstStyle/>
          <a:p>
            <a:endParaRPr lang="en-US"/>
          </a:p>
        </p:txBody>
      </p:sp>
      <p:sp>
        <p:nvSpPr>
          <p:cNvPr id="36" name="Shape 34"/>
          <p:cNvSpPr/>
          <p:nvPr/>
        </p:nvSpPr>
        <p:spPr>
          <a:xfrm>
            <a:off x="411480" y="3977640"/>
            <a:ext cx="685800" cy="384048"/>
          </a:xfrm>
          <a:prstGeom prst="rect">
            <a:avLst/>
          </a:prstGeom>
          <a:solidFill>
            <a:srgbClr val="1E3A5F"/>
          </a:solidFill>
          <a:ln w="12700">
            <a:solidFill>
              <a:srgbClr val="1E3A5F"/>
            </a:solidFill>
            <a:prstDash val="solid"/>
          </a:ln>
        </p:spPr>
        <p:txBody>
          <a:bodyPr/>
          <a:lstStyle/>
          <a:p>
            <a:endParaRPr lang="en-US"/>
          </a:p>
        </p:txBody>
      </p:sp>
      <p:sp>
        <p:nvSpPr>
          <p:cNvPr id="37" name="Text 35"/>
          <p:cNvSpPr/>
          <p:nvPr/>
        </p:nvSpPr>
        <p:spPr>
          <a:xfrm>
            <a:off x="411480" y="39776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18</a:t>
            </a:r>
            <a:endParaRPr lang="en-US" sz="900" dirty="0"/>
          </a:p>
        </p:txBody>
      </p:sp>
      <p:sp>
        <p:nvSpPr>
          <p:cNvPr id="38" name="Text 36"/>
          <p:cNvSpPr/>
          <p:nvPr/>
        </p:nvSpPr>
        <p:spPr>
          <a:xfrm>
            <a:off x="1161288" y="39867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Quyết toán dự án hoàn thành</a:t>
            </a:r>
            <a:endParaRPr lang="en-US" sz="1050" dirty="0"/>
          </a:p>
        </p:txBody>
      </p:sp>
      <p:sp>
        <p:nvSpPr>
          <p:cNvPr id="39" name="Text 37"/>
          <p:cNvSpPr/>
          <p:nvPr/>
        </p:nvSpPr>
        <p:spPr>
          <a:xfrm>
            <a:off x="1161288" y="41788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NĐ 193/2026, TT 91/2025/TT-BTC</a:t>
            </a:r>
            <a:endParaRPr lang="en-US" sz="900" dirty="0"/>
          </a:p>
        </p:txBody>
      </p:sp>
      <p:sp>
        <p:nvSpPr>
          <p:cNvPr id="40" name="Shape 38"/>
          <p:cNvSpPr/>
          <p:nvPr/>
        </p:nvSpPr>
        <p:spPr>
          <a:xfrm>
            <a:off x="411480" y="4434840"/>
            <a:ext cx="4023360" cy="384048"/>
          </a:xfrm>
          <a:prstGeom prst="rect">
            <a:avLst/>
          </a:prstGeom>
          <a:solidFill>
            <a:srgbClr val="F4F7FB"/>
          </a:solidFill>
          <a:ln w="12700">
            <a:solidFill>
              <a:srgbClr val="D0DCE8"/>
            </a:solidFill>
            <a:prstDash val="solid"/>
          </a:ln>
        </p:spPr>
        <p:txBody>
          <a:bodyPr/>
          <a:lstStyle/>
          <a:p>
            <a:endParaRPr lang="en-US"/>
          </a:p>
        </p:txBody>
      </p:sp>
      <p:sp>
        <p:nvSpPr>
          <p:cNvPr id="41" name="Shape 39"/>
          <p:cNvSpPr/>
          <p:nvPr/>
        </p:nvSpPr>
        <p:spPr>
          <a:xfrm>
            <a:off x="411480" y="4434840"/>
            <a:ext cx="685800" cy="384048"/>
          </a:xfrm>
          <a:prstGeom prst="rect">
            <a:avLst/>
          </a:prstGeom>
          <a:solidFill>
            <a:srgbClr val="1E3A5F"/>
          </a:solidFill>
          <a:ln w="12700">
            <a:solidFill>
              <a:srgbClr val="1E3A5F"/>
            </a:solidFill>
            <a:prstDash val="solid"/>
          </a:ln>
        </p:spPr>
        <p:txBody>
          <a:bodyPr/>
          <a:lstStyle/>
          <a:p>
            <a:endParaRPr lang="en-US"/>
          </a:p>
        </p:txBody>
      </p:sp>
      <p:sp>
        <p:nvSpPr>
          <p:cNvPr id="42" name="Text 40"/>
          <p:cNvSpPr/>
          <p:nvPr/>
        </p:nvSpPr>
        <p:spPr>
          <a:xfrm>
            <a:off x="411480" y="4434840"/>
            <a:ext cx="685800" cy="384048"/>
          </a:xfrm>
          <a:prstGeom prst="rect">
            <a:avLst/>
          </a:prstGeom>
          <a:noFill/>
          <a:ln/>
        </p:spPr>
        <p:txBody>
          <a:bodyPr wrap="square" lIns="0" tIns="0" rIns="0" bIns="0" rtlCol="0" anchor="ctr"/>
          <a:lstStyle/>
          <a:p>
            <a:pPr marL="0" indent="0" algn="ctr">
              <a:buNone/>
            </a:pPr>
            <a:r>
              <a:rPr lang="en-US" sz="900" b="1" dirty="0">
                <a:solidFill>
                  <a:srgbClr val="FFFFFF"/>
                </a:solidFill>
              </a:rPr>
              <a:t>QT 161</a:t>
            </a:r>
            <a:endParaRPr lang="en-US" sz="900" dirty="0"/>
          </a:p>
        </p:txBody>
      </p:sp>
      <p:sp>
        <p:nvSpPr>
          <p:cNvPr id="43" name="Text 41"/>
          <p:cNvSpPr/>
          <p:nvPr/>
        </p:nvSpPr>
        <p:spPr>
          <a:xfrm>
            <a:off x="1161288" y="4443984"/>
            <a:ext cx="3218688" cy="201168"/>
          </a:xfrm>
          <a:prstGeom prst="rect">
            <a:avLst/>
          </a:prstGeom>
          <a:noFill/>
          <a:ln/>
        </p:spPr>
        <p:txBody>
          <a:bodyPr wrap="square" lIns="0" tIns="0" rIns="0" bIns="0" rtlCol="0" anchor="ctr"/>
          <a:lstStyle/>
          <a:p>
            <a:pPr marL="0" indent="0" algn="l">
              <a:buNone/>
            </a:pPr>
            <a:r>
              <a:rPr lang="en-US" sz="1050" b="1" dirty="0">
                <a:solidFill>
                  <a:srgbClr val="1E3A5F"/>
                </a:solidFill>
              </a:rPr>
              <a:t>Số hóa &amp; lưu trữ tài liệu</a:t>
            </a:r>
            <a:endParaRPr lang="en-US" sz="1050" dirty="0"/>
          </a:p>
        </p:txBody>
      </p:sp>
      <p:sp>
        <p:nvSpPr>
          <p:cNvPr id="44" name="Text 42"/>
          <p:cNvSpPr/>
          <p:nvPr/>
        </p:nvSpPr>
        <p:spPr>
          <a:xfrm>
            <a:off x="1161288" y="4636008"/>
            <a:ext cx="3218688" cy="164592"/>
          </a:xfrm>
          <a:prstGeom prst="rect">
            <a:avLst/>
          </a:prstGeom>
          <a:noFill/>
          <a:ln/>
        </p:spPr>
        <p:txBody>
          <a:bodyPr wrap="square" lIns="0" tIns="0" rIns="0" bIns="0" rtlCol="0" anchor="ctr"/>
          <a:lstStyle/>
          <a:p>
            <a:pPr marL="0" indent="0" algn="l">
              <a:buNone/>
            </a:pPr>
            <a:r>
              <a:rPr lang="en-US" sz="900" dirty="0">
                <a:solidFill>
                  <a:srgbClr val="4A6280"/>
                </a:solidFill>
              </a:rPr>
              <a:t>TT 05/2025/TT-BNV — Chuẩn hóa lưu trữ số</a:t>
            </a:r>
            <a:endParaRPr lang="en-US" sz="900" dirty="0"/>
          </a:p>
        </p:txBody>
      </p:sp>
      <p:sp>
        <p:nvSpPr>
          <p:cNvPr id="45" name="Shape 43"/>
          <p:cNvSpPr/>
          <p:nvPr/>
        </p:nvSpPr>
        <p:spPr>
          <a:xfrm>
            <a:off x="4572000" y="749808"/>
            <a:ext cx="0" cy="4206240"/>
          </a:xfrm>
          <a:prstGeom prst="line">
            <a:avLst/>
          </a:prstGeom>
          <a:noFill/>
          <a:ln w="12700">
            <a:solidFill>
              <a:srgbClr val="D0DCE8"/>
            </a:solidFill>
            <a:prstDash val="solid"/>
          </a:ln>
        </p:spPr>
        <p:txBody>
          <a:bodyPr/>
          <a:lstStyle/>
          <a:p>
            <a:endParaRPr lang="en-US"/>
          </a:p>
        </p:txBody>
      </p:sp>
      <p:sp>
        <p:nvSpPr>
          <p:cNvPr id="46" name="Shape 44"/>
          <p:cNvSpPr/>
          <p:nvPr/>
        </p:nvSpPr>
        <p:spPr>
          <a:xfrm>
            <a:off x="4663440" y="777240"/>
            <a:ext cx="4023360" cy="365760"/>
          </a:xfrm>
          <a:prstGeom prst="rect">
            <a:avLst/>
          </a:prstGeom>
          <a:solidFill>
            <a:srgbClr val="E67E22"/>
          </a:solidFill>
          <a:ln w="12700">
            <a:solidFill>
              <a:srgbClr val="E67E22"/>
            </a:solidFill>
            <a:prstDash val="solid"/>
          </a:ln>
        </p:spPr>
        <p:txBody>
          <a:bodyPr/>
          <a:lstStyle/>
          <a:p>
            <a:endParaRPr lang="en-US"/>
          </a:p>
        </p:txBody>
      </p:sp>
      <p:sp>
        <p:nvSpPr>
          <p:cNvPr id="47" name="Text 45"/>
          <p:cNvSpPr/>
          <p:nvPr/>
        </p:nvSpPr>
        <p:spPr>
          <a:xfrm>
            <a:off x="4754880" y="777240"/>
            <a:ext cx="3931920" cy="365760"/>
          </a:xfrm>
          <a:prstGeom prst="rect">
            <a:avLst/>
          </a:prstGeom>
          <a:noFill/>
          <a:ln/>
        </p:spPr>
        <p:txBody>
          <a:bodyPr wrap="square" lIns="0" tIns="0" rIns="0" bIns="0" rtlCol="0" anchor="ctr"/>
          <a:lstStyle/>
          <a:p>
            <a:pPr marL="0" indent="0" algn="l">
              <a:buNone/>
            </a:pPr>
            <a:r>
              <a:rPr lang="en-US" sz="1200" b="1" dirty="0">
                <a:solidFill>
                  <a:srgbClr val="FFFFFF"/>
                </a:solidFill>
              </a:rPr>
              <a:t>BAN HÀNH MỚI (4 quy trình)</a:t>
            </a:r>
            <a:endParaRPr lang="en-US" sz="1200" dirty="0"/>
          </a:p>
        </p:txBody>
      </p:sp>
      <p:sp>
        <p:nvSpPr>
          <p:cNvPr id="48" name="Shape 46"/>
          <p:cNvSpPr/>
          <p:nvPr/>
        </p:nvSpPr>
        <p:spPr>
          <a:xfrm>
            <a:off x="4663440" y="1234440"/>
            <a:ext cx="4023360" cy="621792"/>
          </a:xfrm>
          <a:prstGeom prst="rect">
            <a:avLst/>
          </a:prstGeom>
          <a:solidFill>
            <a:srgbClr val="FEF3E7"/>
          </a:solidFill>
          <a:ln w="12700">
            <a:solidFill>
              <a:srgbClr val="E67E22"/>
            </a:solidFill>
            <a:prstDash val="solid"/>
          </a:ln>
        </p:spPr>
        <p:txBody>
          <a:bodyPr/>
          <a:lstStyle/>
          <a:p>
            <a:endParaRPr lang="en-US"/>
          </a:p>
        </p:txBody>
      </p:sp>
      <p:sp>
        <p:nvSpPr>
          <p:cNvPr id="49" name="Shape 47"/>
          <p:cNvSpPr/>
          <p:nvPr/>
        </p:nvSpPr>
        <p:spPr>
          <a:xfrm>
            <a:off x="4663440" y="1234440"/>
            <a:ext cx="804672" cy="621792"/>
          </a:xfrm>
          <a:prstGeom prst="rect">
            <a:avLst/>
          </a:prstGeom>
          <a:solidFill>
            <a:srgbClr val="E67E22"/>
          </a:solidFill>
          <a:ln w="12700">
            <a:solidFill>
              <a:srgbClr val="E67E22"/>
            </a:solidFill>
            <a:prstDash val="solid"/>
          </a:ln>
        </p:spPr>
        <p:txBody>
          <a:bodyPr/>
          <a:lstStyle/>
          <a:p>
            <a:endParaRPr lang="en-US"/>
          </a:p>
        </p:txBody>
      </p:sp>
      <p:sp>
        <p:nvSpPr>
          <p:cNvPr id="50" name="Text 48"/>
          <p:cNvSpPr/>
          <p:nvPr/>
        </p:nvSpPr>
        <p:spPr>
          <a:xfrm>
            <a:off x="4663440" y="1234440"/>
            <a:ext cx="804672" cy="621792"/>
          </a:xfrm>
          <a:prstGeom prst="rect">
            <a:avLst/>
          </a:prstGeom>
          <a:noFill/>
          <a:ln/>
        </p:spPr>
        <p:txBody>
          <a:bodyPr wrap="square" lIns="0" tIns="0" rIns="0" bIns="0" rtlCol="0" anchor="ctr"/>
          <a:lstStyle/>
          <a:p>
            <a:pPr marL="0" indent="0" algn="ctr">
              <a:buNone/>
            </a:pPr>
            <a:r>
              <a:rPr lang="en-US" sz="900" b="1" dirty="0">
                <a:solidFill>
                  <a:srgbClr val="FFFFFF"/>
                </a:solidFill>
              </a:rPr>
              <a:t>QT 9 (mới)</a:t>
            </a:r>
            <a:endParaRPr lang="en-US" sz="900" dirty="0"/>
          </a:p>
        </p:txBody>
      </p:sp>
      <p:sp>
        <p:nvSpPr>
          <p:cNvPr id="51" name="Text 49"/>
          <p:cNvSpPr/>
          <p:nvPr/>
        </p:nvSpPr>
        <p:spPr>
          <a:xfrm>
            <a:off x="5550408" y="1271016"/>
            <a:ext cx="3035808" cy="274320"/>
          </a:xfrm>
          <a:prstGeom prst="rect">
            <a:avLst/>
          </a:prstGeom>
          <a:noFill/>
          <a:ln/>
        </p:spPr>
        <p:txBody>
          <a:bodyPr wrap="square" lIns="0" tIns="0" rIns="0" bIns="0" rtlCol="0" anchor="ctr"/>
          <a:lstStyle/>
          <a:p>
            <a:pPr marL="0" indent="0" algn="l">
              <a:buNone/>
            </a:pPr>
            <a:r>
              <a:rPr lang="en-US" sz="1100" b="1" dirty="0">
                <a:solidFill>
                  <a:srgbClr val="E67E22"/>
                </a:solidFill>
              </a:rPr>
              <a:t>Quản lý BIM &amp; CDE</a:t>
            </a:r>
            <a:endParaRPr lang="en-US" sz="1100" dirty="0"/>
          </a:p>
        </p:txBody>
      </p:sp>
      <p:sp>
        <p:nvSpPr>
          <p:cNvPr id="52" name="Text 50"/>
          <p:cNvSpPr/>
          <p:nvPr/>
        </p:nvSpPr>
        <p:spPr>
          <a:xfrm>
            <a:off x="5550408" y="1536192"/>
            <a:ext cx="3035808" cy="292608"/>
          </a:xfrm>
          <a:prstGeom prst="rect">
            <a:avLst/>
          </a:prstGeom>
          <a:noFill/>
          <a:ln/>
        </p:spPr>
        <p:txBody>
          <a:bodyPr wrap="square" lIns="0" tIns="0" rIns="0" bIns="0" rtlCol="0" anchor="ctr"/>
          <a:lstStyle/>
          <a:p>
            <a:pPr marL="0" indent="0" algn="l">
              <a:buNone/>
            </a:pPr>
            <a:r>
              <a:rPr lang="en-US" sz="950" dirty="0">
                <a:solidFill>
                  <a:srgbClr val="4A6280"/>
                </a:solidFill>
              </a:rPr>
              <a:t>NĐ QLHĐXD 2026 (đang ban hành), ISO 19650 — Bắt buộc từ nhóm B</a:t>
            </a:r>
            <a:endParaRPr lang="en-US" sz="950" dirty="0"/>
          </a:p>
        </p:txBody>
      </p:sp>
      <p:sp>
        <p:nvSpPr>
          <p:cNvPr id="53" name="Shape 51"/>
          <p:cNvSpPr/>
          <p:nvPr/>
        </p:nvSpPr>
        <p:spPr>
          <a:xfrm>
            <a:off x="4663440" y="1947672"/>
            <a:ext cx="4023360" cy="621792"/>
          </a:xfrm>
          <a:prstGeom prst="rect">
            <a:avLst/>
          </a:prstGeom>
          <a:solidFill>
            <a:srgbClr val="FEF3E7"/>
          </a:solidFill>
          <a:ln w="12700">
            <a:solidFill>
              <a:srgbClr val="E67E22"/>
            </a:solidFill>
            <a:prstDash val="solid"/>
          </a:ln>
        </p:spPr>
        <p:txBody>
          <a:bodyPr/>
          <a:lstStyle/>
          <a:p>
            <a:endParaRPr lang="en-US"/>
          </a:p>
        </p:txBody>
      </p:sp>
      <p:sp>
        <p:nvSpPr>
          <p:cNvPr id="54" name="Shape 52"/>
          <p:cNvSpPr/>
          <p:nvPr/>
        </p:nvSpPr>
        <p:spPr>
          <a:xfrm>
            <a:off x="4663440" y="1947672"/>
            <a:ext cx="804672" cy="621792"/>
          </a:xfrm>
          <a:prstGeom prst="rect">
            <a:avLst/>
          </a:prstGeom>
          <a:solidFill>
            <a:srgbClr val="E67E22"/>
          </a:solidFill>
          <a:ln w="12700">
            <a:solidFill>
              <a:srgbClr val="E67E22"/>
            </a:solidFill>
            <a:prstDash val="solid"/>
          </a:ln>
        </p:spPr>
        <p:txBody>
          <a:bodyPr/>
          <a:lstStyle/>
          <a:p>
            <a:endParaRPr lang="en-US"/>
          </a:p>
        </p:txBody>
      </p:sp>
      <p:sp>
        <p:nvSpPr>
          <p:cNvPr id="55" name="Text 53"/>
          <p:cNvSpPr/>
          <p:nvPr/>
        </p:nvSpPr>
        <p:spPr>
          <a:xfrm>
            <a:off x="4663440" y="1947672"/>
            <a:ext cx="804672" cy="621792"/>
          </a:xfrm>
          <a:prstGeom prst="rect">
            <a:avLst/>
          </a:prstGeom>
          <a:noFill/>
          <a:ln/>
        </p:spPr>
        <p:txBody>
          <a:bodyPr wrap="square" lIns="0" tIns="0" rIns="0" bIns="0" rtlCol="0" anchor="ctr"/>
          <a:lstStyle/>
          <a:p>
            <a:pPr marL="0" indent="0" algn="ctr">
              <a:buNone/>
            </a:pPr>
            <a:r>
              <a:rPr lang="en-US" sz="900" b="1" dirty="0">
                <a:solidFill>
                  <a:srgbClr val="FFFFFF"/>
                </a:solidFill>
              </a:rPr>
              <a:t>QT 10 (mới)</a:t>
            </a:r>
            <a:endParaRPr lang="en-US" sz="900" dirty="0"/>
          </a:p>
        </p:txBody>
      </p:sp>
      <p:sp>
        <p:nvSpPr>
          <p:cNvPr id="56" name="Text 54"/>
          <p:cNvSpPr/>
          <p:nvPr/>
        </p:nvSpPr>
        <p:spPr>
          <a:xfrm>
            <a:off x="5550408" y="1984248"/>
            <a:ext cx="3035808" cy="274320"/>
          </a:xfrm>
          <a:prstGeom prst="rect">
            <a:avLst/>
          </a:prstGeom>
          <a:noFill/>
          <a:ln/>
        </p:spPr>
        <p:txBody>
          <a:bodyPr wrap="square" lIns="0" tIns="0" rIns="0" bIns="0" rtlCol="0" anchor="ctr"/>
          <a:lstStyle/>
          <a:p>
            <a:pPr marL="0" indent="0" algn="l">
              <a:buNone/>
            </a:pPr>
            <a:r>
              <a:rPr lang="en-US" sz="1100" b="1" dirty="0">
                <a:solidFill>
                  <a:srgbClr val="E67E22"/>
                </a:solidFill>
              </a:rPr>
              <a:t>Bàn giao, bảo hành &amp; bảo trì</a:t>
            </a:r>
            <a:endParaRPr lang="en-US" sz="1100" dirty="0"/>
          </a:p>
        </p:txBody>
      </p:sp>
      <p:sp>
        <p:nvSpPr>
          <p:cNvPr id="57" name="Text 55"/>
          <p:cNvSpPr/>
          <p:nvPr/>
        </p:nvSpPr>
        <p:spPr>
          <a:xfrm>
            <a:off x="5550408" y="2249424"/>
            <a:ext cx="3035808" cy="292608"/>
          </a:xfrm>
          <a:prstGeom prst="rect">
            <a:avLst/>
          </a:prstGeom>
          <a:noFill/>
          <a:ln/>
        </p:spPr>
        <p:txBody>
          <a:bodyPr wrap="square" lIns="0" tIns="0" rIns="0" bIns="0" rtlCol="0" anchor="ctr"/>
          <a:lstStyle/>
          <a:p>
            <a:pPr marL="0" indent="0" algn="l">
              <a:buNone/>
            </a:pPr>
            <a:r>
              <a:rPr lang="en-US" sz="950" dirty="0">
                <a:solidFill>
                  <a:srgbClr val="4A6280"/>
                </a:solidFill>
              </a:rPr>
              <a:t>Luật XD 135/2025, NĐ 207/2026</a:t>
            </a:r>
            <a:endParaRPr lang="en-US" sz="950" dirty="0"/>
          </a:p>
        </p:txBody>
      </p:sp>
      <p:sp>
        <p:nvSpPr>
          <p:cNvPr id="58" name="Shape 56"/>
          <p:cNvSpPr/>
          <p:nvPr/>
        </p:nvSpPr>
        <p:spPr>
          <a:xfrm>
            <a:off x="4663440" y="2660904"/>
            <a:ext cx="4023360" cy="621792"/>
          </a:xfrm>
          <a:prstGeom prst="rect">
            <a:avLst/>
          </a:prstGeom>
          <a:solidFill>
            <a:srgbClr val="FEF3E7"/>
          </a:solidFill>
          <a:ln w="12700">
            <a:solidFill>
              <a:srgbClr val="E67E22"/>
            </a:solidFill>
            <a:prstDash val="solid"/>
          </a:ln>
        </p:spPr>
        <p:txBody>
          <a:bodyPr/>
          <a:lstStyle/>
          <a:p>
            <a:endParaRPr lang="en-US"/>
          </a:p>
        </p:txBody>
      </p:sp>
      <p:sp>
        <p:nvSpPr>
          <p:cNvPr id="59" name="Shape 57"/>
          <p:cNvSpPr/>
          <p:nvPr/>
        </p:nvSpPr>
        <p:spPr>
          <a:xfrm>
            <a:off x="4663440" y="2660904"/>
            <a:ext cx="804672" cy="621792"/>
          </a:xfrm>
          <a:prstGeom prst="rect">
            <a:avLst/>
          </a:prstGeom>
          <a:solidFill>
            <a:srgbClr val="E67E22"/>
          </a:solidFill>
          <a:ln w="12700">
            <a:solidFill>
              <a:srgbClr val="E67E22"/>
            </a:solidFill>
            <a:prstDash val="solid"/>
          </a:ln>
        </p:spPr>
        <p:txBody>
          <a:bodyPr/>
          <a:lstStyle/>
          <a:p>
            <a:endParaRPr lang="en-US"/>
          </a:p>
        </p:txBody>
      </p:sp>
      <p:sp>
        <p:nvSpPr>
          <p:cNvPr id="60" name="Text 58"/>
          <p:cNvSpPr/>
          <p:nvPr/>
        </p:nvSpPr>
        <p:spPr>
          <a:xfrm>
            <a:off x="4663440" y="2660904"/>
            <a:ext cx="804672" cy="621792"/>
          </a:xfrm>
          <a:prstGeom prst="rect">
            <a:avLst/>
          </a:prstGeom>
          <a:noFill/>
          <a:ln/>
        </p:spPr>
        <p:txBody>
          <a:bodyPr wrap="square" lIns="0" tIns="0" rIns="0" bIns="0" rtlCol="0" anchor="ctr"/>
          <a:lstStyle/>
          <a:p>
            <a:pPr marL="0" indent="0" algn="ctr">
              <a:buNone/>
            </a:pPr>
            <a:r>
              <a:rPr lang="en-US" sz="900" b="1" dirty="0">
                <a:solidFill>
                  <a:srgbClr val="FFFFFF"/>
                </a:solidFill>
              </a:rPr>
              <a:t>QT 11 (mới)</a:t>
            </a:r>
            <a:endParaRPr lang="en-US" sz="900" dirty="0"/>
          </a:p>
        </p:txBody>
      </p:sp>
      <p:sp>
        <p:nvSpPr>
          <p:cNvPr id="61" name="Text 59"/>
          <p:cNvSpPr/>
          <p:nvPr/>
        </p:nvSpPr>
        <p:spPr>
          <a:xfrm>
            <a:off x="5550408" y="2697480"/>
            <a:ext cx="3035808" cy="274320"/>
          </a:xfrm>
          <a:prstGeom prst="rect">
            <a:avLst/>
          </a:prstGeom>
          <a:noFill/>
          <a:ln/>
        </p:spPr>
        <p:txBody>
          <a:bodyPr wrap="square" lIns="0" tIns="0" rIns="0" bIns="0" rtlCol="0" anchor="ctr"/>
          <a:lstStyle/>
          <a:p>
            <a:pPr marL="0" indent="0" algn="l">
              <a:buNone/>
            </a:pPr>
            <a:r>
              <a:rPr lang="en-US" sz="1100" b="1" dirty="0">
                <a:solidFill>
                  <a:srgbClr val="E67E22"/>
                </a:solidFill>
              </a:rPr>
              <a:t>Giám sát, đánh giá &amp; báo cáo</a:t>
            </a:r>
            <a:endParaRPr lang="en-US" sz="1100" dirty="0"/>
          </a:p>
        </p:txBody>
      </p:sp>
      <p:sp>
        <p:nvSpPr>
          <p:cNvPr id="62" name="Text 60"/>
          <p:cNvSpPr/>
          <p:nvPr/>
        </p:nvSpPr>
        <p:spPr>
          <a:xfrm>
            <a:off x="5550408" y="2962656"/>
            <a:ext cx="3035808" cy="292608"/>
          </a:xfrm>
          <a:prstGeom prst="rect">
            <a:avLst/>
          </a:prstGeom>
          <a:noFill/>
          <a:ln/>
        </p:spPr>
        <p:txBody>
          <a:bodyPr wrap="square" lIns="0" tIns="0" rIns="0" bIns="0" rtlCol="0" anchor="ctr"/>
          <a:lstStyle/>
          <a:p>
            <a:pPr marL="0" indent="0" algn="l">
              <a:buNone/>
            </a:pPr>
            <a:r>
              <a:rPr lang="en-US" sz="950" dirty="0">
                <a:solidFill>
                  <a:srgbClr val="4A6280"/>
                </a:solidFill>
              </a:rPr>
              <a:t>Luật XD 135/2025, NĐ QLHĐXD 2026</a:t>
            </a:r>
            <a:endParaRPr lang="en-US" sz="950" dirty="0"/>
          </a:p>
        </p:txBody>
      </p:sp>
      <p:sp>
        <p:nvSpPr>
          <p:cNvPr id="63" name="Shape 61"/>
          <p:cNvSpPr/>
          <p:nvPr/>
        </p:nvSpPr>
        <p:spPr>
          <a:xfrm>
            <a:off x="4663440" y="3374136"/>
            <a:ext cx="4023360" cy="621792"/>
          </a:xfrm>
          <a:prstGeom prst="rect">
            <a:avLst/>
          </a:prstGeom>
          <a:solidFill>
            <a:srgbClr val="FEF3E7"/>
          </a:solidFill>
          <a:ln w="12700">
            <a:solidFill>
              <a:srgbClr val="E67E22"/>
            </a:solidFill>
            <a:prstDash val="solid"/>
          </a:ln>
        </p:spPr>
        <p:txBody>
          <a:bodyPr/>
          <a:lstStyle/>
          <a:p>
            <a:endParaRPr lang="en-US"/>
          </a:p>
        </p:txBody>
      </p:sp>
      <p:sp>
        <p:nvSpPr>
          <p:cNvPr id="64" name="Shape 62"/>
          <p:cNvSpPr/>
          <p:nvPr/>
        </p:nvSpPr>
        <p:spPr>
          <a:xfrm>
            <a:off x="4663440" y="3374136"/>
            <a:ext cx="804672" cy="621792"/>
          </a:xfrm>
          <a:prstGeom prst="rect">
            <a:avLst/>
          </a:prstGeom>
          <a:solidFill>
            <a:srgbClr val="E67E22"/>
          </a:solidFill>
          <a:ln w="12700">
            <a:solidFill>
              <a:srgbClr val="E67E22"/>
            </a:solidFill>
            <a:prstDash val="solid"/>
          </a:ln>
        </p:spPr>
        <p:txBody>
          <a:bodyPr/>
          <a:lstStyle/>
          <a:p>
            <a:endParaRPr lang="en-US"/>
          </a:p>
        </p:txBody>
      </p:sp>
      <p:sp>
        <p:nvSpPr>
          <p:cNvPr id="65" name="Text 63"/>
          <p:cNvSpPr/>
          <p:nvPr/>
        </p:nvSpPr>
        <p:spPr>
          <a:xfrm>
            <a:off x="4663440" y="3374136"/>
            <a:ext cx="804672" cy="621792"/>
          </a:xfrm>
          <a:prstGeom prst="rect">
            <a:avLst/>
          </a:prstGeom>
          <a:noFill/>
          <a:ln/>
        </p:spPr>
        <p:txBody>
          <a:bodyPr wrap="square" lIns="0" tIns="0" rIns="0" bIns="0" rtlCol="0" anchor="ctr"/>
          <a:lstStyle/>
          <a:p>
            <a:pPr marL="0" indent="0" algn="ctr">
              <a:buNone/>
            </a:pPr>
            <a:r>
              <a:rPr lang="en-US" sz="900" b="1" dirty="0">
                <a:solidFill>
                  <a:srgbClr val="FFFFFF"/>
                </a:solidFill>
              </a:rPr>
              <a:t>QT 12 (mới)</a:t>
            </a:r>
            <a:endParaRPr lang="en-US" sz="900" dirty="0"/>
          </a:p>
        </p:txBody>
      </p:sp>
      <p:sp>
        <p:nvSpPr>
          <p:cNvPr id="66" name="Text 64"/>
          <p:cNvSpPr/>
          <p:nvPr/>
        </p:nvSpPr>
        <p:spPr>
          <a:xfrm>
            <a:off x="5550408" y="3410712"/>
            <a:ext cx="3035808" cy="274320"/>
          </a:xfrm>
          <a:prstGeom prst="rect">
            <a:avLst/>
          </a:prstGeom>
          <a:noFill/>
          <a:ln/>
        </p:spPr>
        <p:txBody>
          <a:bodyPr wrap="square" lIns="0" tIns="0" rIns="0" bIns="0" rtlCol="0" anchor="ctr"/>
          <a:lstStyle/>
          <a:p>
            <a:pPr marL="0" indent="0" algn="l">
              <a:buNone/>
            </a:pPr>
            <a:r>
              <a:rPr lang="en-US" sz="1100" b="1" dirty="0">
                <a:solidFill>
                  <a:srgbClr val="E67E22"/>
                </a:solidFill>
              </a:rPr>
              <a:t>An toàn LĐ &amp; môi trường thi công</a:t>
            </a:r>
            <a:endParaRPr lang="en-US" sz="1100" dirty="0"/>
          </a:p>
        </p:txBody>
      </p:sp>
      <p:sp>
        <p:nvSpPr>
          <p:cNvPr id="67" name="Text 65"/>
          <p:cNvSpPr/>
          <p:nvPr/>
        </p:nvSpPr>
        <p:spPr>
          <a:xfrm>
            <a:off x="5550408" y="3675888"/>
            <a:ext cx="3035808" cy="292608"/>
          </a:xfrm>
          <a:prstGeom prst="rect">
            <a:avLst/>
          </a:prstGeom>
          <a:noFill/>
          <a:ln/>
        </p:spPr>
        <p:txBody>
          <a:bodyPr wrap="square" lIns="0" tIns="0" rIns="0" bIns="0" rtlCol="0" anchor="ctr"/>
          <a:lstStyle/>
          <a:p>
            <a:pPr marL="0" indent="0" algn="l">
              <a:buNone/>
            </a:pPr>
            <a:r>
              <a:rPr lang="en-US" sz="950" dirty="0">
                <a:solidFill>
                  <a:srgbClr val="4A6280"/>
                </a:solidFill>
              </a:rPr>
              <a:t>NĐ 207/2026 — Trách nhiệm Chủ đầu tư</a:t>
            </a:r>
            <a:endParaRPr lang="en-US" sz="950" dirty="0"/>
          </a:p>
        </p:txBody>
      </p:sp>
      <p:sp>
        <p:nvSpPr>
          <p:cNvPr id="68" name="Shape 66"/>
          <p:cNvSpPr/>
          <p:nvPr/>
        </p:nvSpPr>
        <p:spPr>
          <a:xfrm>
            <a:off x="411480" y="4681728"/>
            <a:ext cx="8321040" cy="347472"/>
          </a:xfrm>
          <a:prstGeom prst="rect">
            <a:avLst/>
          </a:prstGeom>
          <a:solidFill>
            <a:srgbClr val="D6E4F0"/>
          </a:solidFill>
          <a:ln w="12700">
            <a:solidFill>
              <a:srgbClr val="D6E4F0"/>
            </a:solidFill>
            <a:prstDash val="solid"/>
          </a:ln>
        </p:spPr>
        <p:txBody>
          <a:bodyPr/>
          <a:lstStyle/>
          <a:p>
            <a:endParaRPr lang="en-US"/>
          </a:p>
        </p:txBody>
      </p:sp>
      <p:sp>
        <p:nvSpPr>
          <p:cNvPr id="69" name="Text 67"/>
          <p:cNvSpPr/>
          <p:nvPr/>
        </p:nvSpPr>
        <p:spPr>
          <a:xfrm>
            <a:off x="548640" y="4681728"/>
            <a:ext cx="8229600" cy="347472"/>
          </a:xfrm>
          <a:prstGeom prst="rect">
            <a:avLst/>
          </a:prstGeom>
          <a:noFill/>
          <a:ln/>
        </p:spPr>
        <p:txBody>
          <a:bodyPr wrap="square" lIns="0" tIns="0" rIns="0" bIns="0" rtlCol="0" anchor="ctr"/>
          <a:lstStyle/>
          <a:p>
            <a:pPr marL="0" indent="0" algn="l">
              <a:buNone/>
            </a:pPr>
            <a:r>
              <a:rPr lang="en-US" sz="1000" dirty="0">
                <a:solidFill>
                  <a:srgbClr val="1E3A5F"/>
                </a:solidFill>
              </a:rPr>
              <a:t>★  Phạm vi và số lượng quy trình chính xác sẽ được xác nhận sau khi hoàn thành Legal Gap Matrix (Hạng mục 1 — Ngày 1–20)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Phương pháp luận CIC</a:t>
            </a:r>
            <a:endParaRPr lang="en-US" sz="2200" dirty="0"/>
          </a:p>
        </p:txBody>
      </p:sp>
      <p:sp>
        <p:nvSpPr>
          <p:cNvPr id="3" name="Shape 1"/>
          <p:cNvSpPr/>
          <p:nvPr/>
        </p:nvSpPr>
        <p:spPr>
          <a:xfrm>
            <a:off x="411480" y="777240"/>
            <a:ext cx="8321040" cy="457200"/>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411480" y="777240"/>
            <a:ext cx="8321040" cy="457200"/>
          </a:xfrm>
          <a:prstGeom prst="rect">
            <a:avLst/>
          </a:prstGeom>
          <a:noFill/>
          <a:ln/>
        </p:spPr>
        <p:txBody>
          <a:bodyPr wrap="square" lIns="0" tIns="0" rIns="0" bIns="0" rtlCol="0" anchor="ctr"/>
          <a:lstStyle/>
          <a:p>
            <a:pPr marL="0" indent="0" algn="ctr">
              <a:buNone/>
            </a:pPr>
            <a:r>
              <a:rPr lang="en-US" sz="1500" b="1" i="1" dirty="0">
                <a:solidFill>
                  <a:srgbClr val="E67E22"/>
                </a:solidFill>
              </a:rPr>
              <a:t>" Từ pháp lý đến thực tiễn — Từ thực tiễn đến quy trình "</a:t>
            </a:r>
            <a:endParaRPr lang="en-US" sz="1500" dirty="0"/>
          </a:p>
        </p:txBody>
      </p:sp>
      <p:sp>
        <p:nvSpPr>
          <p:cNvPr id="5" name="Shape 3"/>
          <p:cNvSpPr/>
          <p:nvPr/>
        </p:nvSpPr>
        <p:spPr>
          <a:xfrm>
            <a:off x="411480" y="1389888"/>
            <a:ext cx="2743200" cy="2999232"/>
          </a:xfrm>
          <a:prstGeom prst="rect">
            <a:avLst/>
          </a:prstGeom>
          <a:solidFill>
            <a:srgbClr val="F4F7FB"/>
          </a:solidFill>
          <a:ln w="12700">
            <a:solidFill>
              <a:srgbClr val="D0DCE8"/>
            </a:solidFill>
            <a:prstDash val="solid"/>
          </a:ln>
        </p:spPr>
        <p:txBody>
          <a:bodyPr/>
          <a:lstStyle/>
          <a:p>
            <a:endParaRPr lang="en-US"/>
          </a:p>
        </p:txBody>
      </p:sp>
      <p:sp>
        <p:nvSpPr>
          <p:cNvPr id="6" name="Shape 4"/>
          <p:cNvSpPr/>
          <p:nvPr/>
        </p:nvSpPr>
        <p:spPr>
          <a:xfrm>
            <a:off x="411480" y="1389888"/>
            <a:ext cx="2743200" cy="548640"/>
          </a:xfrm>
          <a:prstGeom prst="rect">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411480" y="1389888"/>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rPr>
              <a:t>Nguyên tắc 1</a:t>
            </a:r>
            <a:endParaRPr lang="en-US" sz="1300" dirty="0"/>
          </a:p>
        </p:txBody>
      </p:sp>
      <p:sp>
        <p:nvSpPr>
          <p:cNvPr id="8" name="Text 6"/>
          <p:cNvSpPr/>
          <p:nvPr/>
        </p:nvSpPr>
        <p:spPr>
          <a:xfrm>
            <a:off x="548640" y="2029968"/>
            <a:ext cx="2468880" cy="502920"/>
          </a:xfrm>
          <a:prstGeom prst="rect">
            <a:avLst/>
          </a:prstGeom>
          <a:noFill/>
          <a:ln/>
        </p:spPr>
        <p:txBody>
          <a:bodyPr wrap="square" lIns="0" tIns="0" rIns="0" bIns="0" rtlCol="0" anchor="ctr"/>
          <a:lstStyle/>
          <a:p>
            <a:pPr marL="0" indent="0" algn="l">
              <a:buNone/>
            </a:pPr>
            <a:r>
              <a:rPr lang="en-US" sz="1300" b="1" dirty="0">
                <a:solidFill>
                  <a:srgbClr val="1E3A5F"/>
                </a:solidFill>
              </a:rPr>
              <a:t>Tuân thủ pháp lý tuyệt đối</a:t>
            </a:r>
            <a:endParaRPr lang="en-US" sz="1300" dirty="0"/>
          </a:p>
        </p:txBody>
      </p:sp>
      <p:sp>
        <p:nvSpPr>
          <p:cNvPr id="9" name="Text 7"/>
          <p:cNvSpPr/>
          <p:nvPr/>
        </p:nvSpPr>
        <p:spPr>
          <a:xfrm>
            <a:off x="548640" y="2606040"/>
            <a:ext cx="2468880" cy="1719072"/>
          </a:xfrm>
          <a:prstGeom prst="rect">
            <a:avLst/>
          </a:prstGeom>
          <a:noFill/>
          <a:ln/>
        </p:spPr>
        <p:txBody>
          <a:bodyPr wrap="square" lIns="0" tIns="0" rIns="0" bIns="0" rtlCol="0" anchor="t"/>
          <a:lstStyle/>
          <a:p>
            <a:pPr marL="0" indent="0" algn="l">
              <a:buNone/>
            </a:pPr>
            <a:r>
              <a:rPr lang="en-US" sz="1100" dirty="0">
                <a:solidFill>
                  <a:srgbClr val="1A2B3C"/>
                </a:solidFill>
              </a:rPr>
              <a:t>Mọi quy trình phải dẫn chiếu chính xác đến điều khoản cụ thể của Luật XD 135/2025 và các Nghị định hướng dẫn.</a:t>
            </a:r>
            <a:endParaRPr lang="en-US" sz="1100" dirty="0"/>
          </a:p>
          <a:p>
            <a:pPr marL="0" indent="0" algn="l">
              <a:buNone/>
            </a:pPr>
            <a:endParaRPr lang="en-US" sz="1100" dirty="0"/>
          </a:p>
          <a:p>
            <a:pPr marL="0" indent="0" algn="l">
              <a:buNone/>
            </a:pPr>
            <a:r>
              <a:rPr lang="en-US" sz="1100" dirty="0">
                <a:solidFill>
                  <a:srgbClr val="1A2B3C"/>
                </a:solidFill>
              </a:rPr>
              <a:t>Không dẫn chiếu chung chung "theo quy định pháp luật hiện hành".</a:t>
            </a:r>
            <a:endParaRPr lang="en-US" sz="1100" dirty="0"/>
          </a:p>
        </p:txBody>
      </p:sp>
      <p:sp>
        <p:nvSpPr>
          <p:cNvPr id="10" name="Shape 8"/>
          <p:cNvSpPr/>
          <p:nvPr/>
        </p:nvSpPr>
        <p:spPr>
          <a:xfrm>
            <a:off x="3291840" y="1389888"/>
            <a:ext cx="2743200" cy="2999232"/>
          </a:xfrm>
          <a:prstGeom prst="rect">
            <a:avLst/>
          </a:prstGeom>
          <a:solidFill>
            <a:srgbClr val="F4F7FB"/>
          </a:solidFill>
          <a:ln w="12700">
            <a:solidFill>
              <a:srgbClr val="D0DCE8"/>
            </a:solidFill>
            <a:prstDash val="solid"/>
          </a:ln>
        </p:spPr>
        <p:txBody>
          <a:bodyPr/>
          <a:lstStyle/>
          <a:p>
            <a:endParaRPr lang="en-US"/>
          </a:p>
        </p:txBody>
      </p:sp>
      <p:sp>
        <p:nvSpPr>
          <p:cNvPr id="11" name="Shape 9"/>
          <p:cNvSpPr/>
          <p:nvPr/>
        </p:nvSpPr>
        <p:spPr>
          <a:xfrm>
            <a:off x="3291840" y="1389888"/>
            <a:ext cx="2743200" cy="548640"/>
          </a:xfrm>
          <a:prstGeom prst="rect">
            <a:avLst/>
          </a:prstGeom>
          <a:solidFill>
            <a:srgbClr val="2C4F72"/>
          </a:solidFill>
          <a:ln w="12700">
            <a:solidFill>
              <a:srgbClr val="2C4F72"/>
            </a:solidFill>
            <a:prstDash val="solid"/>
          </a:ln>
        </p:spPr>
        <p:txBody>
          <a:bodyPr/>
          <a:lstStyle/>
          <a:p>
            <a:endParaRPr lang="en-US"/>
          </a:p>
        </p:txBody>
      </p:sp>
      <p:sp>
        <p:nvSpPr>
          <p:cNvPr id="12" name="Text 10"/>
          <p:cNvSpPr/>
          <p:nvPr/>
        </p:nvSpPr>
        <p:spPr>
          <a:xfrm>
            <a:off x="3291840" y="1389888"/>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rPr>
              <a:t>Nguyên tắc 2</a:t>
            </a:r>
            <a:endParaRPr lang="en-US" sz="1300" dirty="0"/>
          </a:p>
        </p:txBody>
      </p:sp>
      <p:sp>
        <p:nvSpPr>
          <p:cNvPr id="13" name="Text 11"/>
          <p:cNvSpPr/>
          <p:nvPr/>
        </p:nvSpPr>
        <p:spPr>
          <a:xfrm>
            <a:off x="3429000" y="2029968"/>
            <a:ext cx="2468880" cy="502920"/>
          </a:xfrm>
          <a:prstGeom prst="rect">
            <a:avLst/>
          </a:prstGeom>
          <a:noFill/>
          <a:ln/>
        </p:spPr>
        <p:txBody>
          <a:bodyPr wrap="square" lIns="0" tIns="0" rIns="0" bIns="0" rtlCol="0" anchor="ctr"/>
          <a:lstStyle/>
          <a:p>
            <a:pPr marL="0" indent="0" algn="l">
              <a:buNone/>
            </a:pPr>
            <a:r>
              <a:rPr lang="en-US" sz="1300" b="1" dirty="0">
                <a:solidFill>
                  <a:srgbClr val="2C4F72"/>
                </a:solidFill>
              </a:rPr>
              <a:t>Bám sát thực tiễn vận hành</a:t>
            </a:r>
            <a:endParaRPr lang="en-US" sz="1300" dirty="0"/>
          </a:p>
        </p:txBody>
      </p:sp>
      <p:sp>
        <p:nvSpPr>
          <p:cNvPr id="14" name="Text 12"/>
          <p:cNvSpPr/>
          <p:nvPr/>
        </p:nvSpPr>
        <p:spPr>
          <a:xfrm>
            <a:off x="3429000" y="2606040"/>
            <a:ext cx="2468880" cy="1719072"/>
          </a:xfrm>
          <a:prstGeom prst="rect">
            <a:avLst/>
          </a:prstGeom>
          <a:noFill/>
          <a:ln/>
        </p:spPr>
        <p:txBody>
          <a:bodyPr wrap="square" lIns="0" tIns="0" rIns="0" bIns="0" rtlCol="0" anchor="t"/>
          <a:lstStyle/>
          <a:p>
            <a:pPr marL="0" indent="0" algn="l">
              <a:buNone/>
            </a:pPr>
            <a:r>
              <a:rPr lang="en-US" sz="1100" dirty="0">
                <a:solidFill>
                  <a:srgbClr val="1A2B3C"/>
                </a:solidFill>
              </a:rPr>
              <a:t>Quy trình phải khả thi với nhân lực, phân cấp thẩm quyền và hạ tầng công nghệ thực tế của Ban QLDA VICEM Hà Tiên.</a:t>
            </a:r>
            <a:endParaRPr lang="en-US" sz="1100" dirty="0"/>
          </a:p>
          <a:p>
            <a:pPr marL="0" indent="0" algn="l">
              <a:buNone/>
            </a:pPr>
            <a:endParaRPr lang="en-US" sz="1100" dirty="0"/>
          </a:p>
          <a:p>
            <a:pPr marL="0" indent="0" algn="l">
              <a:buNone/>
            </a:pPr>
            <a:r>
              <a:rPr lang="en-US" sz="1100" dirty="0">
                <a:solidFill>
                  <a:srgbClr val="1A2B3C"/>
                </a:solidFill>
              </a:rPr>
              <a:t>Không áp đặt mô hình lý tưởng không phù hợp tổ chức.</a:t>
            </a:r>
            <a:endParaRPr lang="en-US" sz="1100" dirty="0"/>
          </a:p>
        </p:txBody>
      </p:sp>
      <p:sp>
        <p:nvSpPr>
          <p:cNvPr id="15" name="Shape 13"/>
          <p:cNvSpPr/>
          <p:nvPr/>
        </p:nvSpPr>
        <p:spPr>
          <a:xfrm>
            <a:off x="6172200" y="1389888"/>
            <a:ext cx="2743200" cy="2999232"/>
          </a:xfrm>
          <a:prstGeom prst="rect">
            <a:avLst/>
          </a:prstGeom>
          <a:solidFill>
            <a:srgbClr val="F4F7FB"/>
          </a:solidFill>
          <a:ln w="12700">
            <a:solidFill>
              <a:srgbClr val="D0DCE8"/>
            </a:solidFill>
            <a:prstDash val="solid"/>
          </a:ln>
        </p:spPr>
        <p:txBody>
          <a:bodyPr/>
          <a:lstStyle/>
          <a:p>
            <a:endParaRPr lang="en-US"/>
          </a:p>
        </p:txBody>
      </p:sp>
      <p:sp>
        <p:nvSpPr>
          <p:cNvPr id="16" name="Shape 14"/>
          <p:cNvSpPr/>
          <p:nvPr/>
        </p:nvSpPr>
        <p:spPr>
          <a:xfrm>
            <a:off x="6172200" y="1389888"/>
            <a:ext cx="2743200" cy="548640"/>
          </a:xfrm>
          <a:prstGeom prst="rect">
            <a:avLst/>
          </a:prstGeom>
          <a:solidFill>
            <a:srgbClr val="E67E22"/>
          </a:solidFill>
          <a:ln w="12700">
            <a:solidFill>
              <a:srgbClr val="E67E22"/>
            </a:solidFill>
            <a:prstDash val="solid"/>
          </a:ln>
        </p:spPr>
        <p:txBody>
          <a:bodyPr/>
          <a:lstStyle/>
          <a:p>
            <a:endParaRPr lang="en-US"/>
          </a:p>
        </p:txBody>
      </p:sp>
      <p:sp>
        <p:nvSpPr>
          <p:cNvPr id="17" name="Text 15"/>
          <p:cNvSpPr/>
          <p:nvPr/>
        </p:nvSpPr>
        <p:spPr>
          <a:xfrm>
            <a:off x="6172200" y="1389888"/>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rPr>
              <a:t>Nguyên tắc 3</a:t>
            </a:r>
            <a:endParaRPr lang="en-US" sz="1300" dirty="0"/>
          </a:p>
        </p:txBody>
      </p:sp>
      <p:sp>
        <p:nvSpPr>
          <p:cNvPr id="18" name="Text 16"/>
          <p:cNvSpPr/>
          <p:nvPr/>
        </p:nvSpPr>
        <p:spPr>
          <a:xfrm>
            <a:off x="6309360" y="2029968"/>
            <a:ext cx="2468880" cy="502920"/>
          </a:xfrm>
          <a:prstGeom prst="rect">
            <a:avLst/>
          </a:prstGeom>
          <a:noFill/>
          <a:ln/>
        </p:spPr>
        <p:txBody>
          <a:bodyPr wrap="square" lIns="0" tIns="0" rIns="0" bIns="0" rtlCol="0" anchor="ctr"/>
          <a:lstStyle/>
          <a:p>
            <a:pPr marL="0" indent="0" algn="l">
              <a:buNone/>
            </a:pPr>
            <a:r>
              <a:rPr lang="en-US" sz="1300" b="1" dirty="0">
                <a:solidFill>
                  <a:srgbClr val="E67E22"/>
                </a:solidFill>
              </a:rPr>
              <a:t>Hướng đến chuyển đổi số</a:t>
            </a:r>
            <a:endParaRPr lang="en-US" sz="1300" dirty="0"/>
          </a:p>
        </p:txBody>
      </p:sp>
      <p:sp>
        <p:nvSpPr>
          <p:cNvPr id="19" name="Text 17"/>
          <p:cNvSpPr/>
          <p:nvPr/>
        </p:nvSpPr>
        <p:spPr>
          <a:xfrm>
            <a:off x="6309360" y="2606040"/>
            <a:ext cx="2468880" cy="1719072"/>
          </a:xfrm>
          <a:prstGeom prst="rect">
            <a:avLst/>
          </a:prstGeom>
          <a:noFill/>
          <a:ln/>
        </p:spPr>
        <p:txBody>
          <a:bodyPr wrap="square" lIns="0" tIns="0" rIns="0" bIns="0" rtlCol="0" anchor="t"/>
          <a:lstStyle/>
          <a:p>
            <a:pPr marL="0" indent="0" algn="l">
              <a:buNone/>
            </a:pPr>
            <a:r>
              <a:rPr lang="en-US" sz="1100" dirty="0">
                <a:solidFill>
                  <a:srgbClr val="1A2B3C"/>
                </a:solidFill>
              </a:rPr>
              <a:t>Biểu mẫu và luồng phê duyệt được thiết kế theo chuẩn điện tử ngay từ đầu — sẵn sàng tích hợp khi VICEM Hà Tiên triển khai hệ thống QLDA.</a:t>
            </a:r>
            <a:endParaRPr lang="en-US" sz="1100" dirty="0"/>
          </a:p>
          <a:p>
            <a:pPr marL="0" indent="0" algn="l">
              <a:buNone/>
            </a:pPr>
            <a:endParaRPr lang="en-US" sz="1100" dirty="0"/>
          </a:p>
          <a:p>
            <a:pPr marL="0" indent="0" algn="l">
              <a:buNone/>
            </a:pPr>
            <a:r>
              <a:rPr lang="en-US" sz="1100" dirty="0">
                <a:solidFill>
                  <a:srgbClr val="1A2B3C"/>
                </a:solidFill>
              </a:rPr>
              <a:t>Không cần thiết kế lại.</a:t>
            </a:r>
            <a:endParaRPr lang="en-US" sz="1100" dirty="0"/>
          </a:p>
        </p:txBody>
      </p:sp>
      <p:sp>
        <p:nvSpPr>
          <p:cNvPr id="20" name="Shape 18"/>
          <p:cNvSpPr/>
          <p:nvPr/>
        </p:nvSpPr>
        <p:spPr>
          <a:xfrm>
            <a:off x="411480" y="4462272"/>
            <a:ext cx="8321040" cy="384048"/>
          </a:xfrm>
          <a:prstGeom prst="rect">
            <a:avLst/>
          </a:prstGeom>
          <a:solidFill>
            <a:srgbClr val="FEF3E7"/>
          </a:solidFill>
          <a:ln w="12700">
            <a:solidFill>
              <a:srgbClr val="E67E22"/>
            </a:solidFill>
            <a:prstDash val="solid"/>
          </a:ln>
        </p:spPr>
        <p:txBody>
          <a:bodyPr/>
          <a:lstStyle/>
          <a:p>
            <a:endParaRPr lang="en-US"/>
          </a:p>
        </p:txBody>
      </p:sp>
      <p:sp>
        <p:nvSpPr>
          <p:cNvPr id="21" name="Text 19"/>
          <p:cNvSpPr/>
          <p:nvPr/>
        </p:nvSpPr>
        <p:spPr>
          <a:xfrm>
            <a:off x="548640" y="4462272"/>
            <a:ext cx="8229600" cy="384048"/>
          </a:xfrm>
          <a:prstGeom prst="rect">
            <a:avLst/>
          </a:prstGeom>
          <a:noFill/>
          <a:ln/>
        </p:spPr>
        <p:txBody>
          <a:bodyPr wrap="square" lIns="0" tIns="0" rIns="0" bIns="0" rtlCol="0" anchor="ctr"/>
          <a:lstStyle/>
          <a:p>
            <a:pPr marL="0" indent="0" algn="l">
              <a:buNone/>
            </a:pPr>
            <a:r>
              <a:rPr lang="en-US" sz="1000" dirty="0">
                <a:solidFill>
                  <a:srgbClr val="1A2B3C"/>
                </a:solidFill>
              </a:rPr>
              <a:t>Sáng kiến kèm theo:  Legal Change Tracker  |  Biểu mẫu số hóa theo chuẩn điện tử  |  Quy trình BIM/CDE tích hợp ISO 19650  |  Tập huấn tình huống thực tế</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Kế hoạch khảo sát — Giai đoạn 1: Trực tuyến (T+1 đến T+7)</a:t>
            </a:r>
            <a:endParaRPr lang="en-US" sz="2200" dirty="0"/>
          </a:p>
        </p:txBody>
      </p:sp>
      <p:sp>
        <p:nvSpPr>
          <p:cNvPr id="3" name="Shape 1"/>
          <p:cNvSpPr/>
          <p:nvPr/>
        </p:nvSpPr>
        <p:spPr>
          <a:xfrm>
            <a:off x="411480" y="795528"/>
            <a:ext cx="8321040" cy="475487"/>
          </a:xfrm>
          <a:prstGeom prst="rect">
            <a:avLst/>
          </a:prstGeom>
          <a:solidFill>
            <a:srgbClr val="D6E4F0"/>
          </a:solidFill>
          <a:ln w="12700">
            <a:solidFill>
              <a:srgbClr val="D6E4F0"/>
            </a:solidFill>
            <a:prstDash val="solid"/>
          </a:ln>
        </p:spPr>
        <p:txBody>
          <a:bodyPr/>
          <a:lstStyle/>
          <a:p>
            <a:endParaRPr lang="en-US"/>
          </a:p>
        </p:txBody>
      </p:sp>
      <p:sp>
        <p:nvSpPr>
          <p:cNvPr id="4" name="Text 2"/>
          <p:cNvSpPr/>
          <p:nvPr/>
        </p:nvSpPr>
        <p:spPr>
          <a:xfrm>
            <a:off x="594360" y="795528"/>
            <a:ext cx="8092440" cy="475488"/>
          </a:xfrm>
          <a:prstGeom prst="rect">
            <a:avLst/>
          </a:prstGeom>
          <a:noFill/>
          <a:ln/>
        </p:spPr>
        <p:txBody>
          <a:bodyPr wrap="square" lIns="0" tIns="0" rIns="0" bIns="0" rtlCol="0" anchor="ctr"/>
          <a:lstStyle/>
          <a:p>
            <a:pPr marL="0" indent="0" algn="l">
              <a:buNone/>
            </a:pPr>
            <a:r>
              <a:rPr lang="en-US" sz="1150" dirty="0">
                <a:solidFill>
                  <a:srgbClr val="1E3A5F"/>
                </a:solidFill>
              </a:rPr>
              <a:t>Mục đích: Thu thập dữ liệu nền về hiện trạng áp dụng 8 quy trình hiện có + nhu cầu 4 quy trình mới TRƯỚC khi khảo sát thực địa, để phỏng vấn trực tiếp tập trung vào vấn đề trọng tâm.</a:t>
            </a:r>
            <a:endParaRPr lang="en-US" sz="1150" dirty="0"/>
          </a:p>
        </p:txBody>
      </p:sp>
      <p:sp>
        <p:nvSpPr>
          <p:cNvPr id="5" name="Shape 3"/>
          <p:cNvSpPr/>
          <p:nvPr/>
        </p:nvSpPr>
        <p:spPr>
          <a:xfrm>
            <a:off x="548640" y="1874520"/>
            <a:ext cx="8046720" cy="0"/>
          </a:xfrm>
          <a:prstGeom prst="line">
            <a:avLst/>
          </a:prstGeom>
          <a:noFill/>
          <a:ln w="25400">
            <a:solidFill>
              <a:srgbClr val="1E3A5F"/>
            </a:solidFill>
            <a:prstDash val="solid"/>
          </a:ln>
        </p:spPr>
        <p:txBody>
          <a:bodyPr/>
          <a:lstStyle/>
          <a:p>
            <a:endParaRPr lang="en-US"/>
          </a:p>
        </p:txBody>
      </p:sp>
      <p:sp>
        <p:nvSpPr>
          <p:cNvPr id="6" name="Shape 4"/>
          <p:cNvSpPr/>
          <p:nvPr/>
        </p:nvSpPr>
        <p:spPr>
          <a:xfrm>
            <a:off x="969264" y="1746504"/>
            <a:ext cx="256032" cy="256032"/>
          </a:xfrm>
          <a:prstGeom prst="ellipse">
            <a:avLst/>
          </a:prstGeom>
          <a:solidFill>
            <a:srgbClr val="E67E22"/>
          </a:solidFill>
          <a:ln w="12700">
            <a:solidFill>
              <a:srgbClr val="E67E22"/>
            </a:solidFill>
            <a:prstDash val="solid"/>
          </a:ln>
        </p:spPr>
        <p:txBody>
          <a:bodyPr/>
          <a:lstStyle/>
          <a:p>
            <a:endParaRPr lang="en-US"/>
          </a:p>
        </p:txBody>
      </p:sp>
      <p:sp>
        <p:nvSpPr>
          <p:cNvPr id="7" name="Shape 5"/>
          <p:cNvSpPr/>
          <p:nvPr/>
        </p:nvSpPr>
        <p:spPr>
          <a:xfrm>
            <a:off x="795528" y="1325880"/>
            <a:ext cx="585216" cy="347472"/>
          </a:xfrm>
          <a:prstGeom prst="rect">
            <a:avLst/>
          </a:prstGeom>
          <a:solidFill>
            <a:srgbClr val="1E3A5F"/>
          </a:solidFill>
          <a:ln w="12700">
            <a:solidFill>
              <a:srgbClr val="1E3A5F"/>
            </a:solidFill>
            <a:prstDash val="solid"/>
          </a:ln>
        </p:spPr>
        <p:txBody>
          <a:bodyPr/>
          <a:lstStyle/>
          <a:p>
            <a:endParaRPr lang="en-US"/>
          </a:p>
        </p:txBody>
      </p:sp>
      <p:sp>
        <p:nvSpPr>
          <p:cNvPr id="8" name="Text 6"/>
          <p:cNvSpPr/>
          <p:nvPr/>
        </p:nvSpPr>
        <p:spPr>
          <a:xfrm>
            <a:off x="804672" y="1325880"/>
            <a:ext cx="585216" cy="347472"/>
          </a:xfrm>
          <a:prstGeom prst="rect">
            <a:avLst/>
          </a:prstGeom>
          <a:noFill/>
          <a:ln/>
        </p:spPr>
        <p:txBody>
          <a:bodyPr wrap="square" lIns="0" tIns="0" rIns="0" bIns="0" rtlCol="0" anchor="ctr"/>
          <a:lstStyle/>
          <a:p>
            <a:pPr marL="0" indent="0" algn="ctr">
              <a:buNone/>
            </a:pPr>
            <a:r>
              <a:rPr lang="en-US" sz="1100" b="1" dirty="0">
                <a:solidFill>
                  <a:srgbClr val="E67E22"/>
                </a:solidFill>
              </a:rPr>
              <a:t>T+1</a:t>
            </a:r>
            <a:endParaRPr lang="en-US" sz="1100" dirty="0"/>
          </a:p>
        </p:txBody>
      </p:sp>
      <p:sp>
        <p:nvSpPr>
          <p:cNvPr id="9" name="Text 7"/>
          <p:cNvSpPr/>
          <p:nvPr/>
        </p:nvSpPr>
        <p:spPr>
          <a:xfrm>
            <a:off x="411480" y="2176272"/>
            <a:ext cx="2011680" cy="347472"/>
          </a:xfrm>
          <a:prstGeom prst="rect">
            <a:avLst/>
          </a:prstGeom>
          <a:noFill/>
          <a:ln/>
        </p:spPr>
        <p:txBody>
          <a:bodyPr wrap="square" lIns="0" tIns="0" rIns="0" bIns="0" rtlCol="0" anchor="ctr"/>
          <a:lstStyle/>
          <a:p>
            <a:pPr marL="0" indent="0" algn="ctr">
              <a:buNone/>
            </a:pPr>
            <a:r>
              <a:rPr lang="en-US" sz="1100" b="1" dirty="0">
                <a:solidFill>
                  <a:srgbClr val="1E3A5F"/>
                </a:solidFill>
              </a:rPr>
              <a:t>Gửi thư điện tử giới thiệu</a:t>
            </a:r>
            <a:endParaRPr lang="en-US" sz="1100" dirty="0"/>
          </a:p>
        </p:txBody>
      </p:sp>
      <p:sp>
        <p:nvSpPr>
          <p:cNvPr id="10" name="Text 8"/>
          <p:cNvSpPr/>
          <p:nvPr/>
        </p:nvSpPr>
        <p:spPr>
          <a:xfrm>
            <a:off x="411480" y="2496312"/>
            <a:ext cx="2011680" cy="713232"/>
          </a:xfrm>
          <a:prstGeom prst="rect">
            <a:avLst/>
          </a:prstGeom>
          <a:noFill/>
          <a:ln/>
        </p:spPr>
        <p:txBody>
          <a:bodyPr wrap="square" lIns="0" tIns="0" rIns="0" bIns="0" rtlCol="0" anchor="ctr"/>
          <a:lstStyle/>
          <a:p>
            <a:pPr marL="0" indent="0" algn="ctr">
              <a:buNone/>
            </a:pPr>
            <a:r>
              <a:rPr lang="en-US" sz="950" dirty="0">
                <a:solidFill>
                  <a:srgbClr val="4A6280"/>
                </a:solidFill>
              </a:rPr>
              <a:t>Kèm đường dẫn biểu mẫu khảo sát trực tuyến cho đầu mối VICEM Hà Tiên</a:t>
            </a:r>
            <a:endParaRPr lang="en-US" sz="950" dirty="0"/>
          </a:p>
        </p:txBody>
      </p:sp>
      <p:sp>
        <p:nvSpPr>
          <p:cNvPr id="11" name="Shape 9"/>
          <p:cNvSpPr/>
          <p:nvPr/>
        </p:nvSpPr>
        <p:spPr>
          <a:xfrm>
            <a:off x="3282696" y="1746504"/>
            <a:ext cx="256032" cy="256032"/>
          </a:xfrm>
          <a:prstGeom prst="ellipse">
            <a:avLst/>
          </a:prstGeom>
          <a:solidFill>
            <a:srgbClr val="E67E22"/>
          </a:solidFill>
          <a:ln w="12700">
            <a:solidFill>
              <a:srgbClr val="E67E22"/>
            </a:solidFill>
            <a:prstDash val="solid"/>
          </a:ln>
        </p:spPr>
        <p:txBody>
          <a:bodyPr/>
          <a:lstStyle/>
          <a:p>
            <a:endParaRPr lang="en-US"/>
          </a:p>
        </p:txBody>
      </p:sp>
      <p:sp>
        <p:nvSpPr>
          <p:cNvPr id="12" name="Shape 10"/>
          <p:cNvSpPr/>
          <p:nvPr/>
        </p:nvSpPr>
        <p:spPr>
          <a:xfrm>
            <a:off x="3118104" y="1325880"/>
            <a:ext cx="585216" cy="347472"/>
          </a:xfrm>
          <a:prstGeom prst="rect">
            <a:avLst/>
          </a:prstGeom>
          <a:solidFill>
            <a:srgbClr val="1E3A5F"/>
          </a:solidFill>
          <a:ln w="12700">
            <a:solidFill>
              <a:srgbClr val="1E3A5F"/>
            </a:solidFill>
            <a:prstDash val="solid"/>
          </a:ln>
        </p:spPr>
        <p:txBody>
          <a:bodyPr/>
          <a:lstStyle/>
          <a:p>
            <a:endParaRPr lang="en-US"/>
          </a:p>
        </p:txBody>
      </p:sp>
      <p:sp>
        <p:nvSpPr>
          <p:cNvPr id="13" name="Text 11"/>
          <p:cNvSpPr/>
          <p:nvPr/>
        </p:nvSpPr>
        <p:spPr>
          <a:xfrm>
            <a:off x="3118104" y="1325880"/>
            <a:ext cx="585216" cy="347472"/>
          </a:xfrm>
          <a:prstGeom prst="rect">
            <a:avLst/>
          </a:prstGeom>
          <a:noFill/>
          <a:ln/>
        </p:spPr>
        <p:txBody>
          <a:bodyPr wrap="square" lIns="0" tIns="0" rIns="0" bIns="0" rtlCol="0" anchor="ctr"/>
          <a:lstStyle/>
          <a:p>
            <a:pPr marL="0" indent="0" algn="ctr">
              <a:buNone/>
            </a:pPr>
            <a:r>
              <a:rPr lang="en-US" sz="1100" b="1" dirty="0">
                <a:solidFill>
                  <a:srgbClr val="E67E22"/>
                </a:solidFill>
              </a:rPr>
              <a:t>T+2</a:t>
            </a:r>
            <a:endParaRPr lang="en-US" sz="1100" dirty="0"/>
          </a:p>
        </p:txBody>
      </p:sp>
      <p:sp>
        <p:nvSpPr>
          <p:cNvPr id="14" name="Text 12"/>
          <p:cNvSpPr/>
          <p:nvPr/>
        </p:nvSpPr>
        <p:spPr>
          <a:xfrm>
            <a:off x="2404872" y="2176272"/>
            <a:ext cx="2011680" cy="347472"/>
          </a:xfrm>
          <a:prstGeom prst="rect">
            <a:avLst/>
          </a:prstGeom>
          <a:noFill/>
          <a:ln/>
        </p:spPr>
        <p:txBody>
          <a:bodyPr wrap="square" lIns="0" tIns="0" rIns="0" bIns="0" rtlCol="0" anchor="ctr"/>
          <a:lstStyle/>
          <a:p>
            <a:pPr marL="0" indent="0" algn="ctr">
              <a:buNone/>
            </a:pPr>
            <a:r>
              <a:rPr lang="en-US" sz="1100" b="1" dirty="0">
                <a:solidFill>
                  <a:srgbClr val="1E3A5F"/>
                </a:solidFill>
              </a:rPr>
              <a:t>VICEM chuyển tiếp nội bộ</a:t>
            </a:r>
            <a:endParaRPr lang="en-US" sz="1100" dirty="0"/>
          </a:p>
        </p:txBody>
      </p:sp>
      <p:sp>
        <p:nvSpPr>
          <p:cNvPr id="15" name="Text 13"/>
          <p:cNvSpPr/>
          <p:nvPr/>
        </p:nvSpPr>
        <p:spPr>
          <a:xfrm>
            <a:off x="2404872" y="2496312"/>
            <a:ext cx="2011680" cy="713232"/>
          </a:xfrm>
          <a:prstGeom prst="rect">
            <a:avLst/>
          </a:prstGeom>
          <a:noFill/>
          <a:ln/>
        </p:spPr>
        <p:txBody>
          <a:bodyPr wrap="square" lIns="0" tIns="0" rIns="0" bIns="0" rtlCol="0" anchor="ctr"/>
          <a:lstStyle/>
          <a:p>
            <a:pPr marL="0" indent="0" algn="ctr">
              <a:buNone/>
            </a:pPr>
            <a:r>
              <a:rPr lang="en-US" sz="950" dirty="0">
                <a:solidFill>
                  <a:srgbClr val="4A6280"/>
                </a:solidFill>
              </a:rPr>
              <a:t>Gửi tới các phòng ban, Ban QLDA và đơn vị liên quan</a:t>
            </a:r>
            <a:endParaRPr lang="en-US" sz="950" dirty="0"/>
          </a:p>
        </p:txBody>
      </p:sp>
      <p:sp>
        <p:nvSpPr>
          <p:cNvPr id="16" name="Shape 14"/>
          <p:cNvSpPr/>
          <p:nvPr/>
        </p:nvSpPr>
        <p:spPr>
          <a:xfrm>
            <a:off x="5605272" y="1746504"/>
            <a:ext cx="256032" cy="256032"/>
          </a:xfrm>
          <a:prstGeom prst="ellipse">
            <a:avLst/>
          </a:prstGeom>
          <a:solidFill>
            <a:srgbClr val="E67E22"/>
          </a:solidFill>
          <a:ln w="12700">
            <a:solidFill>
              <a:srgbClr val="E67E22"/>
            </a:solidFill>
            <a:prstDash val="solid"/>
          </a:ln>
        </p:spPr>
        <p:txBody>
          <a:bodyPr/>
          <a:lstStyle/>
          <a:p>
            <a:endParaRPr lang="en-US"/>
          </a:p>
        </p:txBody>
      </p:sp>
      <p:sp>
        <p:nvSpPr>
          <p:cNvPr id="17" name="Shape 15"/>
          <p:cNvSpPr/>
          <p:nvPr/>
        </p:nvSpPr>
        <p:spPr>
          <a:xfrm>
            <a:off x="5440680" y="1325880"/>
            <a:ext cx="585216" cy="347472"/>
          </a:xfrm>
          <a:prstGeom prst="rect">
            <a:avLst/>
          </a:prstGeom>
          <a:solidFill>
            <a:srgbClr val="1E3A5F"/>
          </a:solidFill>
          <a:ln w="12700">
            <a:solidFill>
              <a:srgbClr val="1E3A5F"/>
            </a:solidFill>
            <a:prstDash val="solid"/>
          </a:ln>
        </p:spPr>
        <p:txBody>
          <a:bodyPr/>
          <a:lstStyle/>
          <a:p>
            <a:endParaRPr lang="en-US"/>
          </a:p>
        </p:txBody>
      </p:sp>
      <p:sp>
        <p:nvSpPr>
          <p:cNvPr id="18" name="Text 16"/>
          <p:cNvSpPr/>
          <p:nvPr/>
        </p:nvSpPr>
        <p:spPr>
          <a:xfrm>
            <a:off x="5440680" y="1325880"/>
            <a:ext cx="585216" cy="347472"/>
          </a:xfrm>
          <a:prstGeom prst="rect">
            <a:avLst/>
          </a:prstGeom>
          <a:noFill/>
          <a:ln/>
        </p:spPr>
        <p:txBody>
          <a:bodyPr wrap="square" lIns="0" tIns="0" rIns="0" bIns="0" rtlCol="0" anchor="ctr"/>
          <a:lstStyle/>
          <a:p>
            <a:pPr marL="0" indent="0" algn="ctr">
              <a:buNone/>
            </a:pPr>
            <a:r>
              <a:rPr lang="en-US" sz="1100" b="1" dirty="0">
                <a:solidFill>
                  <a:srgbClr val="E67E22"/>
                </a:solidFill>
              </a:rPr>
              <a:t>T+5</a:t>
            </a:r>
            <a:endParaRPr lang="en-US" sz="1100" dirty="0"/>
          </a:p>
        </p:txBody>
      </p:sp>
      <p:sp>
        <p:nvSpPr>
          <p:cNvPr id="19" name="Text 17"/>
          <p:cNvSpPr/>
          <p:nvPr/>
        </p:nvSpPr>
        <p:spPr>
          <a:xfrm>
            <a:off x="4727448" y="2176272"/>
            <a:ext cx="2011680" cy="347472"/>
          </a:xfrm>
          <a:prstGeom prst="rect">
            <a:avLst/>
          </a:prstGeom>
          <a:noFill/>
          <a:ln/>
        </p:spPr>
        <p:txBody>
          <a:bodyPr wrap="square" lIns="0" tIns="0" rIns="0" bIns="0" rtlCol="0" anchor="ctr"/>
          <a:lstStyle/>
          <a:p>
            <a:pPr marL="0" indent="0" algn="ctr">
              <a:buNone/>
            </a:pPr>
            <a:r>
              <a:rPr lang="en-US" sz="1100" b="1" dirty="0">
                <a:solidFill>
                  <a:srgbClr val="1E3A5F"/>
                </a:solidFill>
              </a:rPr>
              <a:t>Nhắc nhở lần 1</a:t>
            </a:r>
            <a:endParaRPr lang="en-US" sz="1100" dirty="0"/>
          </a:p>
        </p:txBody>
      </p:sp>
      <p:sp>
        <p:nvSpPr>
          <p:cNvPr id="20" name="Text 18"/>
          <p:cNvSpPr/>
          <p:nvPr/>
        </p:nvSpPr>
        <p:spPr>
          <a:xfrm>
            <a:off x="4727448" y="2496312"/>
            <a:ext cx="2011680" cy="713232"/>
          </a:xfrm>
          <a:prstGeom prst="rect">
            <a:avLst/>
          </a:prstGeom>
          <a:noFill/>
          <a:ln/>
        </p:spPr>
        <p:txBody>
          <a:bodyPr wrap="square" lIns="0" tIns="0" rIns="0" bIns="0" rtlCol="0" anchor="ctr"/>
          <a:lstStyle/>
          <a:p>
            <a:pPr marL="0" indent="0" algn="ctr">
              <a:buNone/>
            </a:pPr>
            <a:r>
              <a:rPr lang="en-US" sz="950" dirty="0">
                <a:solidFill>
                  <a:srgbClr val="4A6280"/>
                </a:solidFill>
              </a:rPr>
              <a:t>CIC gửi email nhắc nhở — theo dõi tỷ lệ phản hồi</a:t>
            </a:r>
            <a:endParaRPr lang="en-US" sz="950" dirty="0"/>
          </a:p>
        </p:txBody>
      </p:sp>
      <p:sp>
        <p:nvSpPr>
          <p:cNvPr id="21" name="Shape 19"/>
          <p:cNvSpPr/>
          <p:nvPr/>
        </p:nvSpPr>
        <p:spPr>
          <a:xfrm>
            <a:off x="7872984" y="1746504"/>
            <a:ext cx="256032" cy="256032"/>
          </a:xfrm>
          <a:prstGeom prst="ellipse">
            <a:avLst/>
          </a:prstGeom>
          <a:solidFill>
            <a:srgbClr val="E67E22"/>
          </a:solidFill>
          <a:ln w="12700">
            <a:solidFill>
              <a:srgbClr val="E67E22"/>
            </a:solidFill>
            <a:prstDash val="solid"/>
          </a:ln>
        </p:spPr>
        <p:txBody>
          <a:bodyPr/>
          <a:lstStyle/>
          <a:p>
            <a:endParaRPr lang="en-US"/>
          </a:p>
        </p:txBody>
      </p:sp>
      <p:sp>
        <p:nvSpPr>
          <p:cNvPr id="22" name="Shape 20"/>
          <p:cNvSpPr/>
          <p:nvPr/>
        </p:nvSpPr>
        <p:spPr>
          <a:xfrm>
            <a:off x="7708392" y="1325880"/>
            <a:ext cx="585216" cy="347472"/>
          </a:xfrm>
          <a:prstGeom prst="rect">
            <a:avLst/>
          </a:prstGeom>
          <a:solidFill>
            <a:srgbClr val="1E3A5F"/>
          </a:solidFill>
          <a:ln w="12700">
            <a:solidFill>
              <a:srgbClr val="1E3A5F"/>
            </a:solidFill>
            <a:prstDash val="solid"/>
          </a:ln>
        </p:spPr>
        <p:txBody>
          <a:bodyPr/>
          <a:lstStyle/>
          <a:p>
            <a:endParaRPr lang="en-US"/>
          </a:p>
        </p:txBody>
      </p:sp>
      <p:sp>
        <p:nvSpPr>
          <p:cNvPr id="23" name="Text 21"/>
          <p:cNvSpPr/>
          <p:nvPr/>
        </p:nvSpPr>
        <p:spPr>
          <a:xfrm>
            <a:off x="7708392" y="1325880"/>
            <a:ext cx="585216" cy="347472"/>
          </a:xfrm>
          <a:prstGeom prst="rect">
            <a:avLst/>
          </a:prstGeom>
          <a:noFill/>
          <a:ln/>
        </p:spPr>
        <p:txBody>
          <a:bodyPr wrap="square" lIns="0" tIns="0" rIns="0" bIns="0" rtlCol="0" anchor="ctr"/>
          <a:lstStyle/>
          <a:p>
            <a:pPr marL="0" indent="0" algn="ctr">
              <a:buNone/>
            </a:pPr>
            <a:r>
              <a:rPr lang="en-US" sz="1100" b="1" dirty="0">
                <a:solidFill>
                  <a:srgbClr val="E67E22"/>
                </a:solidFill>
              </a:rPr>
              <a:t>T+7</a:t>
            </a:r>
            <a:endParaRPr lang="en-US" sz="1100" dirty="0"/>
          </a:p>
        </p:txBody>
      </p:sp>
      <p:sp>
        <p:nvSpPr>
          <p:cNvPr id="24" name="Text 22"/>
          <p:cNvSpPr/>
          <p:nvPr/>
        </p:nvSpPr>
        <p:spPr>
          <a:xfrm>
            <a:off x="6720840" y="2176272"/>
            <a:ext cx="2011680" cy="347472"/>
          </a:xfrm>
          <a:prstGeom prst="rect">
            <a:avLst/>
          </a:prstGeom>
          <a:noFill/>
          <a:ln/>
        </p:spPr>
        <p:txBody>
          <a:bodyPr wrap="square" lIns="0" tIns="0" rIns="0" bIns="0" rtlCol="0" anchor="ctr"/>
          <a:lstStyle/>
          <a:p>
            <a:pPr marL="0" indent="0" algn="ctr">
              <a:buNone/>
            </a:pPr>
            <a:r>
              <a:rPr lang="en-US" sz="1100" b="1" dirty="0">
                <a:solidFill>
                  <a:srgbClr val="1E3A5F"/>
                </a:solidFill>
              </a:rPr>
              <a:t>Hạn chót trả lời</a:t>
            </a:r>
            <a:endParaRPr lang="en-US" sz="1100" dirty="0"/>
          </a:p>
        </p:txBody>
      </p:sp>
      <p:sp>
        <p:nvSpPr>
          <p:cNvPr id="25" name="Text 23"/>
          <p:cNvSpPr/>
          <p:nvPr/>
        </p:nvSpPr>
        <p:spPr>
          <a:xfrm>
            <a:off x="6720840" y="2496312"/>
            <a:ext cx="2011680" cy="713232"/>
          </a:xfrm>
          <a:prstGeom prst="rect">
            <a:avLst/>
          </a:prstGeom>
          <a:noFill/>
          <a:ln/>
        </p:spPr>
        <p:txBody>
          <a:bodyPr wrap="square" lIns="0" tIns="0" rIns="0" bIns="0" rtlCol="0" anchor="ctr"/>
          <a:lstStyle/>
          <a:p>
            <a:pPr marL="0" indent="0" algn="ctr">
              <a:buNone/>
            </a:pPr>
            <a:r>
              <a:rPr lang="en-US" sz="950" dirty="0">
                <a:solidFill>
                  <a:srgbClr val="4A6280"/>
                </a:solidFill>
              </a:rPr>
              <a:t>CIC tổng hợp kết quả, chuẩn bị câu hỏi phỏng vấn sâu cho thực địa</a:t>
            </a:r>
            <a:endParaRPr lang="en-US" sz="950" dirty="0"/>
          </a:p>
        </p:txBody>
      </p:sp>
      <p:sp>
        <p:nvSpPr>
          <p:cNvPr id="26" name="Shape 24"/>
          <p:cNvSpPr/>
          <p:nvPr/>
        </p:nvSpPr>
        <p:spPr>
          <a:xfrm>
            <a:off x="411480" y="3291840"/>
            <a:ext cx="8321040" cy="1536192"/>
          </a:xfrm>
          <a:prstGeom prst="rect">
            <a:avLst/>
          </a:prstGeom>
          <a:solidFill>
            <a:srgbClr val="F4F7FB"/>
          </a:solidFill>
          <a:ln w="12700">
            <a:solidFill>
              <a:srgbClr val="D0DCE8"/>
            </a:solidFill>
            <a:prstDash val="solid"/>
          </a:ln>
        </p:spPr>
        <p:txBody>
          <a:bodyPr/>
          <a:lstStyle/>
          <a:p>
            <a:endParaRPr lang="en-US"/>
          </a:p>
        </p:txBody>
      </p:sp>
      <p:sp>
        <p:nvSpPr>
          <p:cNvPr id="27" name="Text 25"/>
          <p:cNvSpPr/>
          <p:nvPr/>
        </p:nvSpPr>
        <p:spPr>
          <a:xfrm>
            <a:off x="594360" y="3346704"/>
            <a:ext cx="8046720" cy="347472"/>
          </a:xfrm>
          <a:prstGeom prst="rect">
            <a:avLst/>
          </a:prstGeom>
          <a:noFill/>
          <a:ln/>
        </p:spPr>
        <p:txBody>
          <a:bodyPr wrap="square" lIns="0" tIns="0" rIns="0" bIns="0" rtlCol="0" anchor="ctr"/>
          <a:lstStyle/>
          <a:p>
            <a:pPr marL="0" indent="0" algn="l">
              <a:buNone/>
            </a:pPr>
            <a:r>
              <a:rPr lang="en-US" sz="1200" b="1" dirty="0">
                <a:solidFill>
                  <a:srgbClr val="1E3A5F"/>
                </a:solidFill>
              </a:rPr>
              <a:t>Song song (Ngày 1–7): CIC triển khai đồng thời rà soát tài liệu quy trình hiện hành &amp; lập Legal Gap Matrix sơ bộ</a:t>
            </a:r>
            <a:endParaRPr lang="en-US" sz="1200" dirty="0"/>
          </a:p>
        </p:txBody>
      </p:sp>
      <p:sp>
        <p:nvSpPr>
          <p:cNvPr id="28" name="Text 26"/>
          <p:cNvSpPr/>
          <p:nvPr/>
        </p:nvSpPr>
        <p:spPr>
          <a:xfrm>
            <a:off x="594360" y="3749040"/>
            <a:ext cx="8046720" cy="310896"/>
          </a:xfrm>
          <a:prstGeom prst="rect">
            <a:avLst/>
          </a:prstGeom>
          <a:noFill/>
          <a:ln/>
        </p:spPr>
        <p:txBody>
          <a:bodyPr wrap="square" lIns="0" tIns="0" rIns="0" bIns="0" rtlCol="0" anchor="ctr"/>
          <a:lstStyle/>
          <a:p>
            <a:pPr marL="0" indent="0" algn="l">
              <a:buNone/>
            </a:pPr>
            <a:r>
              <a:rPr lang="en-US" sz="1100" dirty="0">
                <a:solidFill>
                  <a:srgbClr val="1A2B3C"/>
                </a:solidFill>
              </a:rPr>
              <a:t>▸  Rà soát 8 quy trình hiện hành so sánh với Luật XD 135/2025 và 05 Nghị định hướng dẫn</a:t>
            </a:r>
            <a:endParaRPr lang="en-US" sz="1100" dirty="0"/>
          </a:p>
        </p:txBody>
      </p:sp>
      <p:sp>
        <p:nvSpPr>
          <p:cNvPr id="29" name="Text 27"/>
          <p:cNvSpPr/>
          <p:nvPr/>
        </p:nvSpPr>
        <p:spPr>
          <a:xfrm>
            <a:off x="594360" y="4078224"/>
            <a:ext cx="8046720" cy="310896"/>
          </a:xfrm>
          <a:prstGeom prst="rect">
            <a:avLst/>
          </a:prstGeom>
          <a:noFill/>
          <a:ln/>
        </p:spPr>
        <p:txBody>
          <a:bodyPr wrap="square" lIns="0" tIns="0" rIns="0" bIns="0" rtlCol="0" anchor="ctr"/>
          <a:lstStyle/>
          <a:p>
            <a:pPr marL="0" indent="0" algn="l">
              <a:buNone/>
            </a:pPr>
            <a:r>
              <a:rPr lang="en-US" sz="1100" dirty="0">
                <a:solidFill>
                  <a:srgbClr val="1A2B3C"/>
                </a:solidFill>
              </a:rPr>
              <a:t>▸  Xác định sơ bộ khoảng cách pháp lý theo 3 mức: Đáp ứng / Cần cập nhật / Chưa có quy định</a:t>
            </a:r>
            <a:endParaRPr lang="en-US" sz="1100" dirty="0"/>
          </a:p>
        </p:txBody>
      </p:sp>
      <p:sp>
        <p:nvSpPr>
          <p:cNvPr id="30" name="Text 28"/>
          <p:cNvSpPr/>
          <p:nvPr/>
        </p:nvSpPr>
        <p:spPr>
          <a:xfrm>
            <a:off x="594360" y="4407408"/>
            <a:ext cx="8046720" cy="310896"/>
          </a:xfrm>
          <a:prstGeom prst="rect">
            <a:avLst/>
          </a:prstGeom>
          <a:noFill/>
          <a:ln/>
        </p:spPr>
        <p:txBody>
          <a:bodyPr wrap="square" lIns="0" tIns="0" rIns="0" bIns="0" rtlCol="0" anchor="ctr"/>
          <a:lstStyle/>
          <a:p>
            <a:pPr marL="0" indent="0" algn="l">
              <a:buNone/>
            </a:pPr>
            <a:r>
              <a:rPr lang="en-US" sz="1100" dirty="0">
                <a:solidFill>
                  <a:srgbClr val="1A2B3C"/>
                </a:solidFill>
              </a:rPr>
              <a:t>▸  Chuẩn bị câu hỏi phỏng vấn sâu cho từng nhóm đối tượng trước khi thực địa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1800" b="1" dirty="0">
                <a:solidFill>
                  <a:srgbClr val="1E3A5F"/>
                </a:solidFill>
              </a:rPr>
              <a:t>Kế hoạch khảo sát — Giai đoạn 2: Thực địa 2 ngày tại VICEM Hà Tiên (T+10–T+11)</a:t>
            </a:r>
            <a:endParaRPr lang="en-US" sz="1800" dirty="0"/>
          </a:p>
        </p:txBody>
      </p:sp>
      <p:sp>
        <p:nvSpPr>
          <p:cNvPr id="3" name="Shape 1"/>
          <p:cNvSpPr/>
          <p:nvPr/>
        </p:nvSpPr>
        <p:spPr>
          <a:xfrm>
            <a:off x="411480" y="777240"/>
            <a:ext cx="4114800" cy="347472"/>
          </a:xfrm>
          <a:prstGeom prst="rect">
            <a:avLst/>
          </a:prstGeom>
          <a:solidFill>
            <a:srgbClr val="1E3A5F"/>
          </a:solidFill>
          <a:ln w="12700">
            <a:solidFill>
              <a:srgbClr val="1E3A5F"/>
            </a:solidFill>
            <a:prstDash val="solid"/>
          </a:ln>
        </p:spPr>
        <p:txBody>
          <a:bodyPr/>
          <a:lstStyle/>
          <a:p>
            <a:endParaRPr lang="en-US"/>
          </a:p>
        </p:txBody>
      </p:sp>
      <p:sp>
        <p:nvSpPr>
          <p:cNvPr id="4" name="Text 2"/>
          <p:cNvSpPr/>
          <p:nvPr/>
        </p:nvSpPr>
        <p:spPr>
          <a:xfrm>
            <a:off x="502920" y="777240"/>
            <a:ext cx="4023360" cy="347472"/>
          </a:xfrm>
          <a:prstGeom prst="rect">
            <a:avLst/>
          </a:prstGeom>
          <a:noFill/>
          <a:ln/>
        </p:spPr>
        <p:txBody>
          <a:bodyPr wrap="square" lIns="0" tIns="0" rIns="0" bIns="0" rtlCol="0" anchor="ctr"/>
          <a:lstStyle/>
          <a:p>
            <a:pPr marL="0" indent="0" algn="l">
              <a:buNone/>
            </a:pPr>
            <a:r>
              <a:rPr lang="en-US" sz="1200" b="1" dirty="0">
                <a:solidFill>
                  <a:srgbClr val="FFFFFF"/>
                </a:solidFill>
              </a:rPr>
              <a:t>NGÀY 1 (T+10)</a:t>
            </a:r>
            <a:endParaRPr lang="en-US" sz="1200" dirty="0"/>
          </a:p>
        </p:txBody>
      </p:sp>
      <p:sp>
        <p:nvSpPr>
          <p:cNvPr id="5" name="Shape 3"/>
          <p:cNvSpPr/>
          <p:nvPr/>
        </p:nvSpPr>
        <p:spPr>
          <a:xfrm>
            <a:off x="411480" y="1197864"/>
            <a:ext cx="4114800" cy="365760"/>
          </a:xfrm>
          <a:prstGeom prst="rect">
            <a:avLst/>
          </a:prstGeom>
          <a:solidFill>
            <a:srgbClr val="F4F7FB"/>
          </a:solidFill>
          <a:ln w="12700">
            <a:solidFill>
              <a:srgbClr val="D0DCE8"/>
            </a:solidFill>
            <a:prstDash val="solid"/>
          </a:ln>
        </p:spPr>
        <p:txBody>
          <a:bodyPr/>
          <a:lstStyle/>
          <a:p>
            <a:endParaRPr lang="en-US"/>
          </a:p>
        </p:txBody>
      </p:sp>
      <p:sp>
        <p:nvSpPr>
          <p:cNvPr id="6" name="Text 4"/>
          <p:cNvSpPr/>
          <p:nvPr/>
        </p:nvSpPr>
        <p:spPr>
          <a:xfrm>
            <a:off x="438912" y="1197864"/>
            <a:ext cx="960120" cy="365760"/>
          </a:xfrm>
          <a:prstGeom prst="rect">
            <a:avLst/>
          </a:prstGeom>
          <a:noFill/>
          <a:ln/>
        </p:spPr>
        <p:txBody>
          <a:bodyPr wrap="square" lIns="0" tIns="0" rIns="0" bIns="0" rtlCol="0" anchor="ctr"/>
          <a:lstStyle/>
          <a:p>
            <a:pPr marL="0" indent="0" algn="l">
              <a:buNone/>
            </a:pPr>
            <a:r>
              <a:rPr lang="en-US" sz="900" b="1" dirty="0">
                <a:solidFill>
                  <a:srgbClr val="1E3A5F"/>
                </a:solidFill>
              </a:rPr>
              <a:t>08:30–09:00</a:t>
            </a:r>
            <a:endParaRPr lang="en-US" sz="900" dirty="0"/>
          </a:p>
        </p:txBody>
      </p:sp>
      <p:sp>
        <p:nvSpPr>
          <p:cNvPr id="7" name="Text 5"/>
          <p:cNvSpPr/>
          <p:nvPr/>
        </p:nvSpPr>
        <p:spPr>
          <a:xfrm>
            <a:off x="1389888" y="1197864"/>
            <a:ext cx="1051560" cy="365760"/>
          </a:xfrm>
          <a:prstGeom prst="rect">
            <a:avLst/>
          </a:prstGeom>
          <a:noFill/>
          <a:ln/>
        </p:spPr>
        <p:txBody>
          <a:bodyPr wrap="square" lIns="0" tIns="0" rIns="0" bIns="0" rtlCol="0" anchor="ctr"/>
          <a:lstStyle/>
          <a:p>
            <a:pPr marL="0" indent="0" algn="l">
              <a:buNone/>
            </a:pPr>
            <a:r>
              <a:rPr lang="en-US" sz="950" b="1" dirty="0">
                <a:solidFill>
                  <a:srgbClr val="E67E22"/>
                </a:solidFill>
              </a:rPr>
              <a:t>Khai mạc</a:t>
            </a:r>
            <a:endParaRPr lang="en-US" sz="950" dirty="0"/>
          </a:p>
        </p:txBody>
      </p:sp>
      <p:sp>
        <p:nvSpPr>
          <p:cNvPr id="8" name="Text 6"/>
          <p:cNvSpPr/>
          <p:nvPr/>
        </p:nvSpPr>
        <p:spPr>
          <a:xfrm>
            <a:off x="2423160" y="1197864"/>
            <a:ext cx="1051560" cy="365760"/>
          </a:xfrm>
          <a:prstGeom prst="rect">
            <a:avLst/>
          </a:prstGeom>
          <a:noFill/>
          <a:ln/>
        </p:spPr>
        <p:txBody>
          <a:bodyPr wrap="square" lIns="0" tIns="0" rIns="0" bIns="0" rtlCol="0" anchor="ctr"/>
          <a:lstStyle/>
          <a:p>
            <a:pPr marL="0" indent="0" algn="l">
              <a:buNone/>
            </a:pPr>
            <a:r>
              <a:rPr lang="en-US" sz="850" dirty="0">
                <a:solidFill>
                  <a:srgbClr val="4A6280"/>
                </a:solidFill>
              </a:rPr>
              <a:t>Tất cả</a:t>
            </a:r>
            <a:endParaRPr lang="en-US" sz="850" dirty="0"/>
          </a:p>
        </p:txBody>
      </p:sp>
      <p:sp>
        <p:nvSpPr>
          <p:cNvPr id="9" name="Text 7"/>
          <p:cNvSpPr/>
          <p:nvPr/>
        </p:nvSpPr>
        <p:spPr>
          <a:xfrm>
            <a:off x="438912" y="1399032"/>
            <a:ext cx="4023360" cy="146304"/>
          </a:xfrm>
          <a:prstGeom prst="rect">
            <a:avLst/>
          </a:prstGeom>
          <a:noFill/>
          <a:ln/>
        </p:spPr>
        <p:txBody>
          <a:bodyPr wrap="square" lIns="0" tIns="0" rIns="0" bIns="0" rtlCol="0" anchor="ctr"/>
          <a:lstStyle/>
          <a:p>
            <a:pPr marL="0" indent="0" algn="l">
              <a:buNone/>
            </a:pPr>
            <a:r>
              <a:rPr lang="en-US" sz="800" dirty="0">
                <a:solidFill>
                  <a:srgbClr val="4A6280"/>
                </a:solidFill>
              </a:rPr>
              <a:t>Thống nhất mục tiêu &amp; kỳ vọng</a:t>
            </a:r>
            <a:endParaRPr lang="en-US" sz="800" dirty="0"/>
          </a:p>
        </p:txBody>
      </p:sp>
      <p:sp>
        <p:nvSpPr>
          <p:cNvPr id="10" name="Shape 8"/>
          <p:cNvSpPr/>
          <p:nvPr/>
        </p:nvSpPr>
        <p:spPr>
          <a:xfrm>
            <a:off x="411480" y="1591056"/>
            <a:ext cx="4114800" cy="365760"/>
          </a:xfrm>
          <a:prstGeom prst="rect">
            <a:avLst/>
          </a:prstGeom>
          <a:solidFill>
            <a:srgbClr val="FFFFFF"/>
          </a:solidFill>
          <a:ln w="12700">
            <a:solidFill>
              <a:srgbClr val="D0DCE8"/>
            </a:solidFill>
            <a:prstDash val="solid"/>
          </a:ln>
        </p:spPr>
        <p:txBody>
          <a:bodyPr/>
          <a:lstStyle/>
          <a:p>
            <a:endParaRPr lang="en-US"/>
          </a:p>
        </p:txBody>
      </p:sp>
      <p:sp>
        <p:nvSpPr>
          <p:cNvPr id="11" name="Text 9"/>
          <p:cNvSpPr/>
          <p:nvPr/>
        </p:nvSpPr>
        <p:spPr>
          <a:xfrm>
            <a:off x="438912" y="1591056"/>
            <a:ext cx="960120" cy="365760"/>
          </a:xfrm>
          <a:prstGeom prst="rect">
            <a:avLst/>
          </a:prstGeom>
          <a:noFill/>
          <a:ln/>
        </p:spPr>
        <p:txBody>
          <a:bodyPr wrap="square" lIns="0" tIns="0" rIns="0" bIns="0" rtlCol="0" anchor="ctr"/>
          <a:lstStyle/>
          <a:p>
            <a:pPr marL="0" indent="0" algn="l">
              <a:buNone/>
            </a:pPr>
            <a:r>
              <a:rPr lang="en-US" sz="900" b="1" dirty="0">
                <a:solidFill>
                  <a:srgbClr val="1E3A5F"/>
                </a:solidFill>
              </a:rPr>
              <a:t>09:15–10:45</a:t>
            </a:r>
            <a:endParaRPr lang="en-US" sz="900" dirty="0"/>
          </a:p>
        </p:txBody>
      </p:sp>
      <p:sp>
        <p:nvSpPr>
          <p:cNvPr id="12" name="Text 10"/>
          <p:cNvSpPr/>
          <p:nvPr/>
        </p:nvSpPr>
        <p:spPr>
          <a:xfrm>
            <a:off x="1389888" y="1591056"/>
            <a:ext cx="1051560" cy="365760"/>
          </a:xfrm>
          <a:prstGeom prst="rect">
            <a:avLst/>
          </a:prstGeom>
          <a:noFill/>
          <a:ln/>
        </p:spPr>
        <p:txBody>
          <a:bodyPr wrap="square" lIns="0" tIns="0" rIns="0" bIns="0" rtlCol="0" anchor="ctr"/>
          <a:lstStyle/>
          <a:p>
            <a:pPr marL="0" indent="0" algn="l">
              <a:buNone/>
            </a:pPr>
            <a:r>
              <a:rPr lang="en-US" sz="950" b="1" dirty="0">
                <a:solidFill>
                  <a:srgbClr val="E67E22"/>
                </a:solidFill>
              </a:rPr>
              <a:t>P1: Lãnh đạo</a:t>
            </a:r>
            <a:endParaRPr lang="en-US" sz="950" dirty="0"/>
          </a:p>
        </p:txBody>
      </p:sp>
      <p:sp>
        <p:nvSpPr>
          <p:cNvPr id="13" name="Text 11"/>
          <p:cNvSpPr/>
          <p:nvPr/>
        </p:nvSpPr>
        <p:spPr>
          <a:xfrm>
            <a:off x="2423160" y="1591056"/>
            <a:ext cx="1051560" cy="365760"/>
          </a:xfrm>
          <a:prstGeom prst="rect">
            <a:avLst/>
          </a:prstGeom>
          <a:noFill/>
          <a:ln/>
        </p:spPr>
        <p:txBody>
          <a:bodyPr wrap="square" lIns="0" tIns="0" rIns="0" bIns="0" rtlCol="0" anchor="ctr"/>
          <a:lstStyle/>
          <a:p>
            <a:pPr marL="0" indent="0" algn="l">
              <a:buNone/>
            </a:pPr>
            <a:r>
              <a:rPr lang="en-US" sz="850" dirty="0">
                <a:solidFill>
                  <a:srgbClr val="4A6280"/>
                </a:solidFill>
              </a:rPr>
              <a:t>BGĐ → Ban QLDA</a:t>
            </a:r>
            <a:endParaRPr lang="en-US" sz="850" dirty="0"/>
          </a:p>
        </p:txBody>
      </p:sp>
      <p:sp>
        <p:nvSpPr>
          <p:cNvPr id="14" name="Text 12"/>
          <p:cNvSpPr/>
          <p:nvPr/>
        </p:nvSpPr>
        <p:spPr>
          <a:xfrm>
            <a:off x="438912" y="1792224"/>
            <a:ext cx="4023360" cy="146304"/>
          </a:xfrm>
          <a:prstGeom prst="rect">
            <a:avLst/>
          </a:prstGeom>
          <a:noFill/>
          <a:ln/>
        </p:spPr>
        <p:txBody>
          <a:bodyPr wrap="square" lIns="0" tIns="0" rIns="0" bIns="0" rtlCol="0" anchor="ctr"/>
          <a:lstStyle/>
          <a:p>
            <a:pPr marL="0" indent="0" algn="l">
              <a:buNone/>
            </a:pPr>
            <a:r>
              <a:rPr lang="en-US" sz="800" dirty="0">
                <a:solidFill>
                  <a:srgbClr val="4A6280"/>
                </a:solidFill>
              </a:rPr>
              <a:t>QT34, Mô hình tổ chức, Phân cấp ủy quyền + Khối TC (9 câu)</a:t>
            </a:r>
            <a:endParaRPr lang="en-US" sz="800" dirty="0"/>
          </a:p>
        </p:txBody>
      </p:sp>
      <p:sp>
        <p:nvSpPr>
          <p:cNvPr id="15" name="Shape 13"/>
          <p:cNvSpPr/>
          <p:nvPr/>
        </p:nvSpPr>
        <p:spPr>
          <a:xfrm>
            <a:off x="411480" y="1984248"/>
            <a:ext cx="4114800" cy="365760"/>
          </a:xfrm>
          <a:prstGeom prst="rect">
            <a:avLst/>
          </a:prstGeom>
          <a:solidFill>
            <a:srgbClr val="F4F7FB"/>
          </a:solidFill>
          <a:ln w="12700">
            <a:solidFill>
              <a:srgbClr val="D0DCE8"/>
            </a:solidFill>
            <a:prstDash val="solid"/>
          </a:ln>
        </p:spPr>
        <p:txBody>
          <a:bodyPr/>
          <a:lstStyle/>
          <a:p>
            <a:endParaRPr lang="en-US"/>
          </a:p>
        </p:txBody>
      </p:sp>
      <p:sp>
        <p:nvSpPr>
          <p:cNvPr id="16" name="Text 14"/>
          <p:cNvSpPr/>
          <p:nvPr/>
        </p:nvSpPr>
        <p:spPr>
          <a:xfrm>
            <a:off x="438912" y="1984248"/>
            <a:ext cx="960120" cy="365760"/>
          </a:xfrm>
          <a:prstGeom prst="rect">
            <a:avLst/>
          </a:prstGeom>
          <a:noFill/>
          <a:ln/>
        </p:spPr>
        <p:txBody>
          <a:bodyPr wrap="square" lIns="0" tIns="0" rIns="0" bIns="0" rtlCol="0" anchor="ctr"/>
          <a:lstStyle/>
          <a:p>
            <a:pPr marL="0" indent="0" algn="l">
              <a:buNone/>
            </a:pPr>
            <a:r>
              <a:rPr lang="en-US" sz="900" b="1" dirty="0">
                <a:solidFill>
                  <a:srgbClr val="1E3A5F"/>
                </a:solidFill>
              </a:rPr>
              <a:t>11:00–12:30</a:t>
            </a:r>
            <a:endParaRPr lang="en-US" sz="900" dirty="0"/>
          </a:p>
        </p:txBody>
      </p:sp>
      <p:sp>
        <p:nvSpPr>
          <p:cNvPr id="17" name="Text 15"/>
          <p:cNvSpPr/>
          <p:nvPr/>
        </p:nvSpPr>
        <p:spPr>
          <a:xfrm>
            <a:off x="1389888" y="1984248"/>
            <a:ext cx="1051560" cy="365760"/>
          </a:xfrm>
          <a:prstGeom prst="rect">
            <a:avLst/>
          </a:prstGeom>
          <a:noFill/>
          <a:ln/>
        </p:spPr>
        <p:txBody>
          <a:bodyPr wrap="square" lIns="0" tIns="0" rIns="0" bIns="0" rtlCol="0" anchor="ctr"/>
          <a:lstStyle/>
          <a:p>
            <a:pPr marL="0" indent="0" algn="l">
              <a:buNone/>
            </a:pPr>
            <a:r>
              <a:rPr lang="en-US" sz="950" b="1" dirty="0">
                <a:solidFill>
                  <a:srgbClr val="E67E22"/>
                </a:solidFill>
              </a:rPr>
              <a:t>P2: Kế hoạch</a:t>
            </a:r>
            <a:endParaRPr lang="en-US" sz="950" dirty="0"/>
          </a:p>
        </p:txBody>
      </p:sp>
      <p:sp>
        <p:nvSpPr>
          <p:cNvPr id="18" name="Text 16"/>
          <p:cNvSpPr/>
          <p:nvPr/>
        </p:nvSpPr>
        <p:spPr>
          <a:xfrm>
            <a:off x="2423160" y="1984248"/>
            <a:ext cx="1051560" cy="365760"/>
          </a:xfrm>
          <a:prstGeom prst="rect">
            <a:avLst/>
          </a:prstGeom>
          <a:noFill/>
          <a:ln/>
        </p:spPr>
        <p:txBody>
          <a:bodyPr wrap="square" lIns="0" tIns="0" rIns="0" bIns="0" rtlCol="0" anchor="ctr"/>
          <a:lstStyle/>
          <a:p>
            <a:pPr marL="0" indent="0" algn="l">
              <a:buNone/>
            </a:pPr>
            <a:r>
              <a:rPr lang="en-US" sz="850" dirty="0">
                <a:solidFill>
                  <a:srgbClr val="4A6280"/>
                </a:solidFill>
              </a:rPr>
              <a:t>KHCL + TTĐ + BQLDA</a:t>
            </a:r>
            <a:endParaRPr lang="en-US" sz="850" dirty="0"/>
          </a:p>
        </p:txBody>
      </p:sp>
      <p:sp>
        <p:nvSpPr>
          <p:cNvPr id="19" name="Text 17"/>
          <p:cNvSpPr/>
          <p:nvPr/>
        </p:nvSpPr>
        <p:spPr>
          <a:xfrm>
            <a:off x="438912" y="2185416"/>
            <a:ext cx="4023360" cy="146304"/>
          </a:xfrm>
          <a:prstGeom prst="rect">
            <a:avLst/>
          </a:prstGeom>
          <a:noFill/>
          <a:ln/>
        </p:spPr>
        <p:txBody>
          <a:bodyPr wrap="square" lIns="0" tIns="0" rIns="0" bIns="0" rtlCol="0" anchor="ctr"/>
          <a:lstStyle/>
          <a:p>
            <a:pPr marL="0" indent="0" algn="l">
              <a:buNone/>
            </a:pPr>
            <a:r>
              <a:rPr lang="en-US" sz="800" dirty="0">
                <a:solidFill>
                  <a:srgbClr val="4A6280"/>
                </a:solidFill>
              </a:rPr>
              <a:t>QT34, QT Giám sát đánh giá + Khối TC (4 câu)</a:t>
            </a:r>
            <a:endParaRPr lang="en-US" sz="800" dirty="0"/>
          </a:p>
        </p:txBody>
      </p:sp>
      <p:sp>
        <p:nvSpPr>
          <p:cNvPr id="20" name="Shape 18"/>
          <p:cNvSpPr/>
          <p:nvPr/>
        </p:nvSpPr>
        <p:spPr>
          <a:xfrm>
            <a:off x="411480" y="2377440"/>
            <a:ext cx="4114800" cy="365760"/>
          </a:xfrm>
          <a:prstGeom prst="rect">
            <a:avLst/>
          </a:prstGeom>
          <a:solidFill>
            <a:srgbClr val="FFFFFF"/>
          </a:solidFill>
          <a:ln w="12700">
            <a:solidFill>
              <a:srgbClr val="D0DCE8"/>
            </a:solidFill>
            <a:prstDash val="solid"/>
          </a:ln>
        </p:spPr>
        <p:txBody>
          <a:bodyPr/>
          <a:lstStyle/>
          <a:p>
            <a:endParaRPr lang="en-US"/>
          </a:p>
        </p:txBody>
      </p:sp>
      <p:sp>
        <p:nvSpPr>
          <p:cNvPr id="21" name="Text 19"/>
          <p:cNvSpPr/>
          <p:nvPr/>
        </p:nvSpPr>
        <p:spPr>
          <a:xfrm>
            <a:off x="438912" y="2377440"/>
            <a:ext cx="960120" cy="365760"/>
          </a:xfrm>
          <a:prstGeom prst="rect">
            <a:avLst/>
          </a:prstGeom>
          <a:noFill/>
          <a:ln/>
        </p:spPr>
        <p:txBody>
          <a:bodyPr wrap="square" lIns="0" tIns="0" rIns="0" bIns="0" rtlCol="0" anchor="ctr"/>
          <a:lstStyle/>
          <a:p>
            <a:pPr marL="0" indent="0" algn="l">
              <a:buNone/>
            </a:pPr>
            <a:r>
              <a:rPr lang="en-US" sz="900" b="1" dirty="0">
                <a:solidFill>
                  <a:srgbClr val="1E3A5F"/>
                </a:solidFill>
              </a:rPr>
              <a:t>14:00–15:25</a:t>
            </a:r>
            <a:endParaRPr lang="en-US" sz="900" dirty="0"/>
          </a:p>
        </p:txBody>
      </p:sp>
      <p:sp>
        <p:nvSpPr>
          <p:cNvPr id="22" name="Text 20"/>
          <p:cNvSpPr/>
          <p:nvPr/>
        </p:nvSpPr>
        <p:spPr>
          <a:xfrm>
            <a:off x="1389888" y="2377440"/>
            <a:ext cx="1051560" cy="365760"/>
          </a:xfrm>
          <a:prstGeom prst="rect">
            <a:avLst/>
          </a:prstGeom>
          <a:noFill/>
          <a:ln/>
        </p:spPr>
        <p:txBody>
          <a:bodyPr wrap="square" lIns="0" tIns="0" rIns="0" bIns="0" rtlCol="0" anchor="ctr"/>
          <a:lstStyle/>
          <a:p>
            <a:pPr marL="0" indent="0" algn="l">
              <a:buNone/>
            </a:pPr>
            <a:r>
              <a:rPr lang="en-US" sz="950" b="1" dirty="0">
                <a:solidFill>
                  <a:srgbClr val="E67E22"/>
                </a:solidFill>
              </a:rPr>
              <a:t>P3: Đấu thầu &amp; HĐ</a:t>
            </a:r>
            <a:endParaRPr lang="en-US" sz="950" dirty="0"/>
          </a:p>
        </p:txBody>
      </p:sp>
      <p:sp>
        <p:nvSpPr>
          <p:cNvPr id="23" name="Text 21"/>
          <p:cNvSpPr/>
          <p:nvPr/>
        </p:nvSpPr>
        <p:spPr>
          <a:xfrm>
            <a:off x="2423160" y="2377440"/>
            <a:ext cx="1051560" cy="365760"/>
          </a:xfrm>
          <a:prstGeom prst="rect">
            <a:avLst/>
          </a:prstGeom>
          <a:noFill/>
          <a:ln/>
        </p:spPr>
        <p:txBody>
          <a:bodyPr wrap="square" lIns="0" tIns="0" rIns="0" bIns="0" rtlCol="0" anchor="ctr"/>
          <a:lstStyle/>
          <a:p>
            <a:pPr marL="0" indent="0" algn="l">
              <a:buNone/>
            </a:pPr>
            <a:r>
              <a:rPr lang="en-US" sz="850" dirty="0">
                <a:solidFill>
                  <a:srgbClr val="4A6280"/>
                </a:solidFill>
              </a:rPr>
              <a:t>KTPC + TCG + PVT</a:t>
            </a:r>
            <a:endParaRPr lang="en-US" sz="850" dirty="0"/>
          </a:p>
        </p:txBody>
      </p:sp>
      <p:sp>
        <p:nvSpPr>
          <p:cNvPr id="24" name="Text 22"/>
          <p:cNvSpPr/>
          <p:nvPr/>
        </p:nvSpPr>
        <p:spPr>
          <a:xfrm>
            <a:off x="438912" y="2578608"/>
            <a:ext cx="4023360" cy="146304"/>
          </a:xfrm>
          <a:prstGeom prst="rect">
            <a:avLst/>
          </a:prstGeom>
          <a:noFill/>
          <a:ln/>
        </p:spPr>
        <p:txBody>
          <a:bodyPr wrap="square" lIns="0" tIns="0" rIns="0" bIns="0" rtlCol="0" anchor="ctr"/>
          <a:lstStyle/>
          <a:p>
            <a:pPr marL="0" indent="0" algn="l">
              <a:buNone/>
            </a:pPr>
            <a:r>
              <a:rPr lang="en-US" sz="800" dirty="0">
                <a:solidFill>
                  <a:srgbClr val="4A6280"/>
                </a:solidFill>
              </a:rPr>
              <a:t>QT35, QT37 + Khối TC (3 câu)</a:t>
            </a:r>
            <a:endParaRPr lang="en-US" sz="800" dirty="0"/>
          </a:p>
        </p:txBody>
      </p:sp>
      <p:sp>
        <p:nvSpPr>
          <p:cNvPr id="25" name="Shape 23"/>
          <p:cNvSpPr/>
          <p:nvPr/>
        </p:nvSpPr>
        <p:spPr>
          <a:xfrm>
            <a:off x="411480" y="2770632"/>
            <a:ext cx="4114800" cy="365760"/>
          </a:xfrm>
          <a:prstGeom prst="rect">
            <a:avLst/>
          </a:prstGeom>
          <a:solidFill>
            <a:srgbClr val="F4F7FB"/>
          </a:solidFill>
          <a:ln w="12700">
            <a:solidFill>
              <a:srgbClr val="D0DCE8"/>
            </a:solidFill>
            <a:prstDash val="solid"/>
          </a:ln>
        </p:spPr>
        <p:txBody>
          <a:bodyPr/>
          <a:lstStyle/>
          <a:p>
            <a:endParaRPr lang="en-US"/>
          </a:p>
        </p:txBody>
      </p:sp>
      <p:sp>
        <p:nvSpPr>
          <p:cNvPr id="26" name="Text 24"/>
          <p:cNvSpPr/>
          <p:nvPr/>
        </p:nvSpPr>
        <p:spPr>
          <a:xfrm>
            <a:off x="438912" y="2770632"/>
            <a:ext cx="960120" cy="365760"/>
          </a:xfrm>
          <a:prstGeom prst="rect">
            <a:avLst/>
          </a:prstGeom>
          <a:noFill/>
          <a:ln/>
        </p:spPr>
        <p:txBody>
          <a:bodyPr wrap="square" lIns="0" tIns="0" rIns="0" bIns="0" rtlCol="0" anchor="ctr"/>
          <a:lstStyle/>
          <a:p>
            <a:pPr marL="0" indent="0" algn="l">
              <a:buNone/>
            </a:pPr>
            <a:r>
              <a:rPr lang="en-US" sz="900" b="1" dirty="0">
                <a:solidFill>
                  <a:srgbClr val="1E3A5F"/>
                </a:solidFill>
              </a:rPr>
              <a:t>15:35–17:00</a:t>
            </a:r>
            <a:endParaRPr lang="en-US" sz="900" dirty="0"/>
          </a:p>
        </p:txBody>
      </p:sp>
      <p:sp>
        <p:nvSpPr>
          <p:cNvPr id="27" name="Text 25"/>
          <p:cNvSpPr/>
          <p:nvPr/>
        </p:nvSpPr>
        <p:spPr>
          <a:xfrm>
            <a:off x="1389888" y="2770632"/>
            <a:ext cx="1051560" cy="365760"/>
          </a:xfrm>
          <a:prstGeom prst="rect">
            <a:avLst/>
          </a:prstGeom>
          <a:noFill/>
          <a:ln/>
        </p:spPr>
        <p:txBody>
          <a:bodyPr wrap="square" lIns="0" tIns="0" rIns="0" bIns="0" rtlCol="0" anchor="ctr"/>
          <a:lstStyle/>
          <a:p>
            <a:pPr marL="0" indent="0" algn="l">
              <a:buNone/>
            </a:pPr>
            <a:r>
              <a:rPr lang="en-US" sz="950" b="1" dirty="0">
                <a:solidFill>
                  <a:srgbClr val="E67E22"/>
                </a:solidFill>
              </a:rPr>
              <a:t>P4: Tài chính &amp; TQT</a:t>
            </a:r>
            <a:endParaRPr lang="en-US" sz="950" dirty="0"/>
          </a:p>
        </p:txBody>
      </p:sp>
      <p:sp>
        <p:nvSpPr>
          <p:cNvPr id="28" name="Text 26"/>
          <p:cNvSpPr/>
          <p:nvPr/>
        </p:nvSpPr>
        <p:spPr>
          <a:xfrm>
            <a:off x="2423160" y="2770632"/>
            <a:ext cx="1051560" cy="365760"/>
          </a:xfrm>
          <a:prstGeom prst="rect">
            <a:avLst/>
          </a:prstGeom>
          <a:noFill/>
          <a:ln/>
        </p:spPr>
        <p:txBody>
          <a:bodyPr wrap="square" lIns="0" tIns="0" rIns="0" bIns="0" rtlCol="0" anchor="ctr"/>
          <a:lstStyle/>
          <a:p>
            <a:pPr marL="0" indent="0" algn="l">
              <a:buNone/>
            </a:pPr>
            <a:r>
              <a:rPr lang="en-US" sz="850" dirty="0">
                <a:solidFill>
                  <a:srgbClr val="4A6280"/>
                </a:solidFill>
              </a:rPr>
              <a:t>TCKT + BQLDA</a:t>
            </a:r>
            <a:endParaRPr lang="en-US" sz="850" dirty="0"/>
          </a:p>
        </p:txBody>
      </p:sp>
      <p:sp>
        <p:nvSpPr>
          <p:cNvPr id="29" name="Text 27"/>
          <p:cNvSpPr/>
          <p:nvPr/>
        </p:nvSpPr>
        <p:spPr>
          <a:xfrm>
            <a:off x="438912" y="2971800"/>
            <a:ext cx="4023360" cy="146304"/>
          </a:xfrm>
          <a:prstGeom prst="rect">
            <a:avLst/>
          </a:prstGeom>
          <a:noFill/>
          <a:ln/>
        </p:spPr>
        <p:txBody>
          <a:bodyPr wrap="square" lIns="0" tIns="0" rIns="0" bIns="0" rtlCol="0" anchor="ctr"/>
          <a:lstStyle/>
          <a:p>
            <a:pPr marL="0" indent="0" algn="l">
              <a:buNone/>
            </a:pPr>
            <a:r>
              <a:rPr lang="en-US" sz="800" dirty="0">
                <a:solidFill>
                  <a:srgbClr val="4A6280"/>
                </a:solidFill>
              </a:rPr>
              <a:t>QT17, QT18 (NĐ 193/2026) + Khối TC (4 câu)</a:t>
            </a:r>
            <a:endParaRPr lang="en-US" sz="800" dirty="0"/>
          </a:p>
        </p:txBody>
      </p:sp>
      <p:sp>
        <p:nvSpPr>
          <p:cNvPr id="30" name="Shape 28"/>
          <p:cNvSpPr/>
          <p:nvPr/>
        </p:nvSpPr>
        <p:spPr>
          <a:xfrm>
            <a:off x="4663440" y="777240"/>
            <a:ext cx="4069080" cy="347472"/>
          </a:xfrm>
          <a:prstGeom prst="rect">
            <a:avLst/>
          </a:prstGeom>
          <a:solidFill>
            <a:srgbClr val="2C4F72"/>
          </a:solidFill>
          <a:ln w="12700">
            <a:solidFill>
              <a:srgbClr val="2C4F72"/>
            </a:solidFill>
            <a:prstDash val="solid"/>
          </a:ln>
        </p:spPr>
        <p:txBody>
          <a:bodyPr/>
          <a:lstStyle/>
          <a:p>
            <a:endParaRPr lang="en-US"/>
          </a:p>
        </p:txBody>
      </p:sp>
      <p:sp>
        <p:nvSpPr>
          <p:cNvPr id="31" name="Text 29"/>
          <p:cNvSpPr/>
          <p:nvPr/>
        </p:nvSpPr>
        <p:spPr>
          <a:xfrm>
            <a:off x="4754880" y="777240"/>
            <a:ext cx="3977640" cy="347472"/>
          </a:xfrm>
          <a:prstGeom prst="rect">
            <a:avLst/>
          </a:prstGeom>
          <a:noFill/>
          <a:ln/>
        </p:spPr>
        <p:txBody>
          <a:bodyPr wrap="square" lIns="0" tIns="0" rIns="0" bIns="0" rtlCol="0" anchor="ctr"/>
          <a:lstStyle/>
          <a:p>
            <a:pPr marL="0" indent="0" algn="l">
              <a:buNone/>
            </a:pPr>
            <a:r>
              <a:rPr lang="en-US" sz="1200" b="1" dirty="0">
                <a:solidFill>
                  <a:srgbClr val="FFFFFF"/>
                </a:solidFill>
              </a:rPr>
              <a:t>NGÀY 2 (T+11)</a:t>
            </a:r>
            <a:endParaRPr lang="en-US" sz="1200" dirty="0"/>
          </a:p>
        </p:txBody>
      </p:sp>
      <p:sp>
        <p:nvSpPr>
          <p:cNvPr id="32" name="Shape 30"/>
          <p:cNvSpPr/>
          <p:nvPr/>
        </p:nvSpPr>
        <p:spPr>
          <a:xfrm>
            <a:off x="4663440" y="1197864"/>
            <a:ext cx="4069080" cy="475488"/>
          </a:xfrm>
          <a:prstGeom prst="rect">
            <a:avLst/>
          </a:prstGeom>
          <a:solidFill>
            <a:srgbClr val="F4F7FB"/>
          </a:solidFill>
          <a:ln w="12700">
            <a:solidFill>
              <a:srgbClr val="D0DCE8"/>
            </a:solidFill>
            <a:prstDash val="solid"/>
          </a:ln>
        </p:spPr>
        <p:txBody>
          <a:bodyPr/>
          <a:lstStyle/>
          <a:p>
            <a:endParaRPr lang="en-US"/>
          </a:p>
        </p:txBody>
      </p:sp>
      <p:sp>
        <p:nvSpPr>
          <p:cNvPr id="33" name="Text 31"/>
          <p:cNvSpPr/>
          <p:nvPr/>
        </p:nvSpPr>
        <p:spPr>
          <a:xfrm>
            <a:off x="4700016" y="1197864"/>
            <a:ext cx="1097280" cy="475488"/>
          </a:xfrm>
          <a:prstGeom prst="rect">
            <a:avLst/>
          </a:prstGeom>
          <a:noFill/>
          <a:ln/>
        </p:spPr>
        <p:txBody>
          <a:bodyPr wrap="square" lIns="0" tIns="0" rIns="0" bIns="0" rtlCol="0" anchor="ctr"/>
          <a:lstStyle/>
          <a:p>
            <a:pPr marL="0" indent="0" algn="l">
              <a:buNone/>
            </a:pPr>
            <a:r>
              <a:rPr lang="en-US" sz="900" b="1" dirty="0">
                <a:solidFill>
                  <a:srgbClr val="1E3A5F"/>
                </a:solidFill>
              </a:rPr>
              <a:t>08:30–10:10</a:t>
            </a:r>
            <a:endParaRPr lang="en-US" sz="900" dirty="0"/>
          </a:p>
        </p:txBody>
      </p:sp>
      <p:sp>
        <p:nvSpPr>
          <p:cNvPr id="34" name="Text 32"/>
          <p:cNvSpPr/>
          <p:nvPr/>
        </p:nvSpPr>
        <p:spPr>
          <a:xfrm>
            <a:off x="5779008" y="1216152"/>
            <a:ext cx="2907792" cy="228600"/>
          </a:xfrm>
          <a:prstGeom prst="rect">
            <a:avLst/>
          </a:prstGeom>
          <a:noFill/>
          <a:ln/>
        </p:spPr>
        <p:txBody>
          <a:bodyPr wrap="square" lIns="0" tIns="0" rIns="0" bIns="0" rtlCol="0" anchor="ctr"/>
          <a:lstStyle/>
          <a:p>
            <a:pPr marL="0" indent="0" algn="l">
              <a:buNone/>
            </a:pPr>
            <a:r>
              <a:rPr lang="en-US" sz="1000" b="1" dirty="0">
                <a:solidFill>
                  <a:srgbClr val="E67E22"/>
                </a:solidFill>
              </a:rPr>
              <a:t>P5: Kỹ thuật &amp; VH</a:t>
            </a:r>
            <a:endParaRPr lang="en-US" sz="1000" dirty="0"/>
          </a:p>
        </p:txBody>
      </p:sp>
      <p:sp>
        <p:nvSpPr>
          <p:cNvPr id="35" name="Text 33"/>
          <p:cNvSpPr/>
          <p:nvPr/>
        </p:nvSpPr>
        <p:spPr>
          <a:xfrm>
            <a:off x="5779008" y="1435608"/>
            <a:ext cx="2907792" cy="210312"/>
          </a:xfrm>
          <a:prstGeom prst="rect">
            <a:avLst/>
          </a:prstGeom>
          <a:noFill/>
          <a:ln/>
        </p:spPr>
        <p:txBody>
          <a:bodyPr wrap="square" lIns="0" tIns="0" rIns="0" bIns="0" rtlCol="0" anchor="ctr"/>
          <a:lstStyle/>
          <a:p>
            <a:pPr marL="0" indent="0" algn="l">
              <a:buNone/>
            </a:pPr>
            <a:r>
              <a:rPr lang="en-US" sz="850" dirty="0">
                <a:solidFill>
                  <a:srgbClr val="4A6280"/>
                </a:solidFill>
              </a:rPr>
              <a:t>PKT + ATMT + TCHC — QT16, QT36, QT Bàn giao/BH/BT, ATLĐ + Khối TC (5 câu)</a:t>
            </a:r>
            <a:endParaRPr lang="en-US" sz="850" dirty="0"/>
          </a:p>
        </p:txBody>
      </p:sp>
      <p:sp>
        <p:nvSpPr>
          <p:cNvPr id="36" name="Shape 34"/>
          <p:cNvSpPr/>
          <p:nvPr/>
        </p:nvSpPr>
        <p:spPr>
          <a:xfrm>
            <a:off x="4663440" y="1728216"/>
            <a:ext cx="4069080" cy="475488"/>
          </a:xfrm>
          <a:prstGeom prst="rect">
            <a:avLst/>
          </a:prstGeom>
          <a:solidFill>
            <a:srgbClr val="FFFFFF"/>
          </a:solidFill>
          <a:ln w="12700">
            <a:solidFill>
              <a:srgbClr val="D0DCE8"/>
            </a:solidFill>
            <a:prstDash val="solid"/>
          </a:ln>
        </p:spPr>
        <p:txBody>
          <a:bodyPr/>
          <a:lstStyle/>
          <a:p>
            <a:endParaRPr lang="en-US"/>
          </a:p>
        </p:txBody>
      </p:sp>
      <p:sp>
        <p:nvSpPr>
          <p:cNvPr id="37" name="Text 35"/>
          <p:cNvSpPr/>
          <p:nvPr/>
        </p:nvSpPr>
        <p:spPr>
          <a:xfrm>
            <a:off x="4700016" y="1728216"/>
            <a:ext cx="1097280" cy="475488"/>
          </a:xfrm>
          <a:prstGeom prst="rect">
            <a:avLst/>
          </a:prstGeom>
          <a:noFill/>
          <a:ln/>
        </p:spPr>
        <p:txBody>
          <a:bodyPr wrap="square" lIns="0" tIns="0" rIns="0" bIns="0" rtlCol="0" anchor="ctr"/>
          <a:lstStyle/>
          <a:p>
            <a:pPr marL="0" indent="0" algn="l">
              <a:buNone/>
            </a:pPr>
            <a:r>
              <a:rPr lang="en-US" sz="900" b="1" dirty="0">
                <a:solidFill>
                  <a:srgbClr val="1E3A5F"/>
                </a:solidFill>
              </a:rPr>
              <a:t>10:25–12:00</a:t>
            </a:r>
            <a:endParaRPr lang="en-US" sz="900" dirty="0"/>
          </a:p>
        </p:txBody>
      </p:sp>
      <p:sp>
        <p:nvSpPr>
          <p:cNvPr id="38" name="Text 36"/>
          <p:cNvSpPr/>
          <p:nvPr/>
        </p:nvSpPr>
        <p:spPr>
          <a:xfrm>
            <a:off x="5779008" y="1746504"/>
            <a:ext cx="2907792" cy="228600"/>
          </a:xfrm>
          <a:prstGeom prst="rect">
            <a:avLst/>
          </a:prstGeom>
          <a:noFill/>
          <a:ln/>
        </p:spPr>
        <p:txBody>
          <a:bodyPr wrap="square" lIns="0" tIns="0" rIns="0" bIns="0" rtlCol="0" anchor="ctr"/>
          <a:lstStyle/>
          <a:p>
            <a:pPr marL="0" indent="0" algn="l">
              <a:buNone/>
            </a:pPr>
            <a:r>
              <a:rPr lang="en-US" sz="1000" b="1" dirty="0">
                <a:solidFill>
                  <a:srgbClr val="E67E22"/>
                </a:solidFill>
              </a:rPr>
              <a:t>P6: Công nghệ &amp; SH</a:t>
            </a:r>
            <a:endParaRPr lang="en-US" sz="1000" dirty="0"/>
          </a:p>
        </p:txBody>
      </p:sp>
      <p:sp>
        <p:nvSpPr>
          <p:cNvPr id="39" name="Text 37"/>
          <p:cNvSpPr/>
          <p:nvPr/>
        </p:nvSpPr>
        <p:spPr>
          <a:xfrm>
            <a:off x="5779008" y="1965960"/>
            <a:ext cx="2907792" cy="210312"/>
          </a:xfrm>
          <a:prstGeom prst="rect">
            <a:avLst/>
          </a:prstGeom>
          <a:noFill/>
          <a:ln/>
        </p:spPr>
        <p:txBody>
          <a:bodyPr wrap="square" lIns="0" tIns="0" rIns="0" bIns="0" rtlCol="0" anchor="ctr"/>
          <a:lstStyle/>
          <a:p>
            <a:pPr marL="0" indent="0" algn="l">
              <a:buNone/>
            </a:pPr>
            <a:r>
              <a:rPr lang="en-US" sz="850" dirty="0">
                <a:solidFill>
                  <a:srgbClr val="4A6280"/>
                </a:solidFill>
              </a:rPr>
              <a:t>CNTT + BQLDA — QT161, QT BIM/CDE (ISO 19650) + Khối TC (3 câu)</a:t>
            </a:r>
            <a:endParaRPr lang="en-US" sz="850" dirty="0"/>
          </a:p>
        </p:txBody>
      </p:sp>
      <p:sp>
        <p:nvSpPr>
          <p:cNvPr id="40" name="Shape 38"/>
          <p:cNvSpPr/>
          <p:nvPr/>
        </p:nvSpPr>
        <p:spPr>
          <a:xfrm>
            <a:off x="4663440" y="2258568"/>
            <a:ext cx="4069080" cy="475488"/>
          </a:xfrm>
          <a:prstGeom prst="rect">
            <a:avLst/>
          </a:prstGeom>
          <a:solidFill>
            <a:srgbClr val="F4F7FB"/>
          </a:solidFill>
          <a:ln w="12700">
            <a:solidFill>
              <a:srgbClr val="D0DCE8"/>
            </a:solidFill>
            <a:prstDash val="solid"/>
          </a:ln>
        </p:spPr>
        <p:txBody>
          <a:bodyPr/>
          <a:lstStyle/>
          <a:p>
            <a:endParaRPr lang="en-US"/>
          </a:p>
        </p:txBody>
      </p:sp>
      <p:sp>
        <p:nvSpPr>
          <p:cNvPr id="41" name="Text 39"/>
          <p:cNvSpPr/>
          <p:nvPr/>
        </p:nvSpPr>
        <p:spPr>
          <a:xfrm>
            <a:off x="4700016" y="2258568"/>
            <a:ext cx="1097280" cy="475488"/>
          </a:xfrm>
          <a:prstGeom prst="rect">
            <a:avLst/>
          </a:prstGeom>
          <a:noFill/>
          <a:ln/>
        </p:spPr>
        <p:txBody>
          <a:bodyPr wrap="square" lIns="0" tIns="0" rIns="0" bIns="0" rtlCol="0" anchor="ctr"/>
          <a:lstStyle/>
          <a:p>
            <a:pPr marL="0" indent="0" algn="l">
              <a:buNone/>
            </a:pPr>
            <a:r>
              <a:rPr lang="en-US" sz="900" b="1" dirty="0">
                <a:solidFill>
                  <a:srgbClr val="1E3A5F"/>
                </a:solidFill>
              </a:rPr>
              <a:t>14:00–15:30</a:t>
            </a:r>
            <a:endParaRPr lang="en-US" sz="900" dirty="0"/>
          </a:p>
        </p:txBody>
      </p:sp>
      <p:sp>
        <p:nvSpPr>
          <p:cNvPr id="42" name="Text 40"/>
          <p:cNvSpPr/>
          <p:nvPr/>
        </p:nvSpPr>
        <p:spPr>
          <a:xfrm>
            <a:off x="5779008" y="2276856"/>
            <a:ext cx="2907792" cy="228600"/>
          </a:xfrm>
          <a:prstGeom prst="rect">
            <a:avLst/>
          </a:prstGeom>
          <a:noFill/>
          <a:ln/>
        </p:spPr>
        <p:txBody>
          <a:bodyPr wrap="square" lIns="0" tIns="0" rIns="0" bIns="0" rtlCol="0" anchor="ctr"/>
          <a:lstStyle/>
          <a:p>
            <a:pPr marL="0" indent="0" algn="l">
              <a:buNone/>
            </a:pPr>
            <a:r>
              <a:rPr lang="en-US" sz="1000" b="1" dirty="0">
                <a:solidFill>
                  <a:srgbClr val="E67E22"/>
                </a:solidFill>
              </a:rPr>
              <a:t>P7: Tổng kết</a:t>
            </a:r>
            <a:endParaRPr lang="en-US" sz="1000" dirty="0"/>
          </a:p>
        </p:txBody>
      </p:sp>
      <p:sp>
        <p:nvSpPr>
          <p:cNvPr id="43" name="Text 41"/>
          <p:cNvSpPr/>
          <p:nvPr/>
        </p:nvSpPr>
        <p:spPr>
          <a:xfrm>
            <a:off x="5779008" y="2496312"/>
            <a:ext cx="2907792" cy="210312"/>
          </a:xfrm>
          <a:prstGeom prst="rect">
            <a:avLst/>
          </a:prstGeom>
          <a:noFill/>
          <a:ln/>
        </p:spPr>
        <p:txBody>
          <a:bodyPr wrap="square" lIns="0" tIns="0" rIns="0" bIns="0" rtlCol="0" anchor="ctr"/>
          <a:lstStyle/>
          <a:p>
            <a:pPr marL="0" indent="0" algn="l">
              <a:buNone/>
            </a:pPr>
            <a:r>
              <a:rPr lang="en-US" sz="850" dirty="0">
                <a:solidFill>
                  <a:srgbClr val="4A6280"/>
                </a:solidFill>
              </a:rPr>
              <a:t>Tất cả đại diện — Trình bày kết quả chấm điểm 14 tiêu chí — Thống nhất khoảng cách pháp lý &amp; lộ trình</a:t>
            </a:r>
            <a:endParaRPr lang="en-US" sz="850" dirty="0"/>
          </a:p>
        </p:txBody>
      </p:sp>
      <p:sp>
        <p:nvSpPr>
          <p:cNvPr id="44" name="Shape 42"/>
          <p:cNvSpPr/>
          <p:nvPr/>
        </p:nvSpPr>
        <p:spPr>
          <a:xfrm>
            <a:off x="4663440" y="3255264"/>
            <a:ext cx="4069080" cy="1572768"/>
          </a:xfrm>
          <a:prstGeom prst="rect">
            <a:avLst/>
          </a:prstGeom>
          <a:solidFill>
            <a:srgbClr val="FEF3E7"/>
          </a:solidFill>
          <a:ln w="12700">
            <a:solidFill>
              <a:srgbClr val="E67E22"/>
            </a:solidFill>
            <a:prstDash val="solid"/>
          </a:ln>
        </p:spPr>
        <p:txBody>
          <a:bodyPr/>
          <a:lstStyle/>
          <a:p>
            <a:endParaRPr lang="en-US"/>
          </a:p>
        </p:txBody>
      </p:sp>
      <p:sp>
        <p:nvSpPr>
          <p:cNvPr id="45" name="Text 43"/>
          <p:cNvSpPr/>
          <p:nvPr/>
        </p:nvSpPr>
        <p:spPr>
          <a:xfrm>
            <a:off x="4754880" y="3291840"/>
            <a:ext cx="3931920" cy="329184"/>
          </a:xfrm>
          <a:prstGeom prst="rect">
            <a:avLst/>
          </a:prstGeom>
          <a:noFill/>
          <a:ln/>
        </p:spPr>
        <p:txBody>
          <a:bodyPr wrap="square" lIns="0" tIns="0" rIns="0" bIns="0" rtlCol="0" anchor="ctr"/>
          <a:lstStyle/>
          <a:p>
            <a:pPr marL="0" indent="0" algn="l">
              <a:buNone/>
            </a:pPr>
            <a:r>
              <a:rPr lang="en-US" sz="1100" b="1" dirty="0">
                <a:solidFill>
                  <a:srgbClr val="E67E22"/>
                </a:solidFill>
              </a:rPr>
              <a:t>Khối TC — Đánh giá 3 phương án tổ chức</a:t>
            </a:r>
            <a:endParaRPr lang="en-US" sz="1100" dirty="0"/>
          </a:p>
        </p:txBody>
      </p:sp>
      <p:sp>
        <p:nvSpPr>
          <p:cNvPr id="46" name="Text 44"/>
          <p:cNvSpPr/>
          <p:nvPr/>
        </p:nvSpPr>
        <p:spPr>
          <a:xfrm>
            <a:off x="4754880" y="3639312"/>
            <a:ext cx="3886200" cy="1152144"/>
          </a:xfrm>
          <a:prstGeom prst="rect">
            <a:avLst/>
          </a:prstGeom>
          <a:noFill/>
          <a:ln/>
        </p:spPr>
        <p:txBody>
          <a:bodyPr wrap="square" lIns="0" tIns="0" rIns="0" bIns="0" rtlCol="0" anchor="t"/>
          <a:lstStyle/>
          <a:p>
            <a:pPr marL="0" indent="0" algn="l">
              <a:buNone/>
            </a:pPr>
            <a:r>
              <a:rPr lang="en-US" sz="1000" dirty="0">
                <a:solidFill>
                  <a:srgbClr val="1A2B3C"/>
                </a:solidFill>
              </a:rPr>
              <a:t>Trong mỗi phiên, người trả lời chấm điểm và lựa chọn giữa 3 phương án tổ chức Ban QLDA đang được CIC xem xét đề xuất.</a:t>
            </a:r>
            <a:endParaRPr lang="en-US" sz="1000" dirty="0"/>
          </a:p>
          <a:p>
            <a:pPr marL="0" indent="0" algn="l">
              <a:buNone/>
            </a:pPr>
            <a:endParaRPr lang="en-US" sz="1000" dirty="0"/>
          </a:p>
          <a:p>
            <a:pPr marL="0" indent="0" algn="l">
              <a:buNone/>
            </a:pPr>
            <a:r>
              <a:rPr lang="en-US" sz="1000" dirty="0">
                <a:solidFill>
                  <a:srgbClr val="1A2B3C"/>
                </a:solidFill>
              </a:rPr>
              <a:t>Tổng: 14 tiêu chí, phân bổ vào 6 phiên theo nhóm chuyên môn.</a:t>
            </a:r>
            <a:endParaRPr lang="en-US" sz="1000" dirty="0"/>
          </a:p>
          <a:p>
            <a:pPr marL="0" indent="0" algn="l">
              <a:buNone/>
            </a:pPr>
            <a:endParaRPr lang="en-US" sz="1000" dirty="0"/>
          </a:p>
          <a:p>
            <a:pPr marL="0" indent="0" algn="l">
              <a:buNone/>
            </a:pPr>
            <a:r>
              <a:rPr lang="en-US" sz="1000" dirty="0">
                <a:solidFill>
                  <a:srgbClr val="1A2B3C"/>
                </a:solidFill>
              </a:rPr>
              <a:t>Kết quả tổng hợp và trình bày tại Phiên 7 để thống nhất với VICEM.</a:t>
            </a:r>
            <a:endParaRPr lang="en-US" sz="1000" dirty="0"/>
          </a:p>
        </p:txBody>
      </p:sp>
      <p:sp>
        <p:nvSpPr>
          <p:cNvPr id="47" name="Shape 45"/>
          <p:cNvSpPr/>
          <p:nvPr/>
        </p:nvSpPr>
        <p:spPr>
          <a:xfrm>
            <a:off x="4434840" y="749808"/>
            <a:ext cx="0" cy="4224528"/>
          </a:xfrm>
          <a:prstGeom prst="line">
            <a:avLst/>
          </a:prstGeom>
          <a:noFill/>
          <a:ln w="12700">
            <a:solidFill>
              <a:srgbClr val="D0DCE8"/>
            </a:solidFill>
            <a:prstDash val="solid"/>
          </a:ln>
        </p:spPr>
        <p:txBody>
          <a:bodyPr/>
          <a:lstStyle/>
          <a:p>
            <a:endParaRPr lang="en-US"/>
          </a:p>
        </p:txBody>
      </p:sp>
      <p:sp>
        <p:nvSpPr>
          <p:cNvPr id="48" name="Shape 46"/>
          <p:cNvSpPr/>
          <p:nvPr/>
        </p:nvSpPr>
        <p:spPr>
          <a:xfrm>
            <a:off x="411480" y="3255264"/>
            <a:ext cx="3931920" cy="1572768"/>
          </a:xfrm>
          <a:prstGeom prst="rect">
            <a:avLst/>
          </a:prstGeom>
          <a:solidFill>
            <a:srgbClr val="F4F7FB"/>
          </a:solidFill>
          <a:ln w="12700">
            <a:solidFill>
              <a:srgbClr val="D0DCE8"/>
            </a:solidFill>
            <a:prstDash val="solid"/>
          </a:ln>
        </p:spPr>
        <p:txBody>
          <a:bodyPr/>
          <a:lstStyle/>
          <a:p>
            <a:endParaRPr lang="en-US"/>
          </a:p>
        </p:txBody>
      </p:sp>
      <p:sp>
        <p:nvSpPr>
          <p:cNvPr id="49" name="Text 47"/>
          <p:cNvSpPr/>
          <p:nvPr/>
        </p:nvSpPr>
        <p:spPr>
          <a:xfrm>
            <a:off x="502920" y="3291840"/>
            <a:ext cx="3749040" cy="292608"/>
          </a:xfrm>
          <a:prstGeom prst="rect">
            <a:avLst/>
          </a:prstGeom>
          <a:noFill/>
          <a:ln/>
        </p:spPr>
        <p:txBody>
          <a:bodyPr wrap="square" lIns="0" tIns="0" rIns="0" bIns="0" rtlCol="0" anchor="ctr"/>
          <a:lstStyle/>
          <a:p>
            <a:pPr marL="0" indent="0" algn="l">
              <a:buNone/>
            </a:pPr>
            <a:r>
              <a:rPr lang="en-US" sz="1100" b="1" dirty="0">
                <a:solidFill>
                  <a:srgbClr val="1E3A5F"/>
                </a:solidFill>
              </a:rPr>
              <a:t>VICEM cần chuẩn bị trước</a:t>
            </a:r>
            <a:endParaRPr lang="en-US" sz="1100" dirty="0"/>
          </a:p>
        </p:txBody>
      </p:sp>
      <p:sp>
        <p:nvSpPr>
          <p:cNvPr id="50" name="Text 48"/>
          <p:cNvSpPr/>
          <p:nvPr/>
        </p:nvSpPr>
        <p:spPr>
          <a:xfrm>
            <a:off x="502920" y="3621024"/>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Bộ 8 quy trình hiện hành (bản đang áp dụng)</a:t>
            </a:r>
            <a:endParaRPr lang="en-US" sz="850" dirty="0"/>
          </a:p>
        </p:txBody>
      </p:sp>
      <p:sp>
        <p:nvSpPr>
          <p:cNvPr id="51" name="Text 49"/>
          <p:cNvSpPr/>
          <p:nvPr/>
        </p:nvSpPr>
        <p:spPr>
          <a:xfrm>
            <a:off x="502920" y="3794760"/>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Quy chế QLDA: QĐ 2539/QĐ-VICEM (29/12/2023)</a:t>
            </a:r>
            <a:endParaRPr lang="en-US" sz="850" dirty="0"/>
          </a:p>
        </p:txBody>
      </p:sp>
      <p:sp>
        <p:nvSpPr>
          <p:cNvPr id="52" name="Text 50"/>
          <p:cNvSpPr/>
          <p:nvPr/>
        </p:nvSpPr>
        <p:spPr>
          <a:xfrm>
            <a:off x="502920" y="3968496"/>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Quy chế QLDA Hà Tiên: QĐ 02/07/2023/QĐ-HĐQT</a:t>
            </a:r>
            <a:endParaRPr lang="en-US" sz="850" dirty="0"/>
          </a:p>
        </p:txBody>
      </p:sp>
      <p:sp>
        <p:nvSpPr>
          <p:cNvPr id="53" name="Text 51"/>
          <p:cNvSpPr/>
          <p:nvPr/>
        </p:nvSpPr>
        <p:spPr>
          <a:xfrm>
            <a:off x="502920" y="4142232"/>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Sơ đồ tổ chức + Ban QLDA (bản mới nhất)</a:t>
            </a:r>
            <a:endParaRPr lang="en-US" sz="850" dirty="0"/>
          </a:p>
        </p:txBody>
      </p:sp>
      <p:sp>
        <p:nvSpPr>
          <p:cNvPr id="54" name="Text 52"/>
          <p:cNvSpPr/>
          <p:nvPr/>
        </p:nvSpPr>
        <p:spPr>
          <a:xfrm>
            <a:off x="502920" y="4315968"/>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Danh sách dự án 2–3 năm gần nhất</a:t>
            </a:r>
            <a:endParaRPr lang="en-US" sz="850" dirty="0"/>
          </a:p>
        </p:txBody>
      </p:sp>
      <p:sp>
        <p:nvSpPr>
          <p:cNvPr id="55" name="Text 53"/>
          <p:cNvSpPr/>
          <p:nvPr/>
        </p:nvSpPr>
        <p:spPr>
          <a:xfrm>
            <a:off x="502920" y="4489704"/>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Hồ sơ 1–2 dự án điển hình đã hoàn thành</a:t>
            </a:r>
            <a:endParaRPr lang="en-US" sz="850" dirty="0"/>
          </a:p>
        </p:txBody>
      </p:sp>
      <p:sp>
        <p:nvSpPr>
          <p:cNvPr id="56" name="Text 54"/>
          <p:cNvSpPr/>
          <p:nvPr/>
        </p:nvSpPr>
        <p:spPr>
          <a:xfrm>
            <a:off x="502920" y="4663440"/>
            <a:ext cx="3794760" cy="164592"/>
          </a:xfrm>
          <a:prstGeom prst="rect">
            <a:avLst/>
          </a:prstGeom>
          <a:noFill/>
          <a:ln/>
        </p:spPr>
        <p:txBody>
          <a:bodyPr wrap="square" lIns="0" tIns="0" rIns="0" bIns="0" rtlCol="0" anchor="ctr"/>
          <a:lstStyle/>
          <a:p>
            <a:pPr marL="0" indent="0" algn="l">
              <a:buNone/>
            </a:pPr>
            <a:r>
              <a:rPr lang="en-US" sz="850" dirty="0">
                <a:solidFill>
                  <a:srgbClr val="1A2B3C"/>
                </a:solidFill>
              </a:rPr>
              <a:t>▸  Danh sách phần mềm/hệ thống CNTT đang dùng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Tiến độ tổng thể — 45 ngày thực hiện hợp đồng</a:t>
            </a:r>
            <a:endParaRPr lang="en-US" sz="2200" dirty="0"/>
          </a:p>
        </p:txBody>
      </p:sp>
      <p:graphicFrame>
        <p:nvGraphicFramePr>
          <p:cNvPr id="3" name="Chart 0"/>
          <p:cNvGraphicFramePr/>
          <p:nvPr/>
        </p:nvGraphicFramePr>
        <p:xfrm>
          <a:off x="411480" y="777240"/>
          <a:ext cx="83210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2560320" y="4754880"/>
            <a:ext cx="256032" cy="256032"/>
          </a:xfrm>
          <a:prstGeom prst="rect">
            <a:avLst/>
          </a:prstGeom>
          <a:solidFill>
            <a:srgbClr val="1A6B3C"/>
          </a:solidFill>
          <a:ln w="12700">
            <a:solidFill>
              <a:srgbClr val="1A6B3C"/>
            </a:solidFill>
            <a:prstDash val="solid"/>
          </a:ln>
        </p:spPr>
        <p:txBody>
          <a:bodyPr/>
          <a:lstStyle/>
          <a:p>
            <a:endParaRPr lang="en-US"/>
          </a:p>
        </p:txBody>
      </p:sp>
      <p:sp>
        <p:nvSpPr>
          <p:cNvPr id="5" name="Text 2"/>
          <p:cNvSpPr/>
          <p:nvPr/>
        </p:nvSpPr>
        <p:spPr>
          <a:xfrm>
            <a:off x="2880360" y="4754880"/>
            <a:ext cx="3017520" cy="256032"/>
          </a:xfrm>
          <a:prstGeom prst="rect">
            <a:avLst/>
          </a:prstGeom>
          <a:noFill/>
          <a:ln/>
        </p:spPr>
        <p:txBody>
          <a:bodyPr wrap="square" lIns="0" tIns="0" rIns="0" bIns="0" rtlCol="0" anchor="ctr"/>
          <a:lstStyle/>
          <a:p>
            <a:pPr marL="0" indent="0" algn="l">
              <a:buNone/>
            </a:pPr>
            <a:r>
              <a:rPr lang="en-US" sz="1000" dirty="0">
                <a:solidFill>
                  <a:srgbClr val="1A2B3C"/>
                </a:solidFill>
              </a:rPr>
              <a:t>Hạng mục 1 (Khảo sát &amp; Đánh giá hiện trạng)</a:t>
            </a:r>
            <a:endParaRPr lang="en-US" sz="1000" dirty="0"/>
          </a:p>
        </p:txBody>
      </p:sp>
      <p:sp>
        <p:nvSpPr>
          <p:cNvPr id="6" name="Shape 3"/>
          <p:cNvSpPr/>
          <p:nvPr/>
        </p:nvSpPr>
        <p:spPr>
          <a:xfrm>
            <a:off x="6126480" y="4754880"/>
            <a:ext cx="256032" cy="256032"/>
          </a:xfrm>
          <a:prstGeom prst="rect">
            <a:avLst/>
          </a:prstGeom>
          <a:solidFill>
            <a:srgbClr val="1E3A5F"/>
          </a:solidFill>
          <a:ln w="12700">
            <a:solidFill>
              <a:srgbClr val="1E3A5F"/>
            </a:solidFill>
            <a:prstDash val="solid"/>
          </a:ln>
        </p:spPr>
        <p:txBody>
          <a:bodyPr/>
          <a:lstStyle/>
          <a:p>
            <a:endParaRPr lang="en-US"/>
          </a:p>
        </p:txBody>
      </p:sp>
      <p:sp>
        <p:nvSpPr>
          <p:cNvPr id="7" name="Text 4"/>
          <p:cNvSpPr/>
          <p:nvPr/>
        </p:nvSpPr>
        <p:spPr>
          <a:xfrm>
            <a:off x="6455664" y="4754880"/>
            <a:ext cx="2468880" cy="256032"/>
          </a:xfrm>
          <a:prstGeom prst="rect">
            <a:avLst/>
          </a:prstGeom>
          <a:noFill/>
          <a:ln/>
        </p:spPr>
        <p:txBody>
          <a:bodyPr wrap="square" lIns="0" tIns="0" rIns="0" bIns="0" rtlCol="0" anchor="ctr"/>
          <a:lstStyle/>
          <a:p>
            <a:pPr marL="0" indent="0" algn="l">
              <a:buNone/>
            </a:pPr>
            <a:r>
              <a:rPr lang="en-US" sz="1000" dirty="0">
                <a:solidFill>
                  <a:srgbClr val="1A2B3C"/>
                </a:solidFill>
              </a:rPr>
              <a:t>Hạng mục 2 (Cập nhật &amp; Soạn thảo quy trình)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475488"/>
          </a:xfrm>
          <a:prstGeom prst="rect">
            <a:avLst/>
          </a:prstGeom>
          <a:noFill/>
          <a:ln/>
        </p:spPr>
        <p:txBody>
          <a:bodyPr wrap="square" lIns="0" tIns="0" rIns="0" bIns="0" rtlCol="0" anchor="ctr"/>
          <a:lstStyle/>
          <a:p>
            <a:pPr marL="0" indent="0" algn="l">
              <a:buNone/>
            </a:pPr>
            <a:r>
              <a:rPr lang="en-US" sz="2200" b="1" dirty="0">
                <a:solidFill>
                  <a:srgbClr val="1E3A5F"/>
                </a:solidFill>
              </a:rPr>
              <a:t>Sản phẩm bàn giao &amp; Đội ngũ thực hiện</a:t>
            </a:r>
            <a:endParaRPr lang="en-US" sz="2200" dirty="0"/>
          </a:p>
        </p:txBody>
      </p:sp>
      <p:sp>
        <p:nvSpPr>
          <p:cNvPr id="3" name="Text 1"/>
          <p:cNvSpPr/>
          <p:nvPr/>
        </p:nvSpPr>
        <p:spPr>
          <a:xfrm>
            <a:off x="411480" y="795528"/>
            <a:ext cx="4572000" cy="292608"/>
          </a:xfrm>
          <a:prstGeom prst="rect">
            <a:avLst/>
          </a:prstGeom>
          <a:noFill/>
          <a:ln/>
        </p:spPr>
        <p:txBody>
          <a:bodyPr wrap="square" lIns="0" tIns="0" rIns="0" bIns="0" rtlCol="0" anchor="ctr"/>
          <a:lstStyle/>
          <a:p>
            <a:pPr marL="0" indent="0" algn="l">
              <a:buNone/>
            </a:pPr>
            <a:r>
              <a:rPr lang="en-US" sz="1100" b="1" dirty="0">
                <a:solidFill>
                  <a:srgbClr val="1E3A5F"/>
                </a:solidFill>
              </a:rPr>
              <a:t>SẢN PHẨM BÀN GIAO</a:t>
            </a:r>
            <a:endParaRPr lang="en-US" sz="1100" dirty="0"/>
          </a:p>
        </p:txBody>
      </p:sp>
      <p:sp>
        <p:nvSpPr>
          <p:cNvPr id="4" name="Shape 2"/>
          <p:cNvSpPr/>
          <p:nvPr/>
        </p:nvSpPr>
        <p:spPr>
          <a:xfrm>
            <a:off x="411480" y="1170432"/>
            <a:ext cx="4480560" cy="502920"/>
          </a:xfrm>
          <a:prstGeom prst="rect">
            <a:avLst/>
          </a:prstGeom>
          <a:solidFill>
            <a:srgbClr val="D5F5E3"/>
          </a:solidFill>
          <a:ln w="12700">
            <a:solidFill>
              <a:srgbClr val="1A6B3C"/>
            </a:solidFill>
            <a:prstDash val="solid"/>
          </a:ln>
        </p:spPr>
        <p:txBody>
          <a:bodyPr/>
          <a:lstStyle/>
          <a:p>
            <a:endParaRPr lang="en-US"/>
          </a:p>
        </p:txBody>
      </p:sp>
      <p:sp>
        <p:nvSpPr>
          <p:cNvPr id="5" name="Shape 3"/>
          <p:cNvSpPr/>
          <p:nvPr/>
        </p:nvSpPr>
        <p:spPr>
          <a:xfrm>
            <a:off x="411480" y="1170432"/>
            <a:ext cx="566928" cy="502920"/>
          </a:xfrm>
          <a:prstGeom prst="rect">
            <a:avLst/>
          </a:prstGeom>
          <a:solidFill>
            <a:srgbClr val="1A6B3C"/>
          </a:solidFill>
          <a:ln w="12700">
            <a:solidFill>
              <a:srgbClr val="1A6B3C"/>
            </a:solidFill>
            <a:prstDash val="solid"/>
          </a:ln>
        </p:spPr>
        <p:txBody>
          <a:bodyPr/>
          <a:lstStyle/>
          <a:p>
            <a:endParaRPr lang="en-US"/>
          </a:p>
        </p:txBody>
      </p:sp>
      <p:sp>
        <p:nvSpPr>
          <p:cNvPr id="6" name="Text 4"/>
          <p:cNvSpPr/>
          <p:nvPr/>
        </p:nvSpPr>
        <p:spPr>
          <a:xfrm>
            <a:off x="411480" y="1170432"/>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D1</a:t>
            </a:r>
            <a:endParaRPr lang="en-US" sz="1000" dirty="0"/>
          </a:p>
        </p:txBody>
      </p:sp>
      <p:sp>
        <p:nvSpPr>
          <p:cNvPr id="7" name="Text 5"/>
          <p:cNvSpPr/>
          <p:nvPr/>
        </p:nvSpPr>
        <p:spPr>
          <a:xfrm>
            <a:off x="1042416" y="1197864"/>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Báo cáo Khảo sát Hiện trạng</a:t>
            </a:r>
            <a:endParaRPr lang="en-US" sz="1100" dirty="0"/>
          </a:p>
        </p:txBody>
      </p:sp>
      <p:sp>
        <p:nvSpPr>
          <p:cNvPr id="8" name="Text 6"/>
          <p:cNvSpPr/>
          <p:nvPr/>
        </p:nvSpPr>
        <p:spPr>
          <a:xfrm>
            <a:off x="1042416" y="1444752"/>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20  —  Thanh toán đợt 1 (30%)</a:t>
            </a:r>
            <a:endParaRPr lang="en-US" sz="900" dirty="0"/>
          </a:p>
        </p:txBody>
      </p:sp>
      <p:sp>
        <p:nvSpPr>
          <p:cNvPr id="9" name="Shape 7"/>
          <p:cNvSpPr/>
          <p:nvPr/>
        </p:nvSpPr>
        <p:spPr>
          <a:xfrm>
            <a:off x="411480" y="1737360"/>
            <a:ext cx="4480560" cy="502920"/>
          </a:xfrm>
          <a:prstGeom prst="rect">
            <a:avLst/>
          </a:prstGeom>
          <a:solidFill>
            <a:srgbClr val="F4F7FB"/>
          </a:solidFill>
          <a:ln w="12700">
            <a:solidFill>
              <a:srgbClr val="D0DCE8"/>
            </a:solidFill>
            <a:prstDash val="solid"/>
          </a:ln>
        </p:spPr>
        <p:txBody>
          <a:bodyPr/>
          <a:lstStyle/>
          <a:p>
            <a:endParaRPr lang="en-US"/>
          </a:p>
        </p:txBody>
      </p:sp>
      <p:sp>
        <p:nvSpPr>
          <p:cNvPr id="10" name="Shape 8"/>
          <p:cNvSpPr/>
          <p:nvPr/>
        </p:nvSpPr>
        <p:spPr>
          <a:xfrm>
            <a:off x="411480" y="1737360"/>
            <a:ext cx="566928" cy="502920"/>
          </a:xfrm>
          <a:prstGeom prst="rect">
            <a:avLst/>
          </a:prstGeom>
          <a:solidFill>
            <a:srgbClr val="1E3A5F"/>
          </a:solidFill>
          <a:ln w="12700">
            <a:solidFill>
              <a:srgbClr val="1E3A5F"/>
            </a:solidFill>
            <a:prstDash val="solid"/>
          </a:ln>
        </p:spPr>
        <p:txBody>
          <a:bodyPr/>
          <a:lstStyle/>
          <a:p>
            <a:endParaRPr lang="en-US"/>
          </a:p>
        </p:txBody>
      </p:sp>
      <p:sp>
        <p:nvSpPr>
          <p:cNvPr id="11" name="Text 9"/>
          <p:cNvSpPr/>
          <p:nvPr/>
        </p:nvSpPr>
        <p:spPr>
          <a:xfrm>
            <a:off x="411480" y="1737360"/>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D3</a:t>
            </a:r>
            <a:endParaRPr lang="en-US" sz="1000" dirty="0"/>
          </a:p>
        </p:txBody>
      </p:sp>
      <p:sp>
        <p:nvSpPr>
          <p:cNvPr id="12" name="Text 10"/>
          <p:cNvSpPr/>
          <p:nvPr/>
        </p:nvSpPr>
        <p:spPr>
          <a:xfrm>
            <a:off x="1042416" y="1764792"/>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Bộ quy trình cập nhật (bản phê duyệt)</a:t>
            </a:r>
            <a:endParaRPr lang="en-US" sz="1100" dirty="0"/>
          </a:p>
        </p:txBody>
      </p:sp>
      <p:sp>
        <p:nvSpPr>
          <p:cNvPr id="13" name="Text 11"/>
          <p:cNvSpPr/>
          <p:nvPr/>
        </p:nvSpPr>
        <p:spPr>
          <a:xfrm>
            <a:off x="1042416" y="2011680"/>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45  —  Thanh toán đợt 2 (70%)</a:t>
            </a:r>
            <a:endParaRPr lang="en-US" sz="900" dirty="0"/>
          </a:p>
        </p:txBody>
      </p:sp>
      <p:sp>
        <p:nvSpPr>
          <p:cNvPr id="14" name="Shape 12"/>
          <p:cNvSpPr/>
          <p:nvPr/>
        </p:nvSpPr>
        <p:spPr>
          <a:xfrm>
            <a:off x="411480" y="2304288"/>
            <a:ext cx="4480560" cy="502920"/>
          </a:xfrm>
          <a:prstGeom prst="rect">
            <a:avLst/>
          </a:prstGeom>
          <a:solidFill>
            <a:srgbClr val="F4F7FB"/>
          </a:solidFill>
          <a:ln w="12700">
            <a:solidFill>
              <a:srgbClr val="D0DCE8"/>
            </a:solidFill>
            <a:prstDash val="solid"/>
          </a:ln>
        </p:spPr>
        <p:txBody>
          <a:bodyPr/>
          <a:lstStyle/>
          <a:p>
            <a:endParaRPr lang="en-US"/>
          </a:p>
        </p:txBody>
      </p:sp>
      <p:sp>
        <p:nvSpPr>
          <p:cNvPr id="15" name="Shape 13"/>
          <p:cNvSpPr/>
          <p:nvPr/>
        </p:nvSpPr>
        <p:spPr>
          <a:xfrm>
            <a:off x="411480" y="2304288"/>
            <a:ext cx="566928" cy="502920"/>
          </a:xfrm>
          <a:prstGeom prst="rect">
            <a:avLst/>
          </a:prstGeom>
          <a:solidFill>
            <a:srgbClr val="1E3A5F"/>
          </a:solidFill>
          <a:ln w="12700">
            <a:solidFill>
              <a:srgbClr val="1E3A5F"/>
            </a:solidFill>
            <a:prstDash val="solid"/>
          </a:ln>
        </p:spPr>
        <p:txBody>
          <a:bodyPr/>
          <a:lstStyle/>
          <a:p>
            <a:endParaRPr lang="en-US"/>
          </a:p>
        </p:txBody>
      </p:sp>
      <p:sp>
        <p:nvSpPr>
          <p:cNvPr id="16" name="Text 14"/>
          <p:cNvSpPr/>
          <p:nvPr/>
        </p:nvSpPr>
        <p:spPr>
          <a:xfrm>
            <a:off x="411480" y="2304288"/>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D4</a:t>
            </a:r>
            <a:endParaRPr lang="en-US" sz="1000" dirty="0"/>
          </a:p>
        </p:txBody>
      </p:sp>
      <p:sp>
        <p:nvSpPr>
          <p:cNvPr id="17" name="Text 15"/>
          <p:cNvSpPr/>
          <p:nvPr/>
        </p:nvSpPr>
        <p:spPr>
          <a:xfrm>
            <a:off x="1042416" y="2331720"/>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Bộ quy trình mới bổ sung (BIM, ATLĐ...)</a:t>
            </a:r>
            <a:endParaRPr lang="en-US" sz="1100" dirty="0"/>
          </a:p>
        </p:txBody>
      </p:sp>
      <p:sp>
        <p:nvSpPr>
          <p:cNvPr id="18" name="Text 16"/>
          <p:cNvSpPr/>
          <p:nvPr/>
        </p:nvSpPr>
        <p:spPr>
          <a:xfrm>
            <a:off x="1042416" y="2578608"/>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45</a:t>
            </a:r>
            <a:endParaRPr lang="en-US" sz="900" dirty="0"/>
          </a:p>
        </p:txBody>
      </p:sp>
      <p:sp>
        <p:nvSpPr>
          <p:cNvPr id="19" name="Shape 17"/>
          <p:cNvSpPr/>
          <p:nvPr/>
        </p:nvSpPr>
        <p:spPr>
          <a:xfrm>
            <a:off x="411480" y="2871216"/>
            <a:ext cx="4480560" cy="502920"/>
          </a:xfrm>
          <a:prstGeom prst="rect">
            <a:avLst/>
          </a:prstGeom>
          <a:solidFill>
            <a:srgbClr val="F4F7FB"/>
          </a:solidFill>
          <a:ln w="12700">
            <a:solidFill>
              <a:srgbClr val="D0DCE8"/>
            </a:solidFill>
            <a:prstDash val="solid"/>
          </a:ln>
        </p:spPr>
        <p:txBody>
          <a:bodyPr/>
          <a:lstStyle/>
          <a:p>
            <a:endParaRPr lang="en-US"/>
          </a:p>
        </p:txBody>
      </p:sp>
      <p:sp>
        <p:nvSpPr>
          <p:cNvPr id="20" name="Shape 18"/>
          <p:cNvSpPr/>
          <p:nvPr/>
        </p:nvSpPr>
        <p:spPr>
          <a:xfrm>
            <a:off x="411480" y="2871216"/>
            <a:ext cx="566928" cy="502920"/>
          </a:xfrm>
          <a:prstGeom prst="rect">
            <a:avLst/>
          </a:prstGeom>
          <a:solidFill>
            <a:srgbClr val="1E3A5F"/>
          </a:solidFill>
          <a:ln w="12700">
            <a:solidFill>
              <a:srgbClr val="1E3A5F"/>
            </a:solidFill>
            <a:prstDash val="solid"/>
          </a:ln>
        </p:spPr>
        <p:txBody>
          <a:bodyPr/>
          <a:lstStyle/>
          <a:p>
            <a:endParaRPr lang="en-US"/>
          </a:p>
        </p:txBody>
      </p:sp>
      <p:sp>
        <p:nvSpPr>
          <p:cNvPr id="21" name="Text 19"/>
          <p:cNvSpPr/>
          <p:nvPr/>
        </p:nvSpPr>
        <p:spPr>
          <a:xfrm>
            <a:off x="411480" y="2871216"/>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D5</a:t>
            </a:r>
            <a:endParaRPr lang="en-US" sz="1000" dirty="0"/>
          </a:p>
        </p:txBody>
      </p:sp>
      <p:sp>
        <p:nvSpPr>
          <p:cNvPr id="22" name="Text 20"/>
          <p:cNvSpPr/>
          <p:nvPr/>
        </p:nvSpPr>
        <p:spPr>
          <a:xfrm>
            <a:off x="1042416" y="2898648"/>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Toàn bộ biểu mẫu điện tử cập nhật</a:t>
            </a:r>
            <a:endParaRPr lang="en-US" sz="1100" dirty="0"/>
          </a:p>
        </p:txBody>
      </p:sp>
      <p:sp>
        <p:nvSpPr>
          <p:cNvPr id="23" name="Text 21"/>
          <p:cNvSpPr/>
          <p:nvPr/>
        </p:nvSpPr>
        <p:spPr>
          <a:xfrm>
            <a:off x="1042416" y="3145536"/>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45</a:t>
            </a:r>
            <a:endParaRPr lang="en-US" sz="900" dirty="0"/>
          </a:p>
        </p:txBody>
      </p:sp>
      <p:sp>
        <p:nvSpPr>
          <p:cNvPr id="24" name="Shape 22"/>
          <p:cNvSpPr/>
          <p:nvPr/>
        </p:nvSpPr>
        <p:spPr>
          <a:xfrm>
            <a:off x="411480" y="3438144"/>
            <a:ext cx="4480560" cy="502920"/>
          </a:xfrm>
          <a:prstGeom prst="rect">
            <a:avLst/>
          </a:prstGeom>
          <a:solidFill>
            <a:srgbClr val="F4F7FB"/>
          </a:solidFill>
          <a:ln w="12700">
            <a:solidFill>
              <a:srgbClr val="D0DCE8"/>
            </a:solidFill>
            <a:prstDash val="solid"/>
          </a:ln>
        </p:spPr>
        <p:txBody>
          <a:bodyPr/>
          <a:lstStyle/>
          <a:p>
            <a:endParaRPr lang="en-US"/>
          </a:p>
        </p:txBody>
      </p:sp>
      <p:sp>
        <p:nvSpPr>
          <p:cNvPr id="25" name="Shape 23"/>
          <p:cNvSpPr/>
          <p:nvPr/>
        </p:nvSpPr>
        <p:spPr>
          <a:xfrm>
            <a:off x="411480" y="3438144"/>
            <a:ext cx="566928" cy="502920"/>
          </a:xfrm>
          <a:prstGeom prst="rect">
            <a:avLst/>
          </a:prstGeom>
          <a:solidFill>
            <a:srgbClr val="1E3A5F"/>
          </a:solidFill>
          <a:ln w="12700">
            <a:solidFill>
              <a:srgbClr val="1E3A5F"/>
            </a:solidFill>
            <a:prstDash val="solid"/>
          </a:ln>
        </p:spPr>
        <p:txBody>
          <a:bodyPr/>
          <a:lstStyle/>
          <a:p>
            <a:endParaRPr lang="en-US"/>
          </a:p>
        </p:txBody>
      </p:sp>
      <p:sp>
        <p:nvSpPr>
          <p:cNvPr id="26" name="Text 24"/>
          <p:cNvSpPr/>
          <p:nvPr/>
        </p:nvSpPr>
        <p:spPr>
          <a:xfrm>
            <a:off x="411480" y="3438144"/>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D5a</a:t>
            </a:r>
            <a:endParaRPr lang="en-US" sz="1000" dirty="0"/>
          </a:p>
        </p:txBody>
      </p:sp>
      <p:sp>
        <p:nvSpPr>
          <p:cNvPr id="27" name="Text 25"/>
          <p:cNvSpPr/>
          <p:nvPr/>
        </p:nvSpPr>
        <p:spPr>
          <a:xfrm>
            <a:off x="1042416" y="3465576"/>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Legal Change Tracker (sáng kiến bổ sung)</a:t>
            </a:r>
            <a:endParaRPr lang="en-US" sz="1100" dirty="0"/>
          </a:p>
        </p:txBody>
      </p:sp>
      <p:sp>
        <p:nvSpPr>
          <p:cNvPr id="28" name="Text 26"/>
          <p:cNvSpPr/>
          <p:nvPr/>
        </p:nvSpPr>
        <p:spPr>
          <a:xfrm>
            <a:off x="1042416" y="3712464"/>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45</a:t>
            </a:r>
            <a:endParaRPr lang="en-US" sz="900" dirty="0"/>
          </a:p>
        </p:txBody>
      </p:sp>
      <p:sp>
        <p:nvSpPr>
          <p:cNvPr id="29" name="Shape 27"/>
          <p:cNvSpPr/>
          <p:nvPr/>
        </p:nvSpPr>
        <p:spPr>
          <a:xfrm>
            <a:off x="411480" y="4005072"/>
            <a:ext cx="4480560" cy="502920"/>
          </a:xfrm>
          <a:prstGeom prst="rect">
            <a:avLst/>
          </a:prstGeom>
          <a:solidFill>
            <a:srgbClr val="F4F7FB"/>
          </a:solidFill>
          <a:ln w="12700">
            <a:solidFill>
              <a:srgbClr val="D0DCE8"/>
            </a:solidFill>
            <a:prstDash val="solid"/>
          </a:ln>
        </p:spPr>
        <p:txBody>
          <a:bodyPr/>
          <a:lstStyle/>
          <a:p>
            <a:endParaRPr lang="en-US"/>
          </a:p>
        </p:txBody>
      </p:sp>
      <p:sp>
        <p:nvSpPr>
          <p:cNvPr id="30" name="Shape 28"/>
          <p:cNvSpPr/>
          <p:nvPr/>
        </p:nvSpPr>
        <p:spPr>
          <a:xfrm>
            <a:off x="411480" y="4005072"/>
            <a:ext cx="566928" cy="502920"/>
          </a:xfrm>
          <a:prstGeom prst="rect">
            <a:avLst/>
          </a:prstGeom>
          <a:solidFill>
            <a:srgbClr val="1E3A5F"/>
          </a:solidFill>
          <a:ln w="12700">
            <a:solidFill>
              <a:srgbClr val="1E3A5F"/>
            </a:solidFill>
            <a:prstDash val="solid"/>
          </a:ln>
        </p:spPr>
        <p:txBody>
          <a:bodyPr/>
          <a:lstStyle/>
          <a:p>
            <a:endParaRPr lang="en-US"/>
          </a:p>
        </p:txBody>
      </p:sp>
      <p:sp>
        <p:nvSpPr>
          <p:cNvPr id="31" name="Text 29"/>
          <p:cNvSpPr/>
          <p:nvPr/>
        </p:nvSpPr>
        <p:spPr>
          <a:xfrm>
            <a:off x="411480" y="4005072"/>
            <a:ext cx="566928" cy="502920"/>
          </a:xfrm>
          <a:prstGeom prst="rect">
            <a:avLst/>
          </a:prstGeom>
          <a:noFill/>
          <a:ln/>
        </p:spPr>
        <p:txBody>
          <a:bodyPr wrap="square" lIns="0" tIns="0" rIns="0" bIns="0" rtlCol="0" anchor="ctr"/>
          <a:lstStyle/>
          <a:p>
            <a:pPr marL="0" indent="0" algn="ctr">
              <a:buNone/>
            </a:pPr>
            <a:r>
              <a:rPr lang="en-US" sz="1000" b="1" dirty="0">
                <a:solidFill>
                  <a:srgbClr val="FFFFFF"/>
                </a:solidFill>
              </a:rPr>
              <a:t>D6</a:t>
            </a:r>
            <a:endParaRPr lang="en-US" sz="1000" dirty="0"/>
          </a:p>
        </p:txBody>
      </p:sp>
      <p:sp>
        <p:nvSpPr>
          <p:cNvPr id="32" name="Text 30"/>
          <p:cNvSpPr/>
          <p:nvPr/>
        </p:nvSpPr>
        <p:spPr>
          <a:xfrm>
            <a:off x="1042416" y="4032504"/>
            <a:ext cx="3200400" cy="256032"/>
          </a:xfrm>
          <a:prstGeom prst="rect">
            <a:avLst/>
          </a:prstGeom>
          <a:noFill/>
          <a:ln/>
        </p:spPr>
        <p:txBody>
          <a:bodyPr wrap="square" lIns="0" tIns="0" rIns="0" bIns="0" rtlCol="0" anchor="ctr"/>
          <a:lstStyle/>
          <a:p>
            <a:pPr marL="0" indent="0" algn="l">
              <a:buNone/>
            </a:pPr>
            <a:r>
              <a:rPr lang="en-US" sz="1100" b="1" dirty="0">
                <a:solidFill>
                  <a:srgbClr val="1A2B3C"/>
                </a:solidFill>
              </a:rPr>
              <a:t>Biên bản tập huấn + Tài liệu hướng dẫn</a:t>
            </a:r>
            <a:endParaRPr lang="en-US" sz="1100" dirty="0"/>
          </a:p>
        </p:txBody>
      </p:sp>
      <p:sp>
        <p:nvSpPr>
          <p:cNvPr id="33" name="Text 31"/>
          <p:cNvSpPr/>
          <p:nvPr/>
        </p:nvSpPr>
        <p:spPr>
          <a:xfrm>
            <a:off x="1042416" y="4279392"/>
            <a:ext cx="3749040" cy="201168"/>
          </a:xfrm>
          <a:prstGeom prst="rect">
            <a:avLst/>
          </a:prstGeom>
          <a:noFill/>
          <a:ln/>
        </p:spPr>
        <p:txBody>
          <a:bodyPr wrap="square" lIns="0" tIns="0" rIns="0" bIns="0" rtlCol="0" anchor="ctr"/>
          <a:lstStyle/>
          <a:p>
            <a:pPr marL="0" indent="0" algn="l">
              <a:buNone/>
            </a:pPr>
            <a:r>
              <a:rPr lang="en-US" sz="900" dirty="0">
                <a:solidFill>
                  <a:srgbClr val="4A6280"/>
                </a:solidFill>
              </a:rPr>
              <a:t>Ngày 45</a:t>
            </a:r>
            <a:endParaRPr lang="en-US" sz="900" dirty="0"/>
          </a:p>
        </p:txBody>
      </p:sp>
      <p:sp>
        <p:nvSpPr>
          <p:cNvPr id="34" name="Shape 32"/>
          <p:cNvSpPr/>
          <p:nvPr/>
        </p:nvSpPr>
        <p:spPr>
          <a:xfrm>
            <a:off x="5074920" y="749808"/>
            <a:ext cx="0" cy="4224528"/>
          </a:xfrm>
          <a:prstGeom prst="line">
            <a:avLst/>
          </a:prstGeom>
          <a:noFill/>
          <a:ln w="12700">
            <a:solidFill>
              <a:srgbClr val="D0DCE8"/>
            </a:solidFill>
            <a:prstDash val="solid"/>
          </a:ln>
        </p:spPr>
        <p:txBody>
          <a:bodyPr/>
          <a:lstStyle/>
          <a:p>
            <a:endParaRPr lang="en-US"/>
          </a:p>
        </p:txBody>
      </p:sp>
      <p:sp>
        <p:nvSpPr>
          <p:cNvPr id="35" name="Text 33"/>
          <p:cNvSpPr/>
          <p:nvPr/>
        </p:nvSpPr>
        <p:spPr>
          <a:xfrm>
            <a:off x="5212080" y="795528"/>
            <a:ext cx="3566160" cy="292608"/>
          </a:xfrm>
          <a:prstGeom prst="rect">
            <a:avLst/>
          </a:prstGeom>
          <a:noFill/>
          <a:ln/>
        </p:spPr>
        <p:txBody>
          <a:bodyPr wrap="square" lIns="0" tIns="0" rIns="0" bIns="0" rtlCol="0" anchor="ctr"/>
          <a:lstStyle/>
          <a:p>
            <a:pPr marL="0" indent="0" algn="l">
              <a:buNone/>
            </a:pPr>
            <a:r>
              <a:rPr lang="en-US" sz="1100" b="1" dirty="0">
                <a:solidFill>
                  <a:srgbClr val="1E3A5F"/>
                </a:solidFill>
              </a:rPr>
              <a:t>ĐỘI NGŨ THỰC HIỆN</a:t>
            </a:r>
            <a:endParaRPr lang="en-US" sz="1100" dirty="0"/>
          </a:p>
        </p:txBody>
      </p:sp>
      <p:sp>
        <p:nvSpPr>
          <p:cNvPr id="36" name="Shape 34"/>
          <p:cNvSpPr/>
          <p:nvPr/>
        </p:nvSpPr>
        <p:spPr>
          <a:xfrm>
            <a:off x="5212080" y="1170432"/>
            <a:ext cx="3566160" cy="713232"/>
          </a:xfrm>
          <a:prstGeom prst="rect">
            <a:avLst/>
          </a:prstGeom>
          <a:solidFill>
            <a:srgbClr val="F4F7FB"/>
          </a:solidFill>
          <a:ln w="12700">
            <a:solidFill>
              <a:srgbClr val="D0DCE8"/>
            </a:solidFill>
            <a:prstDash val="solid"/>
          </a:ln>
        </p:spPr>
        <p:txBody>
          <a:bodyPr/>
          <a:lstStyle/>
          <a:p>
            <a:endParaRPr lang="en-US"/>
          </a:p>
        </p:txBody>
      </p:sp>
      <p:sp>
        <p:nvSpPr>
          <p:cNvPr id="37" name="Shape 35"/>
          <p:cNvSpPr/>
          <p:nvPr/>
        </p:nvSpPr>
        <p:spPr>
          <a:xfrm>
            <a:off x="5212080" y="1170432"/>
            <a:ext cx="182880" cy="713232"/>
          </a:xfrm>
          <a:prstGeom prst="rect">
            <a:avLst/>
          </a:prstGeom>
          <a:solidFill>
            <a:srgbClr val="E67E22"/>
          </a:solidFill>
          <a:ln w="12700">
            <a:solidFill>
              <a:srgbClr val="E67E22"/>
            </a:solidFill>
            <a:prstDash val="solid"/>
          </a:ln>
        </p:spPr>
        <p:txBody>
          <a:bodyPr/>
          <a:lstStyle/>
          <a:p>
            <a:endParaRPr lang="en-US"/>
          </a:p>
        </p:txBody>
      </p:sp>
      <p:sp>
        <p:nvSpPr>
          <p:cNvPr id="38" name="Text 36"/>
          <p:cNvSpPr/>
          <p:nvPr/>
        </p:nvSpPr>
        <p:spPr>
          <a:xfrm>
            <a:off x="5486400" y="1207008"/>
            <a:ext cx="2194560" cy="320040"/>
          </a:xfrm>
          <a:prstGeom prst="rect">
            <a:avLst/>
          </a:prstGeom>
          <a:noFill/>
          <a:ln/>
        </p:spPr>
        <p:txBody>
          <a:bodyPr wrap="square" lIns="0" tIns="0" rIns="0" bIns="0" rtlCol="0" anchor="ctr"/>
          <a:lstStyle/>
          <a:p>
            <a:pPr marL="0" indent="0" algn="l">
              <a:buNone/>
            </a:pPr>
            <a:r>
              <a:rPr lang="en-US" sz="1100" b="1" dirty="0">
                <a:solidFill>
                  <a:srgbClr val="1E3A5F"/>
                </a:solidFill>
              </a:rPr>
              <a:t>Tư vấn trưởng</a:t>
            </a:r>
            <a:endParaRPr lang="en-US" sz="1100" dirty="0"/>
          </a:p>
        </p:txBody>
      </p:sp>
      <p:sp>
        <p:nvSpPr>
          <p:cNvPr id="39" name="Shape 37"/>
          <p:cNvSpPr/>
          <p:nvPr/>
        </p:nvSpPr>
        <p:spPr>
          <a:xfrm>
            <a:off x="7662672" y="1207008"/>
            <a:ext cx="1005840" cy="274320"/>
          </a:xfrm>
          <a:prstGeom prst="rect">
            <a:avLst/>
          </a:prstGeom>
          <a:solidFill>
            <a:srgbClr val="1E3A5F"/>
          </a:solidFill>
          <a:ln w="12700">
            <a:solidFill>
              <a:srgbClr val="1E3A5F"/>
            </a:solidFill>
            <a:prstDash val="solid"/>
          </a:ln>
        </p:spPr>
        <p:txBody>
          <a:bodyPr/>
          <a:lstStyle/>
          <a:p>
            <a:endParaRPr lang="en-US"/>
          </a:p>
        </p:txBody>
      </p:sp>
      <p:sp>
        <p:nvSpPr>
          <p:cNvPr id="40" name="Text 38"/>
          <p:cNvSpPr/>
          <p:nvPr/>
        </p:nvSpPr>
        <p:spPr>
          <a:xfrm>
            <a:off x="7662672" y="1207008"/>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rPr>
              <a:t>100% / 45 ngày</a:t>
            </a:r>
            <a:endParaRPr lang="en-US" sz="800" dirty="0"/>
          </a:p>
        </p:txBody>
      </p:sp>
      <p:sp>
        <p:nvSpPr>
          <p:cNvPr id="41" name="Text 39"/>
          <p:cNvSpPr/>
          <p:nvPr/>
        </p:nvSpPr>
        <p:spPr>
          <a:xfrm>
            <a:off x="5486400" y="1517904"/>
            <a:ext cx="3200400" cy="329184"/>
          </a:xfrm>
          <a:prstGeom prst="rect">
            <a:avLst/>
          </a:prstGeom>
          <a:noFill/>
          <a:ln/>
        </p:spPr>
        <p:txBody>
          <a:bodyPr wrap="square" lIns="0" tIns="0" rIns="0" bIns="0" rtlCol="0" anchor="ctr"/>
          <a:lstStyle/>
          <a:p>
            <a:pPr marL="0" indent="0" algn="l">
              <a:buNone/>
            </a:pPr>
            <a:r>
              <a:rPr lang="en-US" sz="950" dirty="0">
                <a:solidFill>
                  <a:srgbClr val="4A6280"/>
                </a:solidFill>
              </a:rPr>
              <a:t>Thạc sỹ QLXD — Chỉ đạo chung, duyệt sản phẩm</a:t>
            </a:r>
            <a:endParaRPr lang="en-US" sz="950" dirty="0"/>
          </a:p>
        </p:txBody>
      </p:sp>
      <p:sp>
        <p:nvSpPr>
          <p:cNvPr id="42" name="Shape 40"/>
          <p:cNvSpPr/>
          <p:nvPr/>
        </p:nvSpPr>
        <p:spPr>
          <a:xfrm>
            <a:off x="5212080" y="1975104"/>
            <a:ext cx="3566160" cy="713232"/>
          </a:xfrm>
          <a:prstGeom prst="rect">
            <a:avLst/>
          </a:prstGeom>
          <a:solidFill>
            <a:srgbClr val="F4F7FB"/>
          </a:solidFill>
          <a:ln w="12700">
            <a:solidFill>
              <a:srgbClr val="D0DCE8"/>
            </a:solidFill>
            <a:prstDash val="solid"/>
          </a:ln>
        </p:spPr>
        <p:txBody>
          <a:bodyPr/>
          <a:lstStyle/>
          <a:p>
            <a:endParaRPr lang="en-US"/>
          </a:p>
        </p:txBody>
      </p:sp>
      <p:sp>
        <p:nvSpPr>
          <p:cNvPr id="43" name="Shape 41"/>
          <p:cNvSpPr/>
          <p:nvPr/>
        </p:nvSpPr>
        <p:spPr>
          <a:xfrm>
            <a:off x="5212080" y="1975104"/>
            <a:ext cx="182880" cy="713232"/>
          </a:xfrm>
          <a:prstGeom prst="rect">
            <a:avLst/>
          </a:prstGeom>
          <a:solidFill>
            <a:srgbClr val="E67E22"/>
          </a:solidFill>
          <a:ln w="12700">
            <a:solidFill>
              <a:srgbClr val="E67E22"/>
            </a:solidFill>
            <a:prstDash val="solid"/>
          </a:ln>
        </p:spPr>
        <p:txBody>
          <a:bodyPr/>
          <a:lstStyle/>
          <a:p>
            <a:endParaRPr lang="en-US"/>
          </a:p>
        </p:txBody>
      </p:sp>
      <p:sp>
        <p:nvSpPr>
          <p:cNvPr id="44" name="Text 42"/>
          <p:cNvSpPr/>
          <p:nvPr/>
        </p:nvSpPr>
        <p:spPr>
          <a:xfrm>
            <a:off x="5486400" y="2011680"/>
            <a:ext cx="2194560" cy="320040"/>
          </a:xfrm>
          <a:prstGeom prst="rect">
            <a:avLst/>
          </a:prstGeom>
          <a:noFill/>
          <a:ln/>
        </p:spPr>
        <p:txBody>
          <a:bodyPr wrap="square" lIns="0" tIns="0" rIns="0" bIns="0" rtlCol="0" anchor="ctr"/>
          <a:lstStyle/>
          <a:p>
            <a:pPr marL="0" indent="0" algn="l">
              <a:buNone/>
            </a:pPr>
            <a:r>
              <a:rPr lang="en-US" sz="1100" b="1" dirty="0">
                <a:solidFill>
                  <a:srgbClr val="1E3A5F"/>
                </a:solidFill>
              </a:rPr>
              <a:t>Chuyên viên 1</a:t>
            </a:r>
            <a:endParaRPr lang="en-US" sz="1100" dirty="0"/>
          </a:p>
          <a:p>
            <a:pPr marL="0" indent="0" algn="l">
              <a:buNone/>
            </a:pPr>
            <a:r>
              <a:rPr lang="en-US" sz="1100" b="1" dirty="0">
                <a:solidFill>
                  <a:srgbClr val="1E3A5F"/>
                </a:solidFill>
              </a:rPr>
              <a:t>(Pháp lý)</a:t>
            </a:r>
            <a:endParaRPr lang="en-US" sz="1100" dirty="0"/>
          </a:p>
        </p:txBody>
      </p:sp>
      <p:sp>
        <p:nvSpPr>
          <p:cNvPr id="45" name="Shape 43"/>
          <p:cNvSpPr/>
          <p:nvPr/>
        </p:nvSpPr>
        <p:spPr>
          <a:xfrm>
            <a:off x="7662672" y="2011680"/>
            <a:ext cx="1005840" cy="274320"/>
          </a:xfrm>
          <a:prstGeom prst="rect">
            <a:avLst/>
          </a:prstGeom>
          <a:solidFill>
            <a:srgbClr val="1E3A5F"/>
          </a:solidFill>
          <a:ln w="12700">
            <a:solidFill>
              <a:srgbClr val="1E3A5F"/>
            </a:solidFill>
            <a:prstDash val="solid"/>
          </a:ln>
        </p:spPr>
        <p:txBody>
          <a:bodyPr/>
          <a:lstStyle/>
          <a:p>
            <a:endParaRPr lang="en-US"/>
          </a:p>
        </p:txBody>
      </p:sp>
      <p:sp>
        <p:nvSpPr>
          <p:cNvPr id="46" name="Text 44"/>
          <p:cNvSpPr/>
          <p:nvPr/>
        </p:nvSpPr>
        <p:spPr>
          <a:xfrm>
            <a:off x="7662672" y="2011680"/>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rPr>
              <a:t>80% / D1–D42</a:t>
            </a:r>
            <a:endParaRPr lang="en-US" sz="800" dirty="0"/>
          </a:p>
        </p:txBody>
      </p:sp>
      <p:sp>
        <p:nvSpPr>
          <p:cNvPr id="47" name="Text 45"/>
          <p:cNvSpPr/>
          <p:nvPr/>
        </p:nvSpPr>
        <p:spPr>
          <a:xfrm>
            <a:off x="5486400" y="2322576"/>
            <a:ext cx="3200400" cy="329184"/>
          </a:xfrm>
          <a:prstGeom prst="rect">
            <a:avLst/>
          </a:prstGeom>
          <a:noFill/>
          <a:ln/>
        </p:spPr>
        <p:txBody>
          <a:bodyPr wrap="square" lIns="0" tIns="0" rIns="0" bIns="0" rtlCol="0" anchor="ctr"/>
          <a:lstStyle/>
          <a:p>
            <a:pPr marL="0" indent="0" algn="l">
              <a:buNone/>
            </a:pPr>
            <a:r>
              <a:rPr lang="en-US" sz="950" dirty="0">
                <a:solidFill>
                  <a:srgbClr val="4A6280"/>
                </a:solidFill>
              </a:rPr>
              <a:t>Pháp luật XD — Legal Gap Matrix, QT hợp đồng</a:t>
            </a:r>
            <a:endParaRPr lang="en-US" sz="950" dirty="0"/>
          </a:p>
        </p:txBody>
      </p:sp>
      <p:sp>
        <p:nvSpPr>
          <p:cNvPr id="48" name="Shape 46"/>
          <p:cNvSpPr/>
          <p:nvPr/>
        </p:nvSpPr>
        <p:spPr>
          <a:xfrm>
            <a:off x="5212080" y="2779776"/>
            <a:ext cx="3566160" cy="713232"/>
          </a:xfrm>
          <a:prstGeom prst="rect">
            <a:avLst/>
          </a:prstGeom>
          <a:solidFill>
            <a:srgbClr val="F4F7FB"/>
          </a:solidFill>
          <a:ln w="12700">
            <a:solidFill>
              <a:srgbClr val="D0DCE8"/>
            </a:solidFill>
            <a:prstDash val="solid"/>
          </a:ln>
        </p:spPr>
        <p:txBody>
          <a:bodyPr/>
          <a:lstStyle/>
          <a:p>
            <a:endParaRPr lang="en-US"/>
          </a:p>
        </p:txBody>
      </p:sp>
      <p:sp>
        <p:nvSpPr>
          <p:cNvPr id="49" name="Shape 47"/>
          <p:cNvSpPr/>
          <p:nvPr/>
        </p:nvSpPr>
        <p:spPr>
          <a:xfrm>
            <a:off x="5212080" y="2779776"/>
            <a:ext cx="182880" cy="713232"/>
          </a:xfrm>
          <a:prstGeom prst="rect">
            <a:avLst/>
          </a:prstGeom>
          <a:solidFill>
            <a:srgbClr val="E67E22"/>
          </a:solidFill>
          <a:ln w="12700">
            <a:solidFill>
              <a:srgbClr val="E67E22"/>
            </a:solidFill>
            <a:prstDash val="solid"/>
          </a:ln>
        </p:spPr>
        <p:txBody>
          <a:bodyPr/>
          <a:lstStyle/>
          <a:p>
            <a:endParaRPr lang="en-US"/>
          </a:p>
        </p:txBody>
      </p:sp>
      <p:sp>
        <p:nvSpPr>
          <p:cNvPr id="50" name="Text 48"/>
          <p:cNvSpPr/>
          <p:nvPr/>
        </p:nvSpPr>
        <p:spPr>
          <a:xfrm>
            <a:off x="5486400" y="2816352"/>
            <a:ext cx="2194560" cy="320040"/>
          </a:xfrm>
          <a:prstGeom prst="rect">
            <a:avLst/>
          </a:prstGeom>
          <a:noFill/>
          <a:ln/>
        </p:spPr>
        <p:txBody>
          <a:bodyPr wrap="square" lIns="0" tIns="0" rIns="0" bIns="0" rtlCol="0" anchor="ctr"/>
          <a:lstStyle/>
          <a:p>
            <a:pPr marL="0" indent="0" algn="l">
              <a:buNone/>
            </a:pPr>
            <a:r>
              <a:rPr lang="en-US" sz="1100" b="1" dirty="0">
                <a:solidFill>
                  <a:srgbClr val="1E3A5F"/>
                </a:solidFill>
              </a:rPr>
              <a:t>Chuyên viên 2</a:t>
            </a:r>
            <a:endParaRPr lang="en-US" sz="1100" dirty="0"/>
          </a:p>
          <a:p>
            <a:pPr marL="0" indent="0" algn="l">
              <a:buNone/>
            </a:pPr>
            <a:r>
              <a:rPr lang="en-US" sz="1100" b="1" dirty="0">
                <a:solidFill>
                  <a:srgbClr val="1E3A5F"/>
                </a:solidFill>
              </a:rPr>
              <a:t>(QLDA)</a:t>
            </a:r>
            <a:endParaRPr lang="en-US" sz="1100" dirty="0"/>
          </a:p>
        </p:txBody>
      </p:sp>
      <p:sp>
        <p:nvSpPr>
          <p:cNvPr id="51" name="Shape 49"/>
          <p:cNvSpPr/>
          <p:nvPr/>
        </p:nvSpPr>
        <p:spPr>
          <a:xfrm>
            <a:off x="7662672" y="2816352"/>
            <a:ext cx="1005840" cy="274320"/>
          </a:xfrm>
          <a:prstGeom prst="rect">
            <a:avLst/>
          </a:prstGeom>
          <a:solidFill>
            <a:srgbClr val="1E3A5F"/>
          </a:solidFill>
          <a:ln w="12700">
            <a:solidFill>
              <a:srgbClr val="1E3A5F"/>
            </a:solidFill>
            <a:prstDash val="solid"/>
          </a:ln>
        </p:spPr>
        <p:txBody>
          <a:bodyPr/>
          <a:lstStyle/>
          <a:p>
            <a:endParaRPr lang="en-US"/>
          </a:p>
        </p:txBody>
      </p:sp>
      <p:sp>
        <p:nvSpPr>
          <p:cNvPr id="52" name="Text 50"/>
          <p:cNvSpPr/>
          <p:nvPr/>
        </p:nvSpPr>
        <p:spPr>
          <a:xfrm>
            <a:off x="7662672" y="2816352"/>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rPr>
              <a:t>80% / D7–D38</a:t>
            </a:r>
            <a:endParaRPr lang="en-US" sz="800" dirty="0"/>
          </a:p>
        </p:txBody>
      </p:sp>
      <p:sp>
        <p:nvSpPr>
          <p:cNvPr id="53" name="Text 51"/>
          <p:cNvSpPr/>
          <p:nvPr/>
        </p:nvSpPr>
        <p:spPr>
          <a:xfrm>
            <a:off x="5486400" y="3127248"/>
            <a:ext cx="3200400" cy="329184"/>
          </a:xfrm>
          <a:prstGeom prst="rect">
            <a:avLst/>
          </a:prstGeom>
          <a:noFill/>
          <a:ln/>
        </p:spPr>
        <p:txBody>
          <a:bodyPr wrap="square" lIns="0" tIns="0" rIns="0" bIns="0" rtlCol="0" anchor="ctr"/>
          <a:lstStyle/>
          <a:p>
            <a:pPr marL="0" indent="0" algn="l">
              <a:buNone/>
            </a:pPr>
            <a:r>
              <a:rPr lang="en-US" sz="950" dirty="0">
                <a:solidFill>
                  <a:srgbClr val="4A6280"/>
                </a:solidFill>
              </a:rPr>
              <a:t>QLDA/Kỹ thuật — Khảo sát, QT kỹ thuật</a:t>
            </a:r>
            <a:endParaRPr lang="en-US" sz="950" dirty="0"/>
          </a:p>
        </p:txBody>
      </p:sp>
      <p:sp>
        <p:nvSpPr>
          <p:cNvPr id="54" name="Shape 52"/>
          <p:cNvSpPr/>
          <p:nvPr/>
        </p:nvSpPr>
        <p:spPr>
          <a:xfrm>
            <a:off x="5212080" y="3584448"/>
            <a:ext cx="3566160" cy="713232"/>
          </a:xfrm>
          <a:prstGeom prst="rect">
            <a:avLst/>
          </a:prstGeom>
          <a:solidFill>
            <a:srgbClr val="F4F7FB"/>
          </a:solidFill>
          <a:ln w="12700">
            <a:solidFill>
              <a:srgbClr val="D0DCE8"/>
            </a:solidFill>
            <a:prstDash val="solid"/>
          </a:ln>
        </p:spPr>
        <p:txBody>
          <a:bodyPr/>
          <a:lstStyle/>
          <a:p>
            <a:endParaRPr lang="en-US"/>
          </a:p>
        </p:txBody>
      </p:sp>
      <p:sp>
        <p:nvSpPr>
          <p:cNvPr id="55" name="Shape 53"/>
          <p:cNvSpPr/>
          <p:nvPr/>
        </p:nvSpPr>
        <p:spPr>
          <a:xfrm>
            <a:off x="5212080" y="3584448"/>
            <a:ext cx="182880" cy="713232"/>
          </a:xfrm>
          <a:prstGeom prst="rect">
            <a:avLst/>
          </a:prstGeom>
          <a:solidFill>
            <a:srgbClr val="E67E22"/>
          </a:solidFill>
          <a:ln w="12700">
            <a:solidFill>
              <a:srgbClr val="E67E22"/>
            </a:solidFill>
            <a:prstDash val="solid"/>
          </a:ln>
        </p:spPr>
        <p:txBody>
          <a:bodyPr/>
          <a:lstStyle/>
          <a:p>
            <a:endParaRPr lang="en-US"/>
          </a:p>
        </p:txBody>
      </p:sp>
      <p:sp>
        <p:nvSpPr>
          <p:cNvPr id="56" name="Text 54"/>
          <p:cNvSpPr/>
          <p:nvPr/>
        </p:nvSpPr>
        <p:spPr>
          <a:xfrm>
            <a:off x="5486400" y="3621024"/>
            <a:ext cx="2194560" cy="320040"/>
          </a:xfrm>
          <a:prstGeom prst="rect">
            <a:avLst/>
          </a:prstGeom>
          <a:noFill/>
          <a:ln/>
        </p:spPr>
        <p:txBody>
          <a:bodyPr wrap="square" lIns="0" tIns="0" rIns="0" bIns="0" rtlCol="0" anchor="ctr"/>
          <a:lstStyle/>
          <a:p>
            <a:pPr marL="0" indent="0" algn="l">
              <a:buNone/>
            </a:pPr>
            <a:r>
              <a:rPr lang="en-US" sz="1100" b="1" dirty="0">
                <a:solidFill>
                  <a:srgbClr val="1E3A5F"/>
                </a:solidFill>
              </a:rPr>
              <a:t>Chuyên viên 3</a:t>
            </a:r>
            <a:endParaRPr lang="en-US" sz="1100" dirty="0"/>
          </a:p>
          <a:p>
            <a:pPr marL="0" indent="0" algn="l">
              <a:buNone/>
            </a:pPr>
            <a:r>
              <a:rPr lang="en-US" sz="1100" b="1" dirty="0">
                <a:solidFill>
                  <a:srgbClr val="1E3A5F"/>
                </a:solidFill>
              </a:rPr>
              <a:t>(Kinh tế XD)</a:t>
            </a:r>
            <a:endParaRPr lang="en-US" sz="1100" dirty="0"/>
          </a:p>
        </p:txBody>
      </p:sp>
      <p:sp>
        <p:nvSpPr>
          <p:cNvPr id="57" name="Shape 55"/>
          <p:cNvSpPr/>
          <p:nvPr/>
        </p:nvSpPr>
        <p:spPr>
          <a:xfrm>
            <a:off x="7662672" y="3621024"/>
            <a:ext cx="1005840" cy="274320"/>
          </a:xfrm>
          <a:prstGeom prst="rect">
            <a:avLst/>
          </a:prstGeom>
          <a:solidFill>
            <a:srgbClr val="1E3A5F"/>
          </a:solidFill>
          <a:ln w="12700">
            <a:solidFill>
              <a:srgbClr val="1E3A5F"/>
            </a:solidFill>
            <a:prstDash val="solid"/>
          </a:ln>
        </p:spPr>
        <p:txBody>
          <a:bodyPr/>
          <a:lstStyle/>
          <a:p>
            <a:endParaRPr lang="en-US"/>
          </a:p>
        </p:txBody>
      </p:sp>
      <p:sp>
        <p:nvSpPr>
          <p:cNvPr id="58" name="Text 56"/>
          <p:cNvSpPr/>
          <p:nvPr/>
        </p:nvSpPr>
        <p:spPr>
          <a:xfrm>
            <a:off x="7662672" y="3621024"/>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rPr>
              <a:t>70% / D7–D45</a:t>
            </a:r>
            <a:endParaRPr lang="en-US" sz="800" dirty="0"/>
          </a:p>
        </p:txBody>
      </p:sp>
      <p:sp>
        <p:nvSpPr>
          <p:cNvPr id="59" name="Text 57"/>
          <p:cNvSpPr/>
          <p:nvPr/>
        </p:nvSpPr>
        <p:spPr>
          <a:xfrm>
            <a:off x="5486400" y="3931920"/>
            <a:ext cx="3200400" cy="329184"/>
          </a:xfrm>
          <a:prstGeom prst="rect">
            <a:avLst/>
          </a:prstGeom>
          <a:noFill/>
          <a:ln/>
        </p:spPr>
        <p:txBody>
          <a:bodyPr wrap="square" lIns="0" tIns="0" rIns="0" bIns="0" rtlCol="0" anchor="ctr"/>
          <a:lstStyle/>
          <a:p>
            <a:pPr marL="0" indent="0" algn="l">
              <a:buNone/>
            </a:pPr>
            <a:r>
              <a:rPr lang="en-US" sz="950" dirty="0">
                <a:solidFill>
                  <a:srgbClr val="4A6280"/>
                </a:solidFill>
              </a:rPr>
              <a:t>Kinh tế XD — QT tài chính, biểu mẫu, tập huấn</a:t>
            </a:r>
            <a:endParaRPr lang="en-US" sz="950" dirty="0"/>
          </a:p>
        </p:txBody>
      </p:sp>
      <p:sp>
        <p:nvSpPr>
          <p:cNvPr id="60" name="Shape 58"/>
          <p:cNvSpPr/>
          <p:nvPr/>
        </p:nvSpPr>
        <p:spPr>
          <a:xfrm>
            <a:off x="5212080" y="4416552"/>
            <a:ext cx="3566160" cy="566928"/>
          </a:xfrm>
          <a:prstGeom prst="rect">
            <a:avLst/>
          </a:prstGeom>
          <a:solidFill>
            <a:srgbClr val="FEF3E7"/>
          </a:solidFill>
          <a:ln w="12700">
            <a:solidFill>
              <a:srgbClr val="E67E22"/>
            </a:solidFill>
            <a:prstDash val="solid"/>
          </a:ln>
        </p:spPr>
        <p:txBody>
          <a:bodyPr/>
          <a:lstStyle/>
          <a:p>
            <a:endParaRPr lang="en-US"/>
          </a:p>
        </p:txBody>
      </p:sp>
      <p:sp>
        <p:nvSpPr>
          <p:cNvPr id="61" name="Text 59"/>
          <p:cNvSpPr/>
          <p:nvPr/>
        </p:nvSpPr>
        <p:spPr>
          <a:xfrm>
            <a:off x="5321808" y="4434840"/>
            <a:ext cx="3383280" cy="530352"/>
          </a:xfrm>
          <a:prstGeom prst="rect">
            <a:avLst/>
          </a:prstGeom>
          <a:noFill/>
          <a:ln/>
        </p:spPr>
        <p:txBody>
          <a:bodyPr wrap="square" lIns="0" tIns="0" rIns="0" bIns="0" rtlCol="0" anchor="ctr"/>
          <a:lstStyle/>
          <a:p>
            <a:pPr marL="0" indent="0" algn="l">
              <a:buNone/>
            </a:pPr>
            <a:r>
              <a:rPr lang="en-US" sz="900" dirty="0">
                <a:solidFill>
                  <a:srgbClr val="1A2B3C"/>
                </a:solidFill>
              </a:rPr>
              <a:t>Kiểm soát chất lượng 2 cấp: Chuyên viên → Chuyên viên pháp lý phản biện → Tư vấn trưởng phê duyệt. Quality Gate tại Ngày 14 và Ngày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137"/>
        </a:solidFill>
        <a:effectLst/>
      </p:bgPr>
    </p:bg>
    <p:spTree>
      <p:nvGrpSpPr>
        <p:cNvPr id="1" name=""/>
        <p:cNvGrpSpPr/>
        <p:nvPr/>
      </p:nvGrpSpPr>
      <p:grpSpPr>
        <a:xfrm>
          <a:off x="0" y="0"/>
          <a:ext cx="0" cy="0"/>
          <a:chOff x="0" y="0"/>
          <a:chExt cx="0" cy="0"/>
        </a:xfrm>
      </p:grpSpPr>
      <p:sp>
        <p:nvSpPr>
          <p:cNvPr id="2" name="Shape 0"/>
          <p:cNvSpPr/>
          <p:nvPr/>
        </p:nvSpPr>
        <p:spPr>
          <a:xfrm>
            <a:off x="7132320" y="-1371600"/>
            <a:ext cx="4114800" cy="4114800"/>
          </a:xfrm>
          <a:prstGeom prst="ellipse">
            <a:avLst/>
          </a:prstGeom>
          <a:solidFill>
            <a:srgbClr val="2C4F72">
              <a:alpha val="35000"/>
            </a:srgbClr>
          </a:solidFill>
          <a:ln w="12700">
            <a:solidFill>
              <a:srgbClr val="2C4F72">
                <a:alpha val="35000"/>
              </a:srgbClr>
            </a:solidFill>
            <a:prstDash val="solid"/>
          </a:ln>
        </p:spPr>
        <p:txBody>
          <a:bodyPr/>
          <a:lstStyle/>
          <a:p>
            <a:endParaRPr lang="en-US"/>
          </a:p>
        </p:txBody>
      </p:sp>
      <p:sp>
        <p:nvSpPr>
          <p:cNvPr id="3" name="Shape 1"/>
          <p:cNvSpPr/>
          <p:nvPr/>
        </p:nvSpPr>
        <p:spPr>
          <a:xfrm>
            <a:off x="0" y="3200400"/>
            <a:ext cx="2743200" cy="2743200"/>
          </a:xfrm>
          <a:prstGeom prst="ellipse">
            <a:avLst/>
          </a:prstGeom>
          <a:solidFill>
            <a:srgbClr val="E67E22">
              <a:alpha val="15000"/>
            </a:srgbClr>
          </a:solidFill>
          <a:ln w="12700">
            <a:solidFill>
              <a:srgbClr val="E67E22">
                <a:alpha val="15000"/>
              </a:srgbClr>
            </a:solidFill>
            <a:prstDash val="solid"/>
          </a:ln>
        </p:spPr>
        <p:txBody>
          <a:bodyPr/>
          <a:lstStyle/>
          <a:p>
            <a:endParaRPr lang="en-US"/>
          </a:p>
        </p:txBody>
      </p:sp>
      <p:sp>
        <p:nvSpPr>
          <p:cNvPr id="4" name="Text 2"/>
          <p:cNvSpPr/>
          <p:nvPr/>
        </p:nvSpPr>
        <p:spPr>
          <a:xfrm>
            <a:off x="685800" y="292608"/>
            <a:ext cx="7772400" cy="658368"/>
          </a:xfrm>
          <a:prstGeom prst="rect">
            <a:avLst/>
          </a:prstGeom>
          <a:noFill/>
          <a:ln/>
        </p:spPr>
        <p:txBody>
          <a:bodyPr wrap="square" lIns="0" tIns="0" rIns="0" bIns="0" rtlCol="0" anchor="ctr"/>
          <a:lstStyle/>
          <a:p>
            <a:pPr marL="0" indent="0" algn="l">
              <a:buNone/>
            </a:pPr>
            <a:r>
              <a:rPr lang="en-US" sz="3200" b="1" dirty="0">
                <a:solidFill>
                  <a:srgbClr val="FFFFFF"/>
                </a:solidFill>
              </a:rPr>
              <a:t>Khảo sát thực địa — Ngày 1</a:t>
            </a:r>
            <a:endParaRPr lang="en-US" sz="3200" dirty="0"/>
          </a:p>
        </p:txBody>
      </p:sp>
      <p:sp>
        <p:nvSpPr>
          <p:cNvPr id="5" name="Text 3"/>
          <p:cNvSpPr/>
          <p:nvPr/>
        </p:nvSpPr>
        <p:spPr>
          <a:xfrm>
            <a:off x="685800" y="914400"/>
            <a:ext cx="7772400" cy="347472"/>
          </a:xfrm>
          <a:prstGeom prst="rect">
            <a:avLst/>
          </a:prstGeom>
          <a:noFill/>
          <a:ln/>
        </p:spPr>
        <p:txBody>
          <a:bodyPr wrap="square" lIns="0" tIns="0" rIns="0" bIns="0" rtlCol="0" anchor="ctr"/>
          <a:lstStyle/>
          <a:p>
            <a:pPr marL="0" indent="0" algn="l">
              <a:buNone/>
            </a:pPr>
            <a:r>
              <a:rPr lang="en-US" sz="1300" dirty="0">
                <a:solidFill>
                  <a:srgbClr val="E67E22"/>
                </a:solidFill>
              </a:rPr>
              <a:t>17/06/2026   |   VICEM Hà Tiên   |   HĐ 013/CSS_CIC_2026</a:t>
            </a:r>
            <a:endParaRPr lang="en-US" sz="1300" dirty="0"/>
          </a:p>
        </p:txBody>
      </p:sp>
      <p:sp>
        <p:nvSpPr>
          <p:cNvPr id="6" name="Text 4"/>
          <p:cNvSpPr/>
          <p:nvPr/>
        </p:nvSpPr>
        <p:spPr>
          <a:xfrm>
            <a:off x="685800" y="1261872"/>
            <a:ext cx="7772400" cy="402336"/>
          </a:xfrm>
          <a:prstGeom prst="rect">
            <a:avLst/>
          </a:prstGeom>
          <a:noFill/>
          <a:ln/>
        </p:spPr>
        <p:txBody>
          <a:bodyPr wrap="square" lIns="0" tIns="0" rIns="0" bIns="0" rtlCol="0" anchor="ctr"/>
          <a:lstStyle/>
          <a:p>
            <a:pPr marL="0" indent="0" algn="l">
              <a:buNone/>
            </a:pPr>
            <a:r>
              <a:rPr lang="en-US" sz="1150" dirty="0">
                <a:solidFill>
                  <a:srgbClr val="D6E4F0"/>
                </a:solidFill>
              </a:rPr>
              <a:t>Mục tiêu: Thu thập ý kiến thực tiễn từ các phòng ban — làm cơ sở xây dựng Legal Gap Matrix và đề xuất mô hình Ban QLDA</a:t>
            </a:r>
            <a:endParaRPr lang="en-US" sz="1150" dirty="0"/>
          </a:p>
        </p:txBody>
      </p:sp>
      <p:sp>
        <p:nvSpPr>
          <p:cNvPr id="7" name="Shape 5"/>
          <p:cNvSpPr/>
          <p:nvPr/>
        </p:nvSpPr>
        <p:spPr>
          <a:xfrm>
            <a:off x="685800" y="1682496"/>
            <a:ext cx="7772400" cy="329184"/>
          </a:xfrm>
          <a:prstGeom prst="rect">
            <a:avLst/>
          </a:prstGeom>
          <a:solidFill>
            <a:srgbClr val="E67E22">
              <a:alpha val="25000"/>
            </a:srgbClr>
          </a:solidFill>
          <a:ln w="12700">
            <a:solidFill>
              <a:srgbClr val="E67E22"/>
            </a:solidFill>
            <a:prstDash val="solid"/>
          </a:ln>
        </p:spPr>
        <p:txBody>
          <a:bodyPr/>
          <a:lstStyle/>
          <a:p>
            <a:endParaRPr lang="en-US"/>
          </a:p>
        </p:txBody>
      </p:sp>
      <p:sp>
        <p:nvSpPr>
          <p:cNvPr id="8" name="Shape 6"/>
          <p:cNvSpPr/>
          <p:nvPr/>
        </p:nvSpPr>
        <p:spPr>
          <a:xfrm>
            <a:off x="685800" y="1682496"/>
            <a:ext cx="91440" cy="329184"/>
          </a:xfrm>
          <a:prstGeom prst="rect">
            <a:avLst/>
          </a:prstGeom>
          <a:solidFill>
            <a:srgbClr val="E67E22"/>
          </a:solidFill>
          <a:ln w="12700">
            <a:solidFill>
              <a:srgbClr val="E67E22"/>
            </a:solidFill>
            <a:prstDash val="solid"/>
          </a:ln>
        </p:spPr>
        <p:txBody>
          <a:bodyPr/>
          <a:lstStyle/>
          <a:p>
            <a:endParaRPr lang="en-US"/>
          </a:p>
        </p:txBody>
      </p:sp>
      <p:sp>
        <p:nvSpPr>
          <p:cNvPr id="9" name="Text 7"/>
          <p:cNvSpPr/>
          <p:nvPr/>
        </p:nvSpPr>
        <p:spPr>
          <a:xfrm>
            <a:off x="850392" y="1682496"/>
            <a:ext cx="7498080" cy="329184"/>
          </a:xfrm>
          <a:prstGeom prst="rect">
            <a:avLst/>
          </a:prstGeom>
          <a:noFill/>
          <a:ln/>
        </p:spPr>
        <p:txBody>
          <a:bodyPr wrap="square" lIns="0" tIns="0" rIns="0" bIns="0" rtlCol="0" anchor="ctr"/>
          <a:lstStyle/>
          <a:p>
            <a:pPr marL="0" indent="0" algn="l">
              <a:buNone/>
            </a:pPr>
            <a:r>
              <a:rPr lang="en-US" sz="1100" dirty="0">
                <a:solidFill>
                  <a:srgbClr val="FFFFFF"/>
                </a:solidFill>
              </a:rPr>
              <a:t>08:30–09:00  |  Khai mạc  —  Tất cả tham dự  (Hội trường VICEM Hà Tiên)</a:t>
            </a:r>
            <a:endParaRPr lang="en-US" sz="1100" dirty="0"/>
          </a:p>
        </p:txBody>
      </p:sp>
      <p:sp>
        <p:nvSpPr>
          <p:cNvPr id="10" name="Shape 8"/>
          <p:cNvSpPr/>
          <p:nvPr/>
        </p:nvSpPr>
        <p:spPr>
          <a:xfrm>
            <a:off x="685800" y="2157984"/>
            <a:ext cx="365760" cy="365760"/>
          </a:xfrm>
          <a:prstGeom prst="ellipse">
            <a:avLst/>
          </a:prstGeom>
          <a:solidFill>
            <a:srgbClr val="E67E22"/>
          </a:solidFill>
          <a:ln w="12700">
            <a:solidFill>
              <a:srgbClr val="E67E22"/>
            </a:solidFill>
            <a:prstDash val="solid"/>
          </a:ln>
        </p:spPr>
        <p:txBody>
          <a:bodyPr/>
          <a:lstStyle/>
          <a:p>
            <a:endParaRPr lang="en-US"/>
          </a:p>
        </p:txBody>
      </p:sp>
      <p:sp>
        <p:nvSpPr>
          <p:cNvPr id="11" name="Text 9"/>
          <p:cNvSpPr/>
          <p:nvPr/>
        </p:nvSpPr>
        <p:spPr>
          <a:xfrm>
            <a:off x="685800" y="21579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2" name="Text 10"/>
          <p:cNvSpPr/>
          <p:nvPr/>
        </p:nvSpPr>
        <p:spPr>
          <a:xfrm>
            <a:off x="1170432" y="2103120"/>
            <a:ext cx="7315200" cy="274320"/>
          </a:xfrm>
          <a:prstGeom prst="rect">
            <a:avLst/>
          </a:prstGeom>
          <a:noFill/>
          <a:ln/>
        </p:spPr>
        <p:txBody>
          <a:bodyPr wrap="square" lIns="0" tIns="0" rIns="0" bIns="0" rtlCol="0" anchor="ctr"/>
          <a:lstStyle/>
          <a:p>
            <a:pPr marL="0" indent="0" algn="l">
              <a:buNone/>
            </a:pPr>
            <a:r>
              <a:rPr lang="en-US" sz="1200" b="1" dirty="0">
                <a:solidFill>
                  <a:srgbClr val="FFFFFF"/>
                </a:solidFill>
              </a:rPr>
              <a:t>Phiên 1 (Lãnh đạo)   9:15–10:45</a:t>
            </a:r>
            <a:endParaRPr lang="en-US" sz="1200" dirty="0"/>
          </a:p>
        </p:txBody>
      </p:sp>
      <p:sp>
        <p:nvSpPr>
          <p:cNvPr id="13" name="Text 11"/>
          <p:cNvSpPr/>
          <p:nvPr/>
        </p:nvSpPr>
        <p:spPr>
          <a:xfrm>
            <a:off x="1170432" y="2377440"/>
            <a:ext cx="7315200" cy="256032"/>
          </a:xfrm>
          <a:prstGeom prst="rect">
            <a:avLst/>
          </a:prstGeom>
          <a:noFill/>
          <a:ln/>
        </p:spPr>
        <p:txBody>
          <a:bodyPr wrap="square" lIns="0" tIns="0" rIns="0" bIns="0" rtlCol="0" anchor="ctr"/>
          <a:lstStyle/>
          <a:p>
            <a:pPr marL="0" indent="0" algn="l">
              <a:buNone/>
            </a:pPr>
            <a:r>
              <a:rPr lang="en-US" sz="1000" dirty="0">
                <a:solidFill>
                  <a:srgbClr val="D6E4F0"/>
                </a:solidFill>
              </a:rPr>
              <a:t>BGĐ (TGĐ/PTGĐ) → Ban QLDA   |   QT34, mô hình tổ chức &amp; phân cấp ĐT   |   Khối TC: 9 câu hỏi</a:t>
            </a:r>
            <a:endParaRPr lang="en-US" sz="1000" dirty="0"/>
          </a:p>
        </p:txBody>
      </p:sp>
      <p:sp>
        <p:nvSpPr>
          <p:cNvPr id="14" name="Shape 12"/>
          <p:cNvSpPr/>
          <p:nvPr/>
        </p:nvSpPr>
        <p:spPr>
          <a:xfrm>
            <a:off x="685800" y="2779776"/>
            <a:ext cx="365760" cy="365760"/>
          </a:xfrm>
          <a:prstGeom prst="ellipse">
            <a:avLst/>
          </a:prstGeom>
          <a:solidFill>
            <a:srgbClr val="E67E22"/>
          </a:solidFill>
          <a:ln w="12700">
            <a:solidFill>
              <a:srgbClr val="E67E22"/>
            </a:solidFill>
            <a:prstDash val="solid"/>
          </a:ln>
        </p:spPr>
        <p:txBody>
          <a:bodyPr/>
          <a:lstStyle/>
          <a:p>
            <a:endParaRPr lang="en-US"/>
          </a:p>
        </p:txBody>
      </p:sp>
      <p:sp>
        <p:nvSpPr>
          <p:cNvPr id="15" name="Text 13"/>
          <p:cNvSpPr/>
          <p:nvPr/>
        </p:nvSpPr>
        <p:spPr>
          <a:xfrm>
            <a:off x="685800" y="2779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6" name="Text 14"/>
          <p:cNvSpPr/>
          <p:nvPr/>
        </p:nvSpPr>
        <p:spPr>
          <a:xfrm>
            <a:off x="1170432" y="2724912"/>
            <a:ext cx="7315200" cy="274320"/>
          </a:xfrm>
          <a:prstGeom prst="rect">
            <a:avLst/>
          </a:prstGeom>
          <a:noFill/>
          <a:ln/>
        </p:spPr>
        <p:txBody>
          <a:bodyPr wrap="square" lIns="0" tIns="0" rIns="0" bIns="0" rtlCol="0" anchor="ctr"/>
          <a:lstStyle/>
          <a:p>
            <a:pPr marL="0" indent="0" algn="l">
              <a:buNone/>
            </a:pPr>
            <a:r>
              <a:rPr lang="en-US" sz="1200" b="1" dirty="0">
                <a:solidFill>
                  <a:srgbClr val="FFFFFF"/>
                </a:solidFill>
              </a:rPr>
              <a:t>Phiên 2 (Kế hoạch)   11:00–12:30</a:t>
            </a:r>
            <a:endParaRPr lang="en-US" sz="1200" dirty="0"/>
          </a:p>
        </p:txBody>
      </p:sp>
      <p:sp>
        <p:nvSpPr>
          <p:cNvPr id="17" name="Text 15"/>
          <p:cNvSpPr/>
          <p:nvPr/>
        </p:nvSpPr>
        <p:spPr>
          <a:xfrm>
            <a:off x="1170432" y="2999232"/>
            <a:ext cx="7315200" cy="256032"/>
          </a:xfrm>
          <a:prstGeom prst="rect">
            <a:avLst/>
          </a:prstGeom>
          <a:noFill/>
          <a:ln/>
        </p:spPr>
        <p:txBody>
          <a:bodyPr wrap="square" lIns="0" tIns="0" rIns="0" bIns="0" rtlCol="0" anchor="ctr"/>
          <a:lstStyle/>
          <a:p>
            <a:pPr marL="0" indent="0" algn="l">
              <a:buNone/>
            </a:pPr>
            <a:r>
              <a:rPr lang="en-US" sz="1000" dirty="0">
                <a:solidFill>
                  <a:srgbClr val="D6E4F0"/>
                </a:solidFill>
              </a:rPr>
              <a:t>KHCL + TTĐ + Ban QLDA   |   QT34, Giám sát &amp; đánh giá ĐT   |   Khối TC: 4 câu hỏi</a:t>
            </a:r>
            <a:endParaRPr lang="en-US" sz="1000" dirty="0"/>
          </a:p>
        </p:txBody>
      </p:sp>
      <p:sp>
        <p:nvSpPr>
          <p:cNvPr id="18" name="Shape 16"/>
          <p:cNvSpPr/>
          <p:nvPr/>
        </p:nvSpPr>
        <p:spPr>
          <a:xfrm>
            <a:off x="685800" y="3401568"/>
            <a:ext cx="365760" cy="365760"/>
          </a:xfrm>
          <a:prstGeom prst="ellipse">
            <a:avLst/>
          </a:prstGeom>
          <a:solidFill>
            <a:srgbClr val="E67E22"/>
          </a:solidFill>
          <a:ln w="12700">
            <a:solidFill>
              <a:srgbClr val="E67E22"/>
            </a:solidFill>
            <a:prstDash val="solid"/>
          </a:ln>
        </p:spPr>
        <p:txBody>
          <a:bodyPr/>
          <a:lstStyle/>
          <a:p>
            <a:endParaRPr lang="en-US"/>
          </a:p>
        </p:txBody>
      </p:sp>
      <p:sp>
        <p:nvSpPr>
          <p:cNvPr id="19" name="Text 17"/>
          <p:cNvSpPr/>
          <p:nvPr/>
        </p:nvSpPr>
        <p:spPr>
          <a:xfrm>
            <a:off x="685800" y="34015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0" name="Text 18"/>
          <p:cNvSpPr/>
          <p:nvPr/>
        </p:nvSpPr>
        <p:spPr>
          <a:xfrm>
            <a:off x="1170432" y="3346704"/>
            <a:ext cx="7315200" cy="274320"/>
          </a:xfrm>
          <a:prstGeom prst="rect">
            <a:avLst/>
          </a:prstGeom>
          <a:noFill/>
          <a:ln/>
        </p:spPr>
        <p:txBody>
          <a:bodyPr wrap="square" lIns="0" tIns="0" rIns="0" bIns="0" rtlCol="0" anchor="ctr"/>
          <a:lstStyle/>
          <a:p>
            <a:pPr marL="0" indent="0" algn="l">
              <a:buNone/>
            </a:pPr>
            <a:r>
              <a:rPr lang="en-US" sz="1200" b="1" dirty="0">
                <a:solidFill>
                  <a:srgbClr val="FFFFFF"/>
                </a:solidFill>
              </a:rPr>
              <a:t>Phiên 3 (Đấu thầu &amp; Hợp đồng)   14:00–15:25</a:t>
            </a:r>
            <a:endParaRPr lang="en-US" sz="1200" dirty="0"/>
          </a:p>
        </p:txBody>
      </p:sp>
      <p:sp>
        <p:nvSpPr>
          <p:cNvPr id="21" name="Text 19"/>
          <p:cNvSpPr/>
          <p:nvPr/>
        </p:nvSpPr>
        <p:spPr>
          <a:xfrm>
            <a:off x="1170432" y="3621024"/>
            <a:ext cx="7315200" cy="256032"/>
          </a:xfrm>
          <a:prstGeom prst="rect">
            <a:avLst/>
          </a:prstGeom>
          <a:noFill/>
          <a:ln/>
        </p:spPr>
        <p:txBody>
          <a:bodyPr wrap="square" lIns="0" tIns="0" rIns="0" bIns="0" rtlCol="0" anchor="ctr"/>
          <a:lstStyle/>
          <a:p>
            <a:pPr marL="0" indent="0" algn="l">
              <a:buNone/>
            </a:pPr>
            <a:r>
              <a:rPr lang="en-US" sz="1000" dirty="0">
                <a:solidFill>
                  <a:srgbClr val="D6E4F0"/>
                </a:solidFill>
              </a:rPr>
              <a:t>KTPC + TCG + PVT + Ban QLDA   |   QT35, QT37   |   Khối TC: 3 câu hỏi</a:t>
            </a:r>
            <a:endParaRPr lang="en-US" sz="1000" dirty="0"/>
          </a:p>
        </p:txBody>
      </p:sp>
      <p:sp>
        <p:nvSpPr>
          <p:cNvPr id="22" name="Shape 20"/>
          <p:cNvSpPr/>
          <p:nvPr/>
        </p:nvSpPr>
        <p:spPr>
          <a:xfrm>
            <a:off x="685800" y="4023360"/>
            <a:ext cx="365760" cy="365760"/>
          </a:xfrm>
          <a:prstGeom prst="ellipse">
            <a:avLst/>
          </a:prstGeom>
          <a:solidFill>
            <a:srgbClr val="E67E22"/>
          </a:solidFill>
          <a:ln w="12700">
            <a:solidFill>
              <a:srgbClr val="E67E22"/>
            </a:solidFill>
            <a:prstDash val="solid"/>
          </a:ln>
        </p:spPr>
        <p:txBody>
          <a:bodyPr/>
          <a:lstStyle/>
          <a:p>
            <a:endParaRPr lang="en-US"/>
          </a:p>
        </p:txBody>
      </p:sp>
      <p:sp>
        <p:nvSpPr>
          <p:cNvPr id="23" name="Text 21"/>
          <p:cNvSpPr/>
          <p:nvPr/>
        </p:nvSpPr>
        <p:spPr>
          <a:xfrm>
            <a:off x="685800" y="4023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4" name="Text 22"/>
          <p:cNvSpPr/>
          <p:nvPr/>
        </p:nvSpPr>
        <p:spPr>
          <a:xfrm>
            <a:off x="1170432" y="3968496"/>
            <a:ext cx="7315200" cy="274320"/>
          </a:xfrm>
          <a:prstGeom prst="rect">
            <a:avLst/>
          </a:prstGeom>
          <a:noFill/>
          <a:ln/>
        </p:spPr>
        <p:txBody>
          <a:bodyPr wrap="square" lIns="0" tIns="0" rIns="0" bIns="0" rtlCol="0" anchor="ctr"/>
          <a:lstStyle/>
          <a:p>
            <a:pPr marL="0" indent="0" algn="l">
              <a:buNone/>
            </a:pPr>
            <a:r>
              <a:rPr lang="en-US" sz="1200" b="1" dirty="0">
                <a:solidFill>
                  <a:srgbClr val="FFFFFF"/>
                </a:solidFill>
              </a:rPr>
              <a:t>Phiên 4 (Tài chính &amp; Quyết toán)   15:35–17:00</a:t>
            </a:r>
            <a:endParaRPr lang="en-US" sz="1200" dirty="0"/>
          </a:p>
        </p:txBody>
      </p:sp>
      <p:sp>
        <p:nvSpPr>
          <p:cNvPr id="25" name="Text 23"/>
          <p:cNvSpPr/>
          <p:nvPr/>
        </p:nvSpPr>
        <p:spPr>
          <a:xfrm>
            <a:off x="1170432" y="4242816"/>
            <a:ext cx="7315200" cy="256032"/>
          </a:xfrm>
          <a:prstGeom prst="rect">
            <a:avLst/>
          </a:prstGeom>
          <a:noFill/>
          <a:ln/>
        </p:spPr>
        <p:txBody>
          <a:bodyPr wrap="square" lIns="0" tIns="0" rIns="0" bIns="0" rtlCol="0" anchor="ctr"/>
          <a:lstStyle/>
          <a:p>
            <a:pPr marL="0" indent="0" algn="l">
              <a:buNone/>
            </a:pPr>
            <a:r>
              <a:rPr lang="en-US" sz="1000" dirty="0">
                <a:solidFill>
                  <a:srgbClr val="D6E4F0"/>
                </a:solidFill>
              </a:rPr>
              <a:t>TCKT + Ban QLDA   |   QT17, QT18   |   Khối TC: 4 câu hỏi</a:t>
            </a:r>
            <a:endParaRPr lang="en-US" sz="1000" dirty="0"/>
          </a:p>
        </p:txBody>
      </p:sp>
      <p:sp>
        <p:nvSpPr>
          <p:cNvPr id="26" name="Shape 24"/>
          <p:cNvSpPr/>
          <p:nvPr/>
        </p:nvSpPr>
        <p:spPr>
          <a:xfrm>
            <a:off x="0" y="4663440"/>
            <a:ext cx="9144000" cy="480060"/>
          </a:xfrm>
          <a:prstGeom prst="rect">
            <a:avLst/>
          </a:prstGeom>
          <a:solidFill>
            <a:srgbClr val="2C4F72">
              <a:alpha val="55000"/>
            </a:srgbClr>
          </a:solidFill>
          <a:ln w="12700">
            <a:solidFill>
              <a:srgbClr val="2C4F72">
                <a:alpha val="55000"/>
              </a:srgbClr>
            </a:solidFill>
            <a:prstDash val="solid"/>
          </a:ln>
        </p:spPr>
        <p:txBody>
          <a:bodyPr/>
          <a:lstStyle/>
          <a:p>
            <a:endParaRPr lang="en-US"/>
          </a:p>
        </p:txBody>
      </p:sp>
      <p:sp>
        <p:nvSpPr>
          <p:cNvPr id="27" name="Text 25"/>
          <p:cNvSpPr/>
          <p:nvPr/>
        </p:nvSpPr>
        <p:spPr>
          <a:xfrm>
            <a:off x="411480" y="4663440"/>
            <a:ext cx="8321040" cy="480060"/>
          </a:xfrm>
          <a:prstGeom prst="rect">
            <a:avLst/>
          </a:prstGeom>
          <a:noFill/>
          <a:ln/>
        </p:spPr>
        <p:txBody>
          <a:bodyPr wrap="square" lIns="0" tIns="0" rIns="0" bIns="0" rtlCol="0" anchor="ctr"/>
          <a:lstStyle/>
          <a:p>
            <a:pPr marL="0" indent="0" algn="ctr">
              <a:buNone/>
            </a:pPr>
            <a:r>
              <a:rPr lang="en-US" sz="1000" dirty="0">
                <a:solidFill>
                  <a:srgbClr val="8FA8BF"/>
                </a:solidFill>
              </a:rPr>
              <a:t>Công ty Cổ phần Công nghệ và Tư vấn CIC  |  HĐ 013/CSS_CIC_2026  |  anhnq@cic.com.vn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137"/>
        </a:solidFill>
        <a:effectLst/>
      </p:bgPr>
    </p:bg>
    <p:spTree>
      <p:nvGrpSpPr>
        <p:cNvPr id="1" name=""/>
        <p:cNvGrpSpPr/>
        <p:nvPr/>
      </p:nvGrpSpPr>
      <p:grpSpPr>
        <a:xfrm>
          <a:off x="0" y="0"/>
          <a:ext cx="0" cy="0"/>
          <a:chOff x="0" y="0"/>
          <a:chExt cx="0" cy="0"/>
        </a:xfrm>
      </p:grpSpPr>
      <p:sp>
        <p:nvSpPr>
          <p:cNvPr id="2" name="Shape 0"/>
          <p:cNvSpPr/>
          <p:nvPr/>
        </p:nvSpPr>
        <p:spPr>
          <a:xfrm>
            <a:off x="7132320" y="-1371600"/>
            <a:ext cx="4114800" cy="4114800"/>
          </a:xfrm>
          <a:prstGeom prst="ellipse">
            <a:avLst/>
          </a:prstGeom>
          <a:solidFill>
            <a:srgbClr val="2C4F72">
              <a:alpha val="35000"/>
            </a:srgbClr>
          </a:solidFill>
          <a:ln w="12700">
            <a:solidFill>
              <a:srgbClr val="2C4F72">
                <a:alpha val="35000"/>
              </a:srgbClr>
            </a:solidFill>
            <a:prstDash val="solid"/>
          </a:ln>
        </p:spPr>
        <p:txBody>
          <a:bodyPr/>
          <a:lstStyle/>
          <a:p>
            <a:endParaRPr lang="en-US"/>
          </a:p>
        </p:txBody>
      </p:sp>
      <p:sp>
        <p:nvSpPr>
          <p:cNvPr id="3" name="Shape 1"/>
          <p:cNvSpPr/>
          <p:nvPr/>
        </p:nvSpPr>
        <p:spPr>
          <a:xfrm>
            <a:off x="0" y="3200400"/>
            <a:ext cx="2743200" cy="2743200"/>
          </a:xfrm>
          <a:prstGeom prst="ellipse">
            <a:avLst/>
          </a:prstGeom>
          <a:solidFill>
            <a:srgbClr val="E67E22">
              <a:alpha val="15000"/>
            </a:srgbClr>
          </a:solidFill>
          <a:ln w="12700">
            <a:solidFill>
              <a:srgbClr val="E67E22">
                <a:alpha val="15000"/>
              </a:srgbClr>
            </a:solidFill>
            <a:prstDash val="solid"/>
          </a:ln>
        </p:spPr>
        <p:txBody>
          <a:bodyPr/>
          <a:lstStyle/>
          <a:p>
            <a:endParaRPr lang="en-US"/>
          </a:p>
        </p:txBody>
      </p:sp>
      <p:sp>
        <p:nvSpPr>
          <p:cNvPr id="4" name="Text 2"/>
          <p:cNvSpPr/>
          <p:nvPr/>
        </p:nvSpPr>
        <p:spPr>
          <a:xfrm>
            <a:off x="685800" y="292608"/>
            <a:ext cx="7772400" cy="658368"/>
          </a:xfrm>
          <a:prstGeom prst="rect">
            <a:avLst/>
          </a:prstGeom>
          <a:noFill/>
          <a:ln/>
        </p:spPr>
        <p:txBody>
          <a:bodyPr wrap="square" lIns="0" tIns="0" rIns="0" bIns="0" rtlCol="0" anchor="ctr"/>
          <a:lstStyle/>
          <a:p>
            <a:pPr marL="0" indent="0" algn="l">
              <a:buNone/>
            </a:pPr>
            <a:r>
              <a:rPr lang="en-US" sz="3200" b="1" dirty="0">
                <a:solidFill>
                  <a:srgbClr val="FFFFFF"/>
                </a:solidFill>
              </a:rPr>
              <a:t>Khảo sát thực địa — Ngày 2</a:t>
            </a:r>
            <a:endParaRPr lang="en-US" sz="3200" dirty="0"/>
          </a:p>
        </p:txBody>
      </p:sp>
      <p:sp>
        <p:nvSpPr>
          <p:cNvPr id="5" name="Text 3"/>
          <p:cNvSpPr/>
          <p:nvPr/>
        </p:nvSpPr>
        <p:spPr>
          <a:xfrm>
            <a:off x="685800" y="914400"/>
            <a:ext cx="7772400" cy="347472"/>
          </a:xfrm>
          <a:prstGeom prst="rect">
            <a:avLst/>
          </a:prstGeom>
          <a:noFill/>
          <a:ln/>
        </p:spPr>
        <p:txBody>
          <a:bodyPr wrap="square" lIns="0" tIns="0" rIns="0" bIns="0" rtlCol="0" anchor="ctr"/>
          <a:lstStyle/>
          <a:p>
            <a:pPr marL="0" indent="0" algn="l">
              <a:buNone/>
            </a:pPr>
            <a:r>
              <a:rPr lang="en-US" sz="1300" dirty="0">
                <a:solidFill>
                  <a:srgbClr val="E67E22"/>
                </a:solidFill>
              </a:rPr>
              <a:t>18/06/2026   |   VICEM Hà Tiên   |   HĐ 013/CSS_CIC_2026</a:t>
            </a:r>
            <a:endParaRPr lang="en-US" sz="1300" dirty="0"/>
          </a:p>
        </p:txBody>
      </p:sp>
      <p:sp>
        <p:nvSpPr>
          <p:cNvPr id="6" name="Text 4"/>
          <p:cNvSpPr/>
          <p:nvPr/>
        </p:nvSpPr>
        <p:spPr>
          <a:xfrm>
            <a:off x="685800" y="1261872"/>
            <a:ext cx="7772400" cy="402336"/>
          </a:xfrm>
          <a:prstGeom prst="rect">
            <a:avLst/>
          </a:prstGeom>
          <a:noFill/>
          <a:ln/>
        </p:spPr>
        <p:txBody>
          <a:bodyPr wrap="square" lIns="0" tIns="0" rIns="0" bIns="0" rtlCol="0" anchor="ctr"/>
          <a:lstStyle/>
          <a:p>
            <a:pPr marL="0" indent="0" algn="l">
              <a:buNone/>
            </a:pPr>
            <a:r>
              <a:rPr lang="en-US" sz="1150" dirty="0">
                <a:solidFill>
                  <a:srgbClr val="D6E4F0"/>
                </a:solidFill>
              </a:rPr>
              <a:t>Mục tiêu: Hoàn thiện khảo sát Kỹ thuật, Công nghệ &amp; tổng kết — chốt Legal Gap Matrix và lộ trình cập nhật Quy trình</a:t>
            </a:r>
            <a:endParaRPr lang="en-US" sz="1150" dirty="0"/>
          </a:p>
        </p:txBody>
      </p:sp>
      <p:sp>
        <p:nvSpPr>
          <p:cNvPr id="7" name="Shape 5"/>
          <p:cNvSpPr/>
          <p:nvPr/>
        </p:nvSpPr>
        <p:spPr>
          <a:xfrm>
            <a:off x="685800" y="1920240"/>
            <a:ext cx="402336" cy="402336"/>
          </a:xfrm>
          <a:prstGeom prst="ellipse">
            <a:avLst/>
          </a:prstGeom>
          <a:solidFill>
            <a:srgbClr val="E67E22"/>
          </a:solidFill>
          <a:ln w="12700">
            <a:solidFill>
              <a:srgbClr val="E67E22"/>
            </a:solidFill>
            <a:prstDash val="solid"/>
          </a:ln>
        </p:spPr>
        <p:txBody>
          <a:bodyPr/>
          <a:lstStyle/>
          <a:p>
            <a:endParaRPr lang="en-US"/>
          </a:p>
        </p:txBody>
      </p:sp>
      <p:sp>
        <p:nvSpPr>
          <p:cNvPr id="8" name="Text 6"/>
          <p:cNvSpPr/>
          <p:nvPr/>
        </p:nvSpPr>
        <p:spPr>
          <a:xfrm>
            <a:off x="685800" y="19202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9" name="Text 7"/>
          <p:cNvSpPr/>
          <p:nvPr/>
        </p:nvSpPr>
        <p:spPr>
          <a:xfrm>
            <a:off x="1234440" y="1847088"/>
            <a:ext cx="7315200" cy="329184"/>
          </a:xfrm>
          <a:prstGeom prst="rect">
            <a:avLst/>
          </a:prstGeom>
          <a:noFill/>
          <a:ln/>
        </p:spPr>
        <p:txBody>
          <a:bodyPr wrap="square" lIns="0" tIns="0" rIns="0" bIns="0" rtlCol="0" anchor="ctr"/>
          <a:lstStyle/>
          <a:p>
            <a:pPr marL="0" indent="0" algn="l">
              <a:buNone/>
            </a:pPr>
            <a:r>
              <a:rPr lang="en-US" sz="1300" b="1" dirty="0">
                <a:solidFill>
                  <a:srgbClr val="FFFFFF"/>
                </a:solidFill>
              </a:rPr>
              <a:t>Phiên 5 (Kỹ thuật &amp; Vận hành)   8:30–10:10</a:t>
            </a:r>
            <a:endParaRPr lang="en-US" sz="1300" dirty="0"/>
          </a:p>
        </p:txBody>
      </p:sp>
      <p:sp>
        <p:nvSpPr>
          <p:cNvPr id="10" name="Text 8"/>
          <p:cNvSpPr/>
          <p:nvPr/>
        </p:nvSpPr>
        <p:spPr>
          <a:xfrm>
            <a:off x="1234440" y="2176272"/>
            <a:ext cx="7315200" cy="512064"/>
          </a:xfrm>
          <a:prstGeom prst="rect">
            <a:avLst/>
          </a:prstGeom>
          <a:noFill/>
          <a:ln/>
        </p:spPr>
        <p:txBody>
          <a:bodyPr wrap="square" lIns="0" tIns="0" rIns="0" bIns="0" rtlCol="0" anchor="ctr"/>
          <a:lstStyle/>
          <a:p>
            <a:pPr marL="0" indent="0" algn="l">
              <a:buNone/>
            </a:pPr>
            <a:r>
              <a:rPr lang="en-US" sz="1050" dirty="0">
                <a:solidFill>
                  <a:srgbClr val="D6E4F0"/>
                </a:solidFill>
              </a:rPr>
              <a:t>PKT + ATMT + TCHC + Ban QLDA   |   QT16, QT36, Bàn giao/BH/BT, ATLĐ   |   Khối TC: 5 câu hỏi</a:t>
            </a:r>
            <a:endParaRPr lang="en-US" sz="1050" dirty="0"/>
          </a:p>
        </p:txBody>
      </p:sp>
      <p:sp>
        <p:nvSpPr>
          <p:cNvPr id="11" name="Shape 9"/>
          <p:cNvSpPr/>
          <p:nvPr/>
        </p:nvSpPr>
        <p:spPr>
          <a:xfrm>
            <a:off x="685800" y="2871216"/>
            <a:ext cx="402336" cy="402336"/>
          </a:xfrm>
          <a:prstGeom prst="ellipse">
            <a:avLst/>
          </a:prstGeom>
          <a:solidFill>
            <a:srgbClr val="E67E22"/>
          </a:solidFill>
          <a:ln w="12700">
            <a:solidFill>
              <a:srgbClr val="E67E22"/>
            </a:solidFill>
            <a:prstDash val="solid"/>
          </a:ln>
        </p:spPr>
        <p:txBody>
          <a:bodyPr/>
          <a:lstStyle/>
          <a:p>
            <a:endParaRPr lang="en-US"/>
          </a:p>
        </p:txBody>
      </p:sp>
      <p:sp>
        <p:nvSpPr>
          <p:cNvPr id="12" name="Text 10"/>
          <p:cNvSpPr/>
          <p:nvPr/>
        </p:nvSpPr>
        <p:spPr>
          <a:xfrm>
            <a:off x="685800" y="28712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13" name="Text 11"/>
          <p:cNvSpPr/>
          <p:nvPr/>
        </p:nvSpPr>
        <p:spPr>
          <a:xfrm>
            <a:off x="1234440" y="2798064"/>
            <a:ext cx="7315200" cy="329184"/>
          </a:xfrm>
          <a:prstGeom prst="rect">
            <a:avLst/>
          </a:prstGeom>
          <a:noFill/>
          <a:ln/>
        </p:spPr>
        <p:txBody>
          <a:bodyPr wrap="square" lIns="0" tIns="0" rIns="0" bIns="0" rtlCol="0" anchor="ctr"/>
          <a:lstStyle/>
          <a:p>
            <a:pPr marL="0" indent="0" algn="l">
              <a:buNone/>
            </a:pPr>
            <a:r>
              <a:rPr lang="en-US" sz="1300" b="1" dirty="0">
                <a:solidFill>
                  <a:srgbClr val="FFFFFF"/>
                </a:solidFill>
              </a:rPr>
              <a:t>Phiên 6 (Công nghệ &amp; Số hóa)   10:25–12:00</a:t>
            </a:r>
            <a:endParaRPr lang="en-US" sz="1300" dirty="0"/>
          </a:p>
        </p:txBody>
      </p:sp>
      <p:sp>
        <p:nvSpPr>
          <p:cNvPr id="14" name="Text 12"/>
          <p:cNvSpPr/>
          <p:nvPr/>
        </p:nvSpPr>
        <p:spPr>
          <a:xfrm>
            <a:off x="1234440" y="3127248"/>
            <a:ext cx="7315200" cy="512064"/>
          </a:xfrm>
          <a:prstGeom prst="rect">
            <a:avLst/>
          </a:prstGeom>
          <a:noFill/>
          <a:ln/>
        </p:spPr>
        <p:txBody>
          <a:bodyPr wrap="square" lIns="0" tIns="0" rIns="0" bIns="0" rtlCol="0" anchor="ctr"/>
          <a:lstStyle/>
          <a:p>
            <a:pPr marL="0" indent="0" algn="l">
              <a:buNone/>
            </a:pPr>
            <a:r>
              <a:rPr lang="en-US" sz="1050" dirty="0">
                <a:solidFill>
                  <a:srgbClr val="D6E4F0"/>
                </a:solidFill>
              </a:rPr>
              <a:t>CNTT + Ban QLDA   |   QT161, QT mới (BIM/CDE)   |   Khối TC: 3 câu hỏi</a:t>
            </a:r>
            <a:endParaRPr lang="en-US" sz="1050" dirty="0"/>
          </a:p>
        </p:txBody>
      </p:sp>
      <p:sp>
        <p:nvSpPr>
          <p:cNvPr id="15" name="Shape 13"/>
          <p:cNvSpPr/>
          <p:nvPr/>
        </p:nvSpPr>
        <p:spPr>
          <a:xfrm>
            <a:off x="685800" y="3822192"/>
            <a:ext cx="402336" cy="402336"/>
          </a:xfrm>
          <a:prstGeom prst="ellipse">
            <a:avLst/>
          </a:prstGeom>
          <a:solidFill>
            <a:srgbClr val="E67E22"/>
          </a:solidFill>
          <a:ln w="12700">
            <a:solidFill>
              <a:srgbClr val="E67E22"/>
            </a:solidFill>
            <a:prstDash val="solid"/>
          </a:ln>
        </p:spPr>
        <p:txBody>
          <a:bodyPr/>
          <a:lstStyle/>
          <a:p>
            <a:endParaRPr lang="en-US"/>
          </a:p>
        </p:txBody>
      </p:sp>
      <p:sp>
        <p:nvSpPr>
          <p:cNvPr id="16" name="Text 14"/>
          <p:cNvSpPr/>
          <p:nvPr/>
        </p:nvSpPr>
        <p:spPr>
          <a:xfrm>
            <a:off x="685800" y="38221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17" name="Text 15"/>
          <p:cNvSpPr/>
          <p:nvPr/>
        </p:nvSpPr>
        <p:spPr>
          <a:xfrm>
            <a:off x="1234440" y="3749040"/>
            <a:ext cx="7315200" cy="329184"/>
          </a:xfrm>
          <a:prstGeom prst="rect">
            <a:avLst/>
          </a:prstGeom>
          <a:noFill/>
          <a:ln/>
        </p:spPr>
        <p:txBody>
          <a:bodyPr wrap="square" lIns="0" tIns="0" rIns="0" bIns="0" rtlCol="0" anchor="ctr"/>
          <a:lstStyle/>
          <a:p>
            <a:pPr marL="0" indent="0" algn="l">
              <a:buNone/>
            </a:pPr>
            <a:r>
              <a:rPr lang="en-US" sz="1300" b="1" dirty="0">
                <a:solidFill>
                  <a:srgbClr val="FFFFFF"/>
                </a:solidFill>
              </a:rPr>
              <a:t>Phiên 7 (Tổng kết)   14:00–15:30</a:t>
            </a:r>
            <a:endParaRPr lang="en-US" sz="1300" dirty="0"/>
          </a:p>
        </p:txBody>
      </p:sp>
      <p:sp>
        <p:nvSpPr>
          <p:cNvPr id="18" name="Text 16"/>
          <p:cNvSpPr/>
          <p:nvPr/>
        </p:nvSpPr>
        <p:spPr>
          <a:xfrm>
            <a:off x="1234440" y="4078224"/>
            <a:ext cx="7315200" cy="512064"/>
          </a:xfrm>
          <a:prstGeom prst="rect">
            <a:avLst/>
          </a:prstGeom>
          <a:noFill/>
          <a:ln/>
        </p:spPr>
        <p:txBody>
          <a:bodyPr wrap="square" lIns="0" tIns="0" rIns="0" bIns="0" rtlCol="0" anchor="ctr"/>
          <a:lstStyle/>
          <a:p>
            <a:pPr marL="0" indent="0" algn="l">
              <a:buNone/>
            </a:pPr>
            <a:r>
              <a:rPr lang="en-US" sz="1050" dirty="0">
                <a:solidFill>
                  <a:srgbClr val="D6E4F0"/>
                </a:solidFill>
              </a:rPr>
              <a:t>Tất cả đại diện   |   Trình bày kết quả khảo sát, xác nhận khoảng cách pháp lý, thống nhất lộ trình cập nhật QT</a:t>
            </a:r>
            <a:endParaRPr lang="en-US" sz="1050" dirty="0"/>
          </a:p>
        </p:txBody>
      </p:sp>
      <p:sp>
        <p:nvSpPr>
          <p:cNvPr id="19" name="Shape 17"/>
          <p:cNvSpPr/>
          <p:nvPr/>
        </p:nvSpPr>
        <p:spPr>
          <a:xfrm>
            <a:off x="0" y="4663440"/>
            <a:ext cx="9144000" cy="480060"/>
          </a:xfrm>
          <a:prstGeom prst="rect">
            <a:avLst/>
          </a:prstGeom>
          <a:solidFill>
            <a:srgbClr val="2C4F72">
              <a:alpha val="55000"/>
            </a:srgbClr>
          </a:solidFill>
          <a:ln w="12700">
            <a:solidFill>
              <a:srgbClr val="2C4F72">
                <a:alpha val="55000"/>
              </a:srgbClr>
            </a:solidFill>
            <a:prstDash val="solid"/>
          </a:ln>
        </p:spPr>
        <p:txBody>
          <a:bodyPr/>
          <a:lstStyle/>
          <a:p>
            <a:endParaRPr lang="en-US"/>
          </a:p>
        </p:txBody>
      </p:sp>
      <p:sp>
        <p:nvSpPr>
          <p:cNvPr id="20" name="Text 18"/>
          <p:cNvSpPr/>
          <p:nvPr/>
        </p:nvSpPr>
        <p:spPr>
          <a:xfrm>
            <a:off x="411480" y="4663440"/>
            <a:ext cx="8321040" cy="480060"/>
          </a:xfrm>
          <a:prstGeom prst="rect">
            <a:avLst/>
          </a:prstGeom>
          <a:noFill/>
          <a:ln/>
        </p:spPr>
        <p:txBody>
          <a:bodyPr wrap="square" lIns="0" tIns="0" rIns="0" bIns="0" rtlCol="0" anchor="ctr"/>
          <a:lstStyle/>
          <a:p>
            <a:pPr marL="0" indent="0" algn="ctr">
              <a:buNone/>
            </a:pPr>
            <a:r>
              <a:rPr lang="en-US" sz="1000" dirty="0">
                <a:solidFill>
                  <a:srgbClr val="8FA8BF"/>
                </a:solidFill>
              </a:rPr>
              <a:t>Công ty Cổ phần Công nghệ và Tư vấn CIC  |  HĐ 013/CSS_CIC_2026  |  anhnq@cic.com.vn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2415</Words>
  <Application>Microsoft Office PowerPoint</Application>
  <PresentationFormat>On-screen Show (16:9)</PresentationFormat>
  <Paragraphs>267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Văn bản pháp luật mới &amp; Kế hoạch triển khai - VICEM Hà Tiên</dc:title>
  <dc:subject>PptxGenJS Presentation</dc:subject>
  <dc:creator>CIC</dc:creator>
  <cp:lastModifiedBy>Nguyen Quoc Anh</cp:lastModifiedBy>
  <cp:revision>2</cp:revision>
  <dcterms:created xsi:type="dcterms:W3CDTF">2026-06-16T16:36:09Z</dcterms:created>
  <dcterms:modified xsi:type="dcterms:W3CDTF">2026-06-16T16:39:31Z</dcterms:modified>
</cp:coreProperties>
</file>